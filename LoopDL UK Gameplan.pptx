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2"/>
  </p:notesMasterIdLst>
  <p:sldIdLst>
    <p:sldId id="256" r:id="rId2"/>
    <p:sldId id="267" r:id="rId3"/>
    <p:sldId id="268" r:id="rId4"/>
    <p:sldId id="271" r:id="rId5"/>
    <p:sldId id="272" r:id="rId6"/>
    <p:sldId id="273" r:id="rId7"/>
    <p:sldId id="329" r:id="rId8"/>
    <p:sldId id="275" r:id="rId9"/>
    <p:sldId id="277" r:id="rId10"/>
    <p:sldId id="278" r:id="rId11"/>
    <p:sldId id="279" r:id="rId12"/>
    <p:sldId id="280" r:id="rId13"/>
    <p:sldId id="281" r:id="rId14"/>
    <p:sldId id="282" r:id="rId15"/>
    <p:sldId id="283" r:id="rId16"/>
    <p:sldId id="330" r:id="rId17"/>
    <p:sldId id="284" r:id="rId18"/>
    <p:sldId id="285" r:id="rId19"/>
    <p:sldId id="286" r:id="rId20"/>
    <p:sldId id="287" r:id="rId21"/>
    <p:sldId id="288" r:id="rId22"/>
    <p:sldId id="289" r:id="rId23"/>
    <p:sldId id="290" r:id="rId24"/>
    <p:sldId id="328" r:id="rId25"/>
    <p:sldId id="291" r:id="rId26"/>
    <p:sldId id="292" r:id="rId27"/>
    <p:sldId id="293" r:id="rId28"/>
    <p:sldId id="294" r:id="rId29"/>
    <p:sldId id="295" r:id="rId30"/>
    <p:sldId id="297" r:id="rId31"/>
    <p:sldId id="296" r:id="rId32"/>
    <p:sldId id="298" r:id="rId33"/>
    <p:sldId id="299" r:id="rId34"/>
    <p:sldId id="300" r:id="rId35"/>
    <p:sldId id="301" r:id="rId36"/>
    <p:sldId id="304" r:id="rId37"/>
    <p:sldId id="303" r:id="rId38"/>
    <p:sldId id="302" r:id="rId39"/>
    <p:sldId id="305" r:id="rId40"/>
    <p:sldId id="306" r:id="rId41"/>
    <p:sldId id="307" r:id="rId42"/>
    <p:sldId id="308" r:id="rId43"/>
    <p:sldId id="310" r:id="rId44"/>
    <p:sldId id="311" r:id="rId45"/>
    <p:sldId id="312" r:id="rId46"/>
    <p:sldId id="313" r:id="rId47"/>
    <p:sldId id="314" r:id="rId48"/>
    <p:sldId id="315" r:id="rId49"/>
    <p:sldId id="316" r:id="rId50"/>
    <p:sldId id="317" r:id="rId51"/>
    <p:sldId id="318" r:id="rId52"/>
    <p:sldId id="319" r:id="rId53"/>
    <p:sldId id="320" r:id="rId54"/>
    <p:sldId id="321" r:id="rId55"/>
    <p:sldId id="322" r:id="rId56"/>
    <p:sldId id="323" r:id="rId57"/>
    <p:sldId id="324" r:id="rId58"/>
    <p:sldId id="325" r:id="rId59"/>
    <p:sldId id="326" r:id="rId60"/>
    <p:sldId id="327"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CE81CB-5DCF-23C9-A7AC-04CF527A7946}" v="100" dt="2026-06-16T11:14:45.791"/>
    <p1510:client id="{76E3214E-9E5B-7DCB-8598-D420EB989F9B}" v="177" dt="2026-06-16T11:20:32.697"/>
    <p1510:client id="{F585CF0E-1369-227F-A4D3-5F6D50C5FC29}" v="62" dt="2026-06-16T11:14:33.1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B0A644-278B-4D66-9B67-9790FC330574}" type="datetimeFigureOut">
              <a:t>6/16/2026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400193-9125-4F22-9876-9D0EC00B0D0B}" type="slidenum">
              <a:t>‹#›</a:t>
            </a:fld>
            <a:endParaRPr lang="en-US"/>
          </a:p>
        </p:txBody>
      </p:sp>
    </p:spTree>
    <p:extLst>
      <p:ext uri="{BB962C8B-B14F-4D97-AF65-F5344CB8AC3E}">
        <p14:creationId xmlns:p14="http://schemas.microsoft.com/office/powerpoint/2010/main" val="2493032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3E028-DB9A-DD4A-8C05-0688136B88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B70107-3138-866D-C915-B8043BCE1B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2D37FA-B724-6D65-2C5F-F4DF2BE600DC}"/>
              </a:ext>
            </a:extLst>
          </p:cNvPr>
          <p:cNvSpPr>
            <a:spLocks noGrp="1"/>
          </p:cNvSpPr>
          <p:nvPr>
            <p:ph type="body" idx="1"/>
          </p:nvPr>
        </p:nvSpPr>
        <p:spPr/>
        <p:txBody>
          <a:bodyPr/>
          <a:lstStyle/>
          <a:p>
            <a:r>
              <a:rPr lang="en-US"/>
              <a:t>[Sources]
- Visual style guide reference provided by user: /mnt/data/LoopDL support PDD - UK 25.pptx
- Trustpilot Guidelines for Businesses (Feb 2026): https://corporate.trustpilot.com/legal/for-businesses/guidelines-for-businesses/feb-2026
- Trustpilot Help - Can businesses reply to reviews?: https://help.trustpilot.com/s/article/Can-businesses-reply-to-reviews
- Trustpilot Help - Engage with your reviewers: https://help.trustpilot.com/s/article/Engage-with-your-reviewers
- ASA guidance on subscription offers and free trials: https://www.asa.org.uk/news/thinking-outside-the-subscription-box.html
- ASA promotional offer guidance PDF: https://www.asa.org.uk/static/uploaded/43ffc927-a744-42b1-847956f4067cbb6b.pdf
[/Sources]</a:t>
            </a:r>
          </a:p>
        </p:txBody>
      </p:sp>
      <p:sp>
        <p:nvSpPr>
          <p:cNvPr id="4" name="Slide Number Placeholder 3">
            <a:extLst>
              <a:ext uri="{FF2B5EF4-FFF2-40B4-BE49-F238E27FC236}">
                <a16:creationId xmlns:a16="http://schemas.microsoft.com/office/drawing/2014/main" id="{461301C5-1F59-557A-6824-93D27F4A7960}"/>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546648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50BEB-8902-39B5-E179-8519A476D5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0EDA52-8822-AB2C-4035-2AFC4A8306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482252-5F6F-DFA8-1147-CDB83075ACAA}"/>
              </a:ext>
            </a:extLst>
          </p:cNvPr>
          <p:cNvSpPr>
            <a:spLocks noGrp="1"/>
          </p:cNvSpPr>
          <p:nvPr>
            <p:ph type="body" idx="1"/>
          </p:nvPr>
        </p:nvSpPr>
        <p:spPr/>
        <p:txBody>
          <a:bodyPr/>
          <a:lstStyle/>
          <a:p>
            <a:r>
              <a:rPr lang="en-US"/>
              <a:t>[Sources]
- Visual style guide reference provided by user: /mnt/data/LoopDL support PDD - UK 25.pptx
- Trustpilot Guidelines for Businesses (Feb 2026): https://corporate.trustpilot.com/legal/for-businesses/guidelines-for-businesses/feb-2026
- Trustpilot Help - Can businesses reply to reviews?: https://help.trustpilot.com/s/article/Can-businesses-reply-to-reviews
- Trustpilot Help - Engage with your reviewers: https://help.trustpilot.com/s/article/Engage-with-your-reviewers
- ASA guidance on subscription offers and free trials: https://www.asa.org.uk/news/thinking-outside-the-subscription-box.html
- ASA promotional offer guidance PDF: https://www.asa.org.uk/static/uploaded/43ffc927-a744-42b1-847956f4067cbb6b.pdf
[/Sources]</a:t>
            </a:r>
          </a:p>
        </p:txBody>
      </p:sp>
      <p:sp>
        <p:nvSpPr>
          <p:cNvPr id="4" name="Slide Number Placeholder 3">
            <a:extLst>
              <a:ext uri="{FF2B5EF4-FFF2-40B4-BE49-F238E27FC236}">
                <a16:creationId xmlns:a16="http://schemas.microsoft.com/office/drawing/2014/main" id="{CDA1891C-C015-92C7-5F2E-0A86844FC11F}"/>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6314450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10FAE-9EA1-BB8C-2B1A-F847283A25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86CD7B-7624-7FB1-AAD3-F8F58A1447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F4B67-734B-DB79-5E0C-9DCB3A93ABB9}"/>
              </a:ext>
            </a:extLst>
          </p:cNvPr>
          <p:cNvSpPr>
            <a:spLocks noGrp="1"/>
          </p:cNvSpPr>
          <p:nvPr>
            <p:ph type="body" idx="1"/>
          </p:nvPr>
        </p:nvSpPr>
        <p:spPr/>
        <p:txBody>
          <a:bodyPr/>
          <a:lstStyle/>
          <a:p>
            <a:r>
              <a:rPr lang="en-US"/>
              <a:t>[Sources]
- Visual style guide reference provided by user: /mnt/data/LoopDL support PDD - UK 25.pptx
- Trustpilot Guidelines for Businesses (Feb 2026): https://corporate.trustpilot.com/legal/for-businesses/guidelines-for-businesses/feb-2026
- Trustpilot Help - Can businesses reply to reviews?: https://help.trustpilot.com/s/article/Can-businesses-reply-to-reviews
- Trustpilot Help - Engage with your reviewers: https://help.trustpilot.com/s/article/Engage-with-your-reviewers
- ASA guidance on subscription offers and free trials: https://www.asa.org.uk/news/thinking-outside-the-subscription-box.html
- ASA promotional offer guidance PDF: https://www.asa.org.uk/static/uploaded/43ffc927-a744-42b1-847956f4067cbb6b.pdf
[/Sources]</a:t>
            </a:r>
          </a:p>
        </p:txBody>
      </p:sp>
      <p:sp>
        <p:nvSpPr>
          <p:cNvPr id="4" name="Slide Number Placeholder 3">
            <a:extLst>
              <a:ext uri="{FF2B5EF4-FFF2-40B4-BE49-F238E27FC236}">
                <a16:creationId xmlns:a16="http://schemas.microsoft.com/office/drawing/2014/main" id="{1DBA1885-B2CE-6B0F-FAD2-48A87DCCE448}"/>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7580760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B5C52-774C-581B-A8A7-CF3538F038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72E088-63AD-0C04-3A67-BDC5FC2AF6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A85EE1-1E9E-81AD-443F-D55A8D09F8EB}"/>
              </a:ext>
            </a:extLst>
          </p:cNvPr>
          <p:cNvSpPr>
            <a:spLocks noGrp="1"/>
          </p:cNvSpPr>
          <p:nvPr>
            <p:ph type="body" idx="1"/>
          </p:nvPr>
        </p:nvSpPr>
        <p:spPr/>
        <p:txBody>
          <a:bodyPr/>
          <a:lstStyle/>
          <a:p>
            <a:r>
              <a:rPr lang="en-US"/>
              <a:t>[Sources]
- Visual style guide reference provided by user: /mnt/data/LoopDL support PDD - UK 25.pptx
- Trustpilot Guidelines for Businesses (Feb 2026): https://corporate.trustpilot.com/legal/for-businesses/guidelines-for-businesses/feb-2026
- Trustpilot Help - Can businesses reply to reviews?: https://help.trustpilot.com/s/article/Can-businesses-reply-to-reviews
- Trustpilot Help - Engage with your reviewers: https://help.trustpilot.com/s/article/Engage-with-your-reviewers
- ASA guidance on subscription offers and free trials: https://www.asa.org.uk/news/thinking-outside-the-subscription-box.html
- ASA promotional offer guidance PDF: https://www.asa.org.uk/static/uploaded/43ffc927-a744-42b1-847956f4067cbb6b.pdf
[/Sources]</a:t>
            </a:r>
          </a:p>
        </p:txBody>
      </p:sp>
      <p:sp>
        <p:nvSpPr>
          <p:cNvPr id="4" name="Slide Number Placeholder 3">
            <a:extLst>
              <a:ext uri="{FF2B5EF4-FFF2-40B4-BE49-F238E27FC236}">
                <a16:creationId xmlns:a16="http://schemas.microsoft.com/office/drawing/2014/main" id="{CECD745A-458E-47FF-5137-2C178C609882}"/>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8513654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3B86F-F3EF-F96E-22B4-EC31BFBDE4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8F2DA8-F7EB-04C0-4FB5-2C45D83CBE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9986E1-5E17-917D-1F63-C7AB293AB786}"/>
              </a:ext>
            </a:extLst>
          </p:cNvPr>
          <p:cNvSpPr>
            <a:spLocks noGrp="1"/>
          </p:cNvSpPr>
          <p:nvPr>
            <p:ph type="body" idx="1"/>
          </p:nvPr>
        </p:nvSpPr>
        <p:spPr/>
        <p:txBody>
          <a:bodyPr/>
          <a:lstStyle/>
          <a:p>
            <a:r>
              <a:rPr lang="en-US"/>
              <a:t>[Sources]
- Visual style guide reference provided by user: /mnt/data/LoopDL support PDD - UK 25.pptx
- Trustpilot Guidelines for Businesses (Feb 2026): https://corporate.trustpilot.com/legal/for-businesses/guidelines-for-businesses/feb-2026
- Trustpilot Help - Can businesses reply to reviews?: https://help.trustpilot.com/s/article/Can-businesses-reply-to-reviews
- Trustpilot Help - Engage with your reviewers: https://help.trustpilot.com/s/article/Engage-with-your-reviewers
- ASA guidance on subscription offers and free trials: https://www.asa.org.uk/news/thinking-outside-the-subscription-box.html
- ASA promotional offer guidance PDF: https://www.asa.org.uk/static/uploaded/43ffc927-a744-42b1-847956f4067cbb6b.pdf
[/Sources]</a:t>
            </a:r>
          </a:p>
        </p:txBody>
      </p:sp>
      <p:sp>
        <p:nvSpPr>
          <p:cNvPr id="4" name="Slide Number Placeholder 3">
            <a:extLst>
              <a:ext uri="{FF2B5EF4-FFF2-40B4-BE49-F238E27FC236}">
                <a16:creationId xmlns:a16="http://schemas.microsoft.com/office/drawing/2014/main" id="{C4D39984-DA27-6E11-B5E6-B6B746EFD91C}"/>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9472989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EE80A-AB88-0660-CE57-BF96938A61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A87856-AC1E-FE9C-9BD0-5FB36D6901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D96945-A136-3429-7C56-002BA1ACC726}"/>
              </a:ext>
            </a:extLst>
          </p:cNvPr>
          <p:cNvSpPr>
            <a:spLocks noGrp="1"/>
          </p:cNvSpPr>
          <p:nvPr>
            <p:ph type="body" idx="1"/>
          </p:nvPr>
        </p:nvSpPr>
        <p:spPr/>
        <p:txBody>
          <a:bodyPr/>
          <a:lstStyle/>
          <a:p>
            <a:r>
              <a:rPr lang="en-US"/>
              <a:t>[Sources]
- Visual style guide reference provided by user: /mnt/data/LoopDL support PDD - UK 25.pptx
- Trustpilot Guidelines for Businesses (Feb 2026): https://corporate.trustpilot.com/legal/for-businesses/guidelines-for-businesses/feb-2026
- Trustpilot Help - Can businesses reply to reviews?: https://help.trustpilot.com/s/article/Can-businesses-reply-to-reviews
- Trustpilot Help - Engage with your reviewers: https://help.trustpilot.com/s/article/Engage-with-your-reviewers
- ASA guidance on subscription offers and free trials: https://www.asa.org.uk/news/thinking-outside-the-subscription-box.html
- ASA promotional offer guidance PDF: https://www.asa.org.uk/static/uploaded/43ffc927-a744-42b1-847956f4067cbb6b.pdf
[/Sources]</a:t>
            </a:r>
          </a:p>
        </p:txBody>
      </p:sp>
      <p:sp>
        <p:nvSpPr>
          <p:cNvPr id="4" name="Slide Number Placeholder 3">
            <a:extLst>
              <a:ext uri="{FF2B5EF4-FFF2-40B4-BE49-F238E27FC236}">
                <a16:creationId xmlns:a16="http://schemas.microsoft.com/office/drawing/2014/main" id="{658386F4-F7D1-A97B-7323-599238376509}"/>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1046905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Previous steps on the app</a:t>
            </a:r>
            <a:endParaRPr lang="en-US" dirty="0">
              <a:ea typeface="Calibri"/>
              <a:cs typeface="Calibri"/>
            </a:endParaRPr>
          </a:p>
          <a:p>
            <a:pPr marL="342900" indent="-342900">
              <a:buAutoNum type="arabicPeriod"/>
            </a:pPr>
            <a:r>
              <a:rPr lang="en-US" dirty="0"/>
              <a:t>Open the </a:t>
            </a:r>
            <a:r>
              <a:rPr lang="en-US" dirty="0" err="1"/>
              <a:t>LoopDL</a:t>
            </a:r>
            <a:r>
              <a:rPr lang="en-US" dirty="0"/>
              <a:t> app (Loop Device)</a:t>
            </a:r>
          </a:p>
          <a:p>
            <a:pPr marL="342900" indent="-342900">
              <a:buAutoNum type="arabicPeriod"/>
            </a:pPr>
            <a:r>
              <a:rPr lang="en-US"/>
              <a:t>Navigate to app options </a:t>
            </a:r>
          </a:p>
          <a:p>
            <a:pPr marL="342900" indent="-342900">
              <a:buAutoNum type="arabicPeriod"/>
            </a:pPr>
            <a:r>
              <a:rPr lang="en-US"/>
              <a:t>Click on devices</a:t>
            </a:r>
          </a:p>
          <a:p>
            <a:pPr marL="342900" indent="-342900">
              <a:buAutoNum type="arabicPeriod"/>
            </a:pPr>
            <a:r>
              <a:rPr lang="en-US"/>
              <a:t>Click on the loop you wish reinstate</a:t>
            </a:r>
          </a:p>
          <a:p>
            <a:pPr marL="342900" indent="-342900">
              <a:buAutoNum type="arabicPeriod"/>
            </a:pPr>
            <a:r>
              <a:rPr lang="en-US"/>
              <a:t>On the loop, they should see “</a:t>
            </a:r>
            <a:r>
              <a:rPr lang="en-US" b="1"/>
              <a:t>Tap to activate or reinstate</a:t>
            </a:r>
            <a:r>
              <a:rPr lang="en-US"/>
              <a:t>” option.</a:t>
            </a:r>
          </a:p>
          <a:p>
            <a:pPr marL="342900" indent="-342900">
              <a:buAutoNum type="arabicPeriod"/>
            </a:pPr>
            <a:r>
              <a:rPr lang="en-US"/>
              <a:t>Follow the steps and pay the amount showing to reactivate.</a:t>
            </a:r>
          </a:p>
          <a:p>
            <a:pPr marL="342900" indent="-342900">
              <a:buAutoNum type="arabicPeriod"/>
            </a:pPr>
            <a:r>
              <a:rPr lang="en-US"/>
              <a:t>Once plan is paid for the loop will automatically activate the new sim.</a:t>
            </a:r>
          </a:p>
          <a:p>
            <a:r>
              <a:rPr lang="en-US"/>
              <a:t>** if step number 7 fail please proceed further</a:t>
            </a:r>
          </a:p>
          <a:p>
            <a:r>
              <a:rPr lang="en-US"/>
              <a:t>8. If all fails, process factory reset (for TL approval) and sign in again with google.</a:t>
            </a:r>
          </a:p>
          <a:p>
            <a:r>
              <a:rPr lang="en-US"/>
              <a:t>9. On the station under configured e-SIM, click on resend e-SIM</a:t>
            </a:r>
          </a:p>
          <a:p>
            <a:r>
              <a:rPr lang="en-US"/>
              <a:t>10. Go to number 5 and follow the prompts.</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6E400193-9125-4F22-9876-9D0EC00B0D0B}" type="slidenum">
              <a:rPr lang="en-US"/>
              <a:t>37</a:t>
            </a:fld>
            <a:endParaRPr lang="en-US"/>
          </a:p>
        </p:txBody>
      </p:sp>
    </p:spTree>
    <p:extLst>
      <p:ext uri="{BB962C8B-B14F-4D97-AF65-F5344CB8AC3E}">
        <p14:creationId xmlns:p14="http://schemas.microsoft.com/office/powerpoint/2010/main" val="4998271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6/16/2026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6/16/2026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MASTER">
    <p:bg>
      <p:bgPr>
        <a:solidFill>
          <a:srgbClr val="F4F4F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4976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6/16/2026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hyperlink" Target="mailto:support@loopdl.co.uk" TargetMode="Externa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5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b="1">
                <a:solidFill>
                  <a:srgbClr val="0070C0"/>
                </a:solidFill>
                <a:latin typeface="Poppins"/>
                <a:cs typeface="Poppins"/>
              </a:rPr>
              <a:t>UK Gameplan</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C391C-5A40-B4F6-43E9-6D665E03DA20}"/>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58E6B545-E82C-0A3B-781D-3A1234D5758A}"/>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cs typeface="Poppins"/>
              </a:rPr>
              <a:t>Network</a:t>
            </a:r>
          </a:p>
          <a:p>
            <a:r>
              <a:rPr lang="en-GB" sz="2000" b="1">
                <a:latin typeface="Poppins"/>
                <a:cs typeface="Poppins"/>
              </a:rPr>
              <a:t>Slow speeds</a:t>
            </a:r>
          </a:p>
          <a:p>
            <a:r>
              <a:rPr lang="en-GB" sz="2000" b="1">
                <a:latin typeface="Poppins"/>
                <a:cs typeface="Poppins"/>
              </a:rPr>
              <a:t>No Connection</a:t>
            </a:r>
          </a:p>
          <a:p>
            <a:r>
              <a:rPr lang="en-GB" sz="2000" b="1">
                <a:latin typeface="Poppins"/>
                <a:ea typeface="+mn-lt"/>
                <a:cs typeface="Poppins"/>
              </a:rPr>
              <a:t>WIFI issues</a:t>
            </a:r>
            <a:endParaRPr lang="en-GB" sz="2000" b="1">
              <a:latin typeface="Poppins"/>
              <a:cs typeface="Poppins"/>
            </a:endParaRPr>
          </a:p>
          <a:p>
            <a:r>
              <a:rPr lang="en-GB" sz="2000" b="1">
                <a:latin typeface="Poppins"/>
                <a:ea typeface="+mn-lt"/>
                <a:cs typeface="Poppins"/>
              </a:rPr>
              <a:t>Streaming</a:t>
            </a:r>
            <a:endParaRPr lang="en-GB" sz="2000" b="1">
              <a:latin typeface="Poppins"/>
              <a:cs typeface="Poppins"/>
            </a:endParaRPr>
          </a:p>
        </p:txBody>
      </p:sp>
      <p:graphicFrame>
        <p:nvGraphicFramePr>
          <p:cNvPr id="6" name="Table 5">
            <a:extLst>
              <a:ext uri="{FF2B5EF4-FFF2-40B4-BE49-F238E27FC236}">
                <a16:creationId xmlns:a16="http://schemas.microsoft.com/office/drawing/2014/main" id="{1E7470AE-306A-748C-5716-94D0217F448E}"/>
              </a:ext>
            </a:extLst>
          </p:cNvPr>
          <p:cNvGraphicFramePr>
            <a:graphicFrameLocks noGrp="1"/>
          </p:cNvGraphicFramePr>
          <p:nvPr>
            <p:extLst>
              <p:ext uri="{D42A27DB-BD31-4B8C-83A1-F6EECF244321}">
                <p14:modId xmlns:p14="http://schemas.microsoft.com/office/powerpoint/2010/main" val="877775188"/>
              </p:ext>
            </p:extLst>
          </p:nvPr>
        </p:nvGraphicFramePr>
        <p:xfrm>
          <a:off x="737310" y="614838"/>
          <a:ext cx="6910594" cy="5340941"/>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673976">
                <a:tc>
                  <a:txBody>
                    <a:bodyPr/>
                    <a:lstStyle/>
                    <a:p>
                      <a:pPr>
                        <a:buNone/>
                      </a:pPr>
                      <a:r>
                        <a:rPr lang="en-US" sz="1800" b="1">
                          <a:effectLst/>
                          <a:latin typeface="Poppins"/>
                          <a:cs typeface="Poppins"/>
                        </a:rPr>
                        <a:t>Things we check </a:t>
                      </a:r>
                      <a:endParaRPr lang="en-US" sz="1800" b="1">
                        <a:latin typeface="Poppins"/>
                        <a:cs typeface="Poppins"/>
                      </a:endParaRPr>
                    </a:p>
                    <a:p>
                      <a:pPr lvl="0">
                        <a:buNone/>
                      </a:pPr>
                      <a:r>
                        <a:rPr lang="en-US" sz="1200" b="0" i="1">
                          <a:effectLst/>
                          <a:latin typeface="Poppins"/>
                          <a:cs typeface="Poppins"/>
                        </a:rPr>
                        <a:t>ask the customer, check in the station, etc.</a:t>
                      </a:r>
                    </a:p>
                  </a:txBody>
                  <a:tcPr anchor="ctr">
                    <a:lnL>
                      <a:noFill/>
                    </a:lnL>
                    <a:lnR>
                      <a:noFill/>
                    </a:lnR>
                    <a:lnT>
                      <a:noFill/>
                    </a:lnT>
                    <a:lnB>
                      <a:noFill/>
                    </a:lnB>
                    <a:noFill/>
                  </a:tcPr>
                </a:tc>
                <a:extLst>
                  <a:ext uri="{0D108BD9-81ED-4DB2-BD59-A6C34878D82A}">
                    <a16:rowId xmlns:a16="http://schemas.microsoft.com/office/drawing/2014/main" val="2595583132"/>
                  </a:ext>
                </a:extLst>
              </a:tr>
              <a:tr h="4666965">
                <a:tc>
                  <a:txBody>
                    <a:bodyPr/>
                    <a:lstStyle/>
                    <a:p>
                      <a:pPr marL="342900" indent="-342900">
                        <a:buAutoNum type="arabicPeriod"/>
                      </a:pPr>
                      <a:r>
                        <a:rPr lang="en-US" sz="1600">
                          <a:effectLst/>
                          <a:latin typeface="Poppins"/>
                          <a:cs typeface="Poppins"/>
                        </a:rPr>
                        <a:t>Check account status (arrears, invoice date, coverage period)</a:t>
                      </a:r>
                      <a:endParaRPr lang="en-US" sz="1600">
                        <a:latin typeface="Poppins"/>
                        <a:cs typeface="Poppins"/>
                      </a:endParaRPr>
                    </a:p>
                    <a:p>
                      <a:pPr marL="342900" lvl="0" indent="-342900">
                        <a:buAutoNum type="arabicPeriod"/>
                      </a:pPr>
                      <a:r>
                        <a:rPr lang="en-US" sz="1600">
                          <a:effectLst/>
                          <a:latin typeface="Poppins"/>
                          <a:cs typeface="Poppins"/>
                        </a:rPr>
                        <a:t>Check software version and e-SIM device compatibility</a:t>
                      </a:r>
                    </a:p>
                    <a:p>
                      <a:pPr marL="342900" lvl="0" indent="-342900">
                        <a:buAutoNum type="arabicPeriod"/>
                      </a:pPr>
                      <a:r>
                        <a:rPr lang="en-US" sz="1600">
                          <a:effectLst/>
                          <a:latin typeface="Poppins"/>
                          <a:cs typeface="Poppins"/>
                        </a:rPr>
                        <a:t>Check if SMS, calls, and data are all not working </a:t>
                      </a:r>
                      <a:endParaRPr lang="en-US" sz="1600">
                        <a:latin typeface="Poppins"/>
                        <a:cs typeface="Poppins"/>
                      </a:endParaRPr>
                    </a:p>
                    <a:p>
                      <a:pPr marL="342900" lvl="0" indent="-342900">
                        <a:buAutoNum type="arabicPeriod"/>
                      </a:pPr>
                      <a:r>
                        <a:rPr lang="en-US" sz="1600">
                          <a:effectLst/>
                          <a:latin typeface="Poppins"/>
                          <a:cs typeface="Poppins"/>
                        </a:rPr>
                        <a:t>Check for any error messages </a:t>
                      </a:r>
                      <a:endParaRPr lang="en-US" sz="1600">
                        <a:latin typeface="Poppins"/>
                        <a:cs typeface="Poppins"/>
                      </a:endParaRPr>
                    </a:p>
                    <a:p>
                      <a:pPr marL="342900" lvl="0" indent="-342900">
                        <a:buAutoNum type="arabicPeriod"/>
                      </a:pPr>
                      <a:r>
                        <a:rPr lang="en-US" sz="1600">
                          <a:effectLst/>
                          <a:latin typeface="Poppins"/>
                          <a:cs typeface="Poppins"/>
                        </a:rPr>
                        <a:t>Confirm if device is online </a:t>
                      </a:r>
                      <a:endParaRPr lang="en-US" sz="1600">
                        <a:latin typeface="Poppins"/>
                        <a:cs typeface="Poppins"/>
                      </a:endParaRPr>
                    </a:p>
                    <a:p>
                      <a:pPr marL="342900" lvl="0" indent="-342900">
                        <a:buAutoNum type="arabicPeriod"/>
                      </a:pPr>
                      <a:r>
                        <a:rPr lang="en-US" sz="1600">
                          <a:effectLst/>
                          <a:latin typeface="Poppins"/>
                          <a:cs typeface="Poppins"/>
                        </a:rPr>
                        <a:t>Check the signal strength </a:t>
                      </a:r>
                      <a:endParaRPr lang="en-US" sz="1600">
                        <a:latin typeface="Poppins"/>
                        <a:cs typeface="Poppins"/>
                      </a:endParaRPr>
                    </a:p>
                    <a:p>
                      <a:pPr marL="342900" lvl="0" indent="-342900">
                        <a:buAutoNum type="arabicPeriod"/>
                      </a:pPr>
                      <a:r>
                        <a:rPr lang="en-US" sz="1600">
                          <a:effectLst/>
                          <a:latin typeface="Poppins"/>
                          <a:cs typeface="Poppins"/>
                        </a:rPr>
                        <a:t>Check the device's make and model </a:t>
                      </a:r>
                      <a:endParaRPr lang="en-US" sz="1600">
                        <a:latin typeface="Poppins"/>
                        <a:cs typeface="Poppins"/>
                      </a:endParaRPr>
                    </a:p>
                    <a:p>
                      <a:pPr marL="342900" lvl="0" indent="-342900">
                        <a:buAutoNum type="arabicPeriod"/>
                      </a:pPr>
                      <a:r>
                        <a:rPr lang="en-US" sz="1600">
                          <a:effectLst/>
                          <a:latin typeface="Poppins"/>
                          <a:cs typeface="Poppins"/>
                        </a:rPr>
                        <a:t>Confirm if issue affects all services or specific app/site </a:t>
                      </a:r>
                      <a:endParaRPr lang="en-US" sz="1600">
                        <a:latin typeface="Poppins"/>
                        <a:cs typeface="Poppins"/>
                      </a:endParaRPr>
                    </a:p>
                    <a:p>
                      <a:pPr marL="342900" lvl="0" indent="-342900">
                        <a:buAutoNum type="arabicPeriod"/>
                      </a:pPr>
                      <a:r>
                        <a:rPr lang="en-US" sz="1600">
                          <a:effectLst/>
                          <a:latin typeface="Poppins"/>
                          <a:cs typeface="Poppins"/>
                        </a:rPr>
                        <a:t>Ask when the issue started </a:t>
                      </a:r>
                      <a:endParaRPr lang="en-US" sz="1600">
                        <a:latin typeface="Poppins"/>
                        <a:cs typeface="Poppins"/>
                      </a:endParaRPr>
                    </a:p>
                    <a:p>
                      <a:pPr marL="342900" lvl="0" indent="-342900">
                        <a:buAutoNum type="arabicPeriod"/>
                      </a:pPr>
                      <a:r>
                        <a:rPr lang="en-US" sz="1600">
                          <a:effectLst/>
                          <a:latin typeface="Poppins"/>
                          <a:cs typeface="Poppins"/>
                        </a:rPr>
                        <a:t>Confirm if device is UK purchased </a:t>
                      </a:r>
                      <a:endParaRPr lang="en-US" sz="1600">
                        <a:latin typeface="Poppins"/>
                        <a:cs typeface="Poppins"/>
                      </a:endParaRPr>
                    </a:p>
                    <a:p>
                      <a:pPr marL="342900" lvl="0" indent="-342900">
                        <a:buAutoNum type="arabicPeriod"/>
                      </a:pPr>
                      <a:r>
                        <a:rPr lang="en-US" sz="1600">
                          <a:effectLst/>
                          <a:latin typeface="Poppins"/>
                          <a:cs typeface="Poppins"/>
                        </a:rPr>
                        <a:t>Check customer location; is the customer in UK?</a:t>
                      </a:r>
                    </a:p>
                    <a:p>
                      <a:pPr marL="342900" lvl="0" indent="-342900">
                        <a:buAutoNum type="arabicPeriod"/>
                      </a:pPr>
                      <a:r>
                        <a:rPr lang="en-US" sz="1600">
                          <a:effectLst/>
                          <a:latin typeface="Poppins"/>
                          <a:cs typeface="Poppins"/>
                        </a:rPr>
                        <a:t>Proceed with Troubleshooting.</a:t>
                      </a:r>
                    </a:p>
                    <a:p>
                      <a:pPr marL="342900" lvl="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sp>
        <p:nvSpPr>
          <p:cNvPr id="11" name="Shape 6">
            <a:extLst>
              <a:ext uri="{FF2B5EF4-FFF2-40B4-BE49-F238E27FC236}">
                <a16:creationId xmlns:a16="http://schemas.microsoft.com/office/drawing/2014/main" id="{72672F47-D0ED-869F-4C01-12CE31D7676F}"/>
              </a:ext>
            </a:extLst>
          </p:cNvPr>
          <p:cNvSpPr/>
          <p:nvPr/>
        </p:nvSpPr>
        <p:spPr>
          <a:xfrm>
            <a:off x="738268" y="4683108"/>
            <a:ext cx="6270955" cy="1406071"/>
          </a:xfrm>
          <a:prstGeom prst="roundRect">
            <a:avLst>
              <a:gd name="adj" fmla="val 6522"/>
            </a:avLst>
          </a:prstGeom>
          <a:solidFill>
            <a:srgbClr val="EAD6CA"/>
          </a:solidFill>
          <a:ln w="12700">
            <a:solidFill>
              <a:srgbClr val="EAD6CA">
                <a:alpha val="0"/>
              </a:srgbClr>
            </a:solidFill>
            <a:prstDash val="solid"/>
          </a:ln>
        </p:spPr>
        <p:txBody>
          <a:bodyPr lIns="91440" tIns="45720" rIns="91440" bIns="45720" anchor="t"/>
          <a:lstStyle/>
          <a:p>
            <a:r>
              <a:rPr lang="en-GB" sz="1600" b="1">
                <a:latin typeface="Poppins"/>
                <a:ea typeface="+mn-lt"/>
                <a:cs typeface="Poppins"/>
              </a:rPr>
              <a:t>If the customer is in arrears</a:t>
            </a:r>
            <a:r>
              <a:rPr lang="en-GB" sz="1600">
                <a:latin typeface="Poppins"/>
                <a:ea typeface="+mn-lt"/>
                <a:cs typeface="Poppins"/>
              </a:rPr>
              <a:t> – This is not a network issue. Please proceed with billing issue.</a:t>
            </a:r>
          </a:p>
          <a:p>
            <a:endParaRPr lang="en-GB" sz="1600">
              <a:latin typeface="Poppins"/>
              <a:cs typeface="Poppins"/>
            </a:endParaRPr>
          </a:p>
          <a:p>
            <a:r>
              <a:rPr lang="en-US" sz="1600" b="1">
                <a:latin typeface="Poppins"/>
                <a:cs typeface="Poppins"/>
              </a:rPr>
              <a:t>If the customer is not in the UK – </a:t>
            </a:r>
            <a:r>
              <a:rPr lang="en-US" sz="1600">
                <a:latin typeface="Poppins"/>
                <a:cs typeface="Poppins"/>
              </a:rPr>
              <a:t>Mention that we only cater UK customers, then continue with other concerns.</a:t>
            </a:r>
          </a:p>
        </p:txBody>
      </p:sp>
    </p:spTree>
    <p:extLst>
      <p:ext uri="{BB962C8B-B14F-4D97-AF65-F5344CB8AC3E}">
        <p14:creationId xmlns:p14="http://schemas.microsoft.com/office/powerpoint/2010/main" val="12305438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7D87C-4047-3AE9-DE3C-55E8B4A884CC}"/>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29BC9367-D166-CE7F-41C2-446D353508B2}"/>
              </a:ext>
            </a:extLst>
          </p:cNvPr>
          <p:cNvGraphicFramePr>
            <a:graphicFrameLocks noGrp="1"/>
          </p:cNvGraphicFramePr>
          <p:nvPr>
            <p:extLst>
              <p:ext uri="{D42A27DB-BD31-4B8C-83A1-F6EECF244321}">
                <p14:modId xmlns:p14="http://schemas.microsoft.com/office/powerpoint/2010/main" val="640988695"/>
              </p:ext>
            </p:extLst>
          </p:nvPr>
        </p:nvGraphicFramePr>
        <p:xfrm>
          <a:off x="752707" y="306658"/>
          <a:ext cx="6664960" cy="4803544"/>
        </p:xfrm>
        <a:graphic>
          <a:graphicData uri="http://schemas.openxmlformats.org/drawingml/2006/table">
            <a:tbl>
              <a:tblPr bandRow="1">
                <a:tableStyleId>{5C22544A-7EE6-4342-B048-85BDC9FD1C3A}</a:tableStyleId>
              </a:tblPr>
              <a:tblGrid>
                <a:gridCol w="6664960">
                  <a:extLst>
                    <a:ext uri="{9D8B030D-6E8A-4147-A177-3AD203B41FA5}">
                      <a16:colId xmlns:a16="http://schemas.microsoft.com/office/drawing/2014/main" val="3610929529"/>
                    </a:ext>
                  </a:extLst>
                </a:gridCol>
              </a:tblGrid>
              <a:tr h="1054504">
                <a:tc>
                  <a:txBody>
                    <a:bodyPr/>
                    <a:lstStyle/>
                    <a:p>
                      <a:pPr lvl="0">
                        <a:buNone/>
                      </a:pPr>
                      <a:r>
                        <a:rPr lang="en-US" sz="1600" b="1">
                          <a:effectLst/>
                          <a:latin typeface="Poppins"/>
                          <a:cs typeface="Poppins"/>
                        </a:rPr>
                        <a:t>Troubleshooting Steps</a:t>
                      </a:r>
                    </a:p>
                    <a:p>
                      <a:pPr lvl="0">
                        <a:buNone/>
                      </a:pPr>
                      <a:endParaRPr lang="en-US" sz="1600" b="1">
                        <a:effectLst/>
                        <a:latin typeface="Poppins"/>
                        <a:cs typeface="Poppins"/>
                      </a:endParaRPr>
                    </a:p>
                    <a:p>
                      <a:pPr lvl="0">
                        <a:buNone/>
                      </a:pPr>
                      <a:r>
                        <a:rPr lang="en-US" sz="1600" b="1">
                          <a:effectLst/>
                          <a:latin typeface="Poppins"/>
                          <a:cs typeface="Poppins"/>
                        </a:rPr>
                        <a:t>Loop</a:t>
                      </a:r>
                      <a:endParaRPr lang="en-US" sz="1600" b="0" i="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15444">
                <a:tc>
                  <a:txBody>
                    <a:bodyPr/>
                    <a:lstStyle/>
                    <a:p>
                      <a:pPr marL="342900" lvl="0" indent="-342900" algn="l">
                        <a:lnSpc>
                          <a:spcPct val="100000"/>
                        </a:lnSpc>
                        <a:spcBef>
                          <a:spcPts val="0"/>
                        </a:spcBef>
                        <a:spcAft>
                          <a:spcPts val="0"/>
                        </a:spcAft>
                        <a:buAutoNum type="arabicPeriod"/>
                      </a:pPr>
                      <a:r>
                        <a:rPr lang="en-US" sz="1600" b="0" i="0" u="none" strike="noStrike" noProof="0">
                          <a:effectLst/>
                          <a:latin typeface="Poppins"/>
                          <a:cs typeface="Poppins"/>
                        </a:rPr>
                        <a:t>Run a speed test </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effectLst/>
                          <a:latin typeface="Poppins"/>
                          <a:cs typeface="Poppins"/>
                        </a:rPr>
                        <a:t>Optimize the connection </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effectLst/>
                          <a:latin typeface="Poppins"/>
                          <a:cs typeface="Poppins"/>
                        </a:rPr>
                        <a:t>Reboot the device </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effectLst/>
                          <a:latin typeface="Poppins"/>
                          <a:cs typeface="Poppins"/>
                        </a:rPr>
                        <a:t>Get the customer’s exact location if escalation is needed </a:t>
                      </a:r>
                      <a:endParaRPr lang="en-US" sz="1600">
                        <a:latin typeface="Poppins"/>
                        <a:cs typeface="Poppins"/>
                      </a:endParaRPr>
                    </a:p>
                    <a:p>
                      <a:pPr marL="342900" lvl="0" indent="-342900">
                        <a:buAutoNum type="arabicPeriod"/>
                      </a:pPr>
                      <a:r>
                        <a:rPr lang="en-US" sz="1600" b="0" i="0" u="none" strike="noStrike" noProof="0">
                          <a:effectLst/>
                          <a:latin typeface="Poppins"/>
                          <a:cs typeface="Poppins"/>
                        </a:rPr>
                        <a:t>Factory reset as last resort- </a:t>
                      </a:r>
                      <a:r>
                        <a:rPr lang="en-US" sz="1600" b="1" i="0" u="none" strike="noStrike" noProof="0">
                          <a:effectLst/>
                          <a:latin typeface="Poppins"/>
                          <a:cs typeface="Poppins"/>
                        </a:rPr>
                        <a:t>check with TL first.</a:t>
                      </a:r>
                      <a:endParaRPr lang="en-US" sz="1600" b="1" i="0" u="none" strike="noStrike" noProof="0">
                        <a:latin typeface="Poppins"/>
                        <a:cs typeface="Poppins"/>
                      </a:endParaRPr>
                    </a:p>
                    <a:p>
                      <a:pPr marL="342900" lvl="0" indent="-342900">
                        <a:buAutoNum type="arabicPeriod"/>
                      </a:pPr>
                      <a:endParaRPr lang="en-US" sz="1600">
                        <a:effectLst/>
                        <a:latin typeface="Poppins"/>
                        <a:cs typeface="Poppins"/>
                      </a:endParaRPr>
                    </a:p>
                    <a:p>
                      <a:pPr lvl="0">
                        <a:buNone/>
                      </a:pPr>
                      <a:r>
                        <a:rPr lang="en-US" sz="1600" b="1" i="0" u="none" strike="noStrike" noProof="0">
                          <a:solidFill>
                            <a:srgbClr val="000000"/>
                          </a:solidFill>
                          <a:effectLst/>
                          <a:latin typeface="Poppins"/>
                          <a:cs typeface="Poppins"/>
                        </a:rPr>
                        <a:t>e-SIM</a:t>
                      </a:r>
                      <a:endParaRPr lang="en-US" sz="1600" b="0" i="0" u="none" strike="noStrike" noProof="0">
                        <a:solidFill>
                          <a:srgbClr val="000000"/>
                        </a:solidFill>
                        <a:effectLst/>
                        <a:latin typeface="Poppins"/>
                        <a:cs typeface="Poppins"/>
                      </a:endParaRPr>
                    </a:p>
                    <a:p>
                      <a:pPr lvl="0">
                        <a:buNone/>
                      </a:pPr>
                      <a:endParaRPr lang="en-US" sz="1600" b="0" i="0" u="none" strike="noStrike" noProof="0">
                        <a:solidFill>
                          <a:srgbClr val="000000"/>
                        </a:solidFill>
                        <a:effectLst/>
                        <a:latin typeface="Poppins"/>
                        <a:cs typeface="Poppins"/>
                      </a:endParaRPr>
                    </a:p>
                    <a:p>
                      <a:pPr marL="342900" lvl="0" indent="-342900">
                        <a:buClr>
                          <a:srgbClr val="000000"/>
                        </a:buClr>
                        <a:buAutoNum type="arabicPeriod"/>
                      </a:pPr>
                      <a:r>
                        <a:rPr lang="en-US" sz="1600" b="0" i="0" u="none" strike="noStrike" noProof="0">
                          <a:solidFill>
                            <a:srgbClr val="000000"/>
                          </a:solidFill>
                          <a:effectLst/>
                          <a:latin typeface="Poppins"/>
                          <a:cs typeface="Poppins"/>
                        </a:rPr>
                        <a:t>Confirm if SMS, calls, and data are all not working</a:t>
                      </a:r>
                    </a:p>
                    <a:p>
                      <a:pPr marL="342900" lvl="0" indent="-342900">
                        <a:buClr>
                          <a:srgbClr val="000000"/>
                        </a:buClr>
                        <a:buAutoNum type="arabicPeriod"/>
                      </a:pPr>
                      <a:r>
                        <a:rPr lang="en-US" sz="1600" b="0" i="0" u="none" strike="noStrike" noProof="0">
                          <a:solidFill>
                            <a:srgbClr val="000000"/>
                          </a:solidFill>
                          <a:effectLst/>
                          <a:latin typeface="Poppins"/>
                          <a:cs typeface="Poppins"/>
                        </a:rPr>
                        <a:t>Restart the device; reboot (Turn your phone off, then turn it back on) </a:t>
                      </a:r>
                    </a:p>
                    <a:p>
                      <a:pPr marL="342900" lvl="0" indent="-342900">
                        <a:buClr>
                          <a:srgbClr val="000000"/>
                        </a:buClr>
                        <a:buAutoNum type="arabicPeriod"/>
                      </a:pPr>
                      <a:r>
                        <a:rPr lang="en-US" sz="1600" b="0" i="0" u="none" strike="noStrike" noProof="0">
                          <a:solidFill>
                            <a:srgbClr val="000000"/>
                          </a:solidFill>
                          <a:effectLst/>
                          <a:latin typeface="Poppins"/>
                          <a:cs typeface="Poppins"/>
                        </a:rPr>
                        <a:t>Make sure the customer is using the same phone we are troubleshooting or the device is present upon the call. </a:t>
                      </a:r>
                    </a:p>
                    <a:p>
                      <a:pPr marL="342900" lvl="0" indent="-342900">
                        <a:buClr>
                          <a:srgbClr val="000000"/>
                        </a:buClr>
                        <a:buAutoNum type="arabicPeriod"/>
                      </a:pPr>
                      <a:r>
                        <a:rPr lang="en-US" sz="1600" b="0" i="0" u="none" strike="noStrike" noProof="0">
                          <a:solidFill>
                            <a:srgbClr val="000000"/>
                          </a:solidFill>
                          <a:effectLst/>
                          <a:latin typeface="Poppins"/>
                          <a:cs typeface="Poppins"/>
                        </a:rPr>
                        <a:t>Check the APN settings.</a:t>
                      </a:r>
                    </a:p>
                    <a:p>
                      <a:pPr marL="342900" lvl="0" indent="-342900">
                        <a:buClr>
                          <a:srgbClr val="000000"/>
                        </a:buClr>
                        <a:buAutoNum type="arabicPeriod"/>
                      </a:pPr>
                      <a:r>
                        <a:rPr lang="en-US" sz="1600" b="1" i="0" u="none" strike="noStrike" noProof="0">
                          <a:solidFill>
                            <a:srgbClr val="000000"/>
                          </a:solidFill>
                          <a:effectLst/>
                          <a:latin typeface="Poppins"/>
                          <a:cs typeface="Poppins"/>
                        </a:rPr>
                        <a:t>Toggle airplane mode </a:t>
                      </a:r>
                      <a:r>
                        <a:rPr lang="en-US" sz="1600" b="0" i="0" u="none" strike="noStrike" noProof="0">
                          <a:solidFill>
                            <a:srgbClr val="000000"/>
                          </a:solidFill>
                          <a:effectLst/>
                          <a:latin typeface="Poppins"/>
                          <a:cs typeface="Poppins"/>
                        </a:rPr>
                        <a:t>(steps on next slide)</a:t>
                      </a:r>
                      <a:endParaRPr lang="en-US" sz="1600" b="0">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sp>
        <p:nvSpPr>
          <p:cNvPr id="3" name="Shape 2">
            <a:extLst>
              <a:ext uri="{FF2B5EF4-FFF2-40B4-BE49-F238E27FC236}">
                <a16:creationId xmlns:a16="http://schemas.microsoft.com/office/drawing/2014/main" id="{444B1BC7-D610-403E-C95F-B93980C4125E}"/>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cs typeface="Poppins"/>
              </a:rPr>
              <a:t>Network</a:t>
            </a:r>
          </a:p>
          <a:p>
            <a:r>
              <a:rPr lang="en-GB" sz="2000" b="1">
                <a:latin typeface="Poppins"/>
                <a:cs typeface="Poppins"/>
              </a:rPr>
              <a:t>Slow speeds</a:t>
            </a:r>
          </a:p>
          <a:p>
            <a:r>
              <a:rPr lang="en-GB" sz="2000" b="1">
                <a:latin typeface="Poppins"/>
                <a:cs typeface="Poppins"/>
              </a:rPr>
              <a:t>No Connection</a:t>
            </a:r>
          </a:p>
          <a:p>
            <a:r>
              <a:rPr lang="en-GB" sz="2000" b="1">
                <a:latin typeface="Poppins"/>
                <a:ea typeface="+mn-lt"/>
                <a:cs typeface="Poppins"/>
              </a:rPr>
              <a:t>WIFI issues</a:t>
            </a:r>
            <a:endParaRPr lang="en-GB" sz="2000" b="1">
              <a:latin typeface="Poppins"/>
              <a:cs typeface="Poppins"/>
            </a:endParaRPr>
          </a:p>
          <a:p>
            <a:r>
              <a:rPr lang="en-GB" sz="2000" b="1">
                <a:latin typeface="Poppins"/>
                <a:ea typeface="+mn-lt"/>
                <a:cs typeface="Poppins"/>
              </a:rPr>
              <a:t>Streaming</a:t>
            </a:r>
            <a:endParaRPr lang="en-GB" sz="2000" b="1">
              <a:latin typeface="Poppins"/>
              <a:cs typeface="Poppins"/>
            </a:endParaRPr>
          </a:p>
        </p:txBody>
      </p:sp>
      <p:sp>
        <p:nvSpPr>
          <p:cNvPr id="4" name="Shape 6">
            <a:extLst>
              <a:ext uri="{FF2B5EF4-FFF2-40B4-BE49-F238E27FC236}">
                <a16:creationId xmlns:a16="http://schemas.microsoft.com/office/drawing/2014/main" id="{4ED43B2F-FF71-8ADC-FCDE-AA50B5835FD1}"/>
              </a:ext>
            </a:extLst>
          </p:cNvPr>
          <p:cNvSpPr/>
          <p:nvPr/>
        </p:nvSpPr>
        <p:spPr>
          <a:xfrm>
            <a:off x="738268" y="5300424"/>
            <a:ext cx="6270955" cy="663363"/>
          </a:xfrm>
          <a:prstGeom prst="roundRect">
            <a:avLst>
              <a:gd name="adj" fmla="val 6522"/>
            </a:avLst>
          </a:prstGeom>
          <a:solidFill>
            <a:srgbClr val="EAD6CA"/>
          </a:solidFill>
          <a:ln w="12700">
            <a:solidFill>
              <a:srgbClr val="EAD6CA">
                <a:alpha val="0"/>
              </a:srgbClr>
            </a:solidFill>
            <a:prstDash val="solid"/>
          </a:ln>
        </p:spPr>
        <p:txBody>
          <a:bodyPr lIns="91440" tIns="45720" rIns="91440" bIns="45720" anchor="t"/>
          <a:lstStyle/>
          <a:p>
            <a:r>
              <a:rPr lang="en-GB" sz="1600">
                <a:latin typeface="Poppins"/>
                <a:ea typeface="+mn-lt"/>
                <a:cs typeface="Poppins"/>
              </a:rPr>
              <a:t>If issue insists, get the error and ask the customer to send it via email. Then escalate to MO under network issue.</a:t>
            </a:r>
            <a:endParaRPr lang="en-GB" sz="1600">
              <a:latin typeface="Poppins"/>
              <a:cs typeface="Poppins"/>
            </a:endParaRPr>
          </a:p>
        </p:txBody>
      </p:sp>
    </p:spTree>
    <p:extLst>
      <p:ext uri="{BB962C8B-B14F-4D97-AF65-F5344CB8AC3E}">
        <p14:creationId xmlns:p14="http://schemas.microsoft.com/office/powerpoint/2010/main" val="2042424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1BD2F-91B7-B543-CA6B-38AAD86F608B}"/>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450A3DB8-2C74-53A4-F16E-020AB18C7980}"/>
              </a:ext>
            </a:extLst>
          </p:cNvPr>
          <p:cNvGraphicFramePr>
            <a:graphicFrameLocks noGrp="1"/>
          </p:cNvGraphicFramePr>
          <p:nvPr>
            <p:extLst>
              <p:ext uri="{D42A27DB-BD31-4B8C-83A1-F6EECF244321}">
                <p14:modId xmlns:p14="http://schemas.microsoft.com/office/powerpoint/2010/main" val="3516751476"/>
              </p:ext>
            </p:extLst>
          </p:nvPr>
        </p:nvGraphicFramePr>
        <p:xfrm>
          <a:off x="1056735" y="201283"/>
          <a:ext cx="7266495" cy="6617366"/>
        </p:xfrm>
        <a:graphic>
          <a:graphicData uri="http://schemas.openxmlformats.org/drawingml/2006/table">
            <a:tbl>
              <a:tblPr bandRow="1">
                <a:tableStyleId>{5C22544A-7EE6-4342-B048-85BDC9FD1C3A}</a:tableStyleId>
              </a:tblPr>
              <a:tblGrid>
                <a:gridCol w="7266495">
                  <a:extLst>
                    <a:ext uri="{9D8B030D-6E8A-4147-A177-3AD203B41FA5}">
                      <a16:colId xmlns:a16="http://schemas.microsoft.com/office/drawing/2014/main" val="468640326"/>
                    </a:ext>
                  </a:extLst>
                </a:gridCol>
              </a:tblGrid>
              <a:tr h="6617366">
                <a:tc>
                  <a:txBody>
                    <a:bodyPr/>
                    <a:lstStyle/>
                    <a:p>
                      <a:pPr>
                        <a:buNone/>
                      </a:pPr>
                      <a:endParaRPr lang="en-US" err="1">
                        <a:effectLst/>
                      </a:endParaRPr>
                    </a:p>
                  </a:txBody>
                  <a:tcPr>
                    <a:lnL>
                      <a:noFill/>
                    </a:lnL>
                    <a:lnR>
                      <a:noFill/>
                    </a:lnR>
                    <a:lnT>
                      <a:noFill/>
                    </a:lnT>
                    <a:lnB>
                      <a:noFill/>
                    </a:lnB>
                    <a:noFill/>
                  </a:tcPr>
                </a:tc>
                <a:extLst>
                  <a:ext uri="{0D108BD9-81ED-4DB2-BD59-A6C34878D82A}">
                    <a16:rowId xmlns:a16="http://schemas.microsoft.com/office/drawing/2014/main" val="2974865557"/>
                  </a:ext>
                </a:extLst>
              </a:tr>
            </a:tbl>
          </a:graphicData>
        </a:graphic>
      </p:graphicFrame>
      <p:graphicFrame>
        <p:nvGraphicFramePr>
          <p:cNvPr id="5" name="Table 4">
            <a:extLst>
              <a:ext uri="{FF2B5EF4-FFF2-40B4-BE49-F238E27FC236}">
                <a16:creationId xmlns:a16="http://schemas.microsoft.com/office/drawing/2014/main" id="{A192B012-C715-C238-5B9D-BAB5585030B2}"/>
              </a:ext>
            </a:extLst>
          </p:cNvPr>
          <p:cNvGraphicFramePr>
            <a:graphicFrameLocks noGrp="1"/>
          </p:cNvGraphicFramePr>
          <p:nvPr>
            <p:extLst>
              <p:ext uri="{D42A27DB-BD31-4B8C-83A1-F6EECF244321}">
                <p14:modId xmlns:p14="http://schemas.microsoft.com/office/powerpoint/2010/main" val="2254126706"/>
              </p:ext>
            </p:extLst>
          </p:nvPr>
        </p:nvGraphicFramePr>
        <p:xfrm>
          <a:off x="506938" y="654442"/>
          <a:ext cx="6897527" cy="5489702"/>
        </p:xfrm>
        <a:graphic>
          <a:graphicData uri="http://schemas.openxmlformats.org/drawingml/2006/table">
            <a:tbl>
              <a:tblPr bandRow="1">
                <a:tableStyleId>{5C22544A-7EE6-4342-B048-85BDC9FD1C3A}</a:tableStyleId>
              </a:tblPr>
              <a:tblGrid>
                <a:gridCol w="6897527">
                  <a:extLst>
                    <a:ext uri="{9D8B030D-6E8A-4147-A177-3AD203B41FA5}">
                      <a16:colId xmlns:a16="http://schemas.microsoft.com/office/drawing/2014/main" val="671864920"/>
                    </a:ext>
                  </a:extLst>
                </a:gridCol>
              </a:tblGrid>
              <a:tr h="5489702">
                <a:tc>
                  <a:txBody>
                    <a:bodyPr/>
                    <a:lstStyle/>
                    <a:p>
                      <a:pPr lvl="0">
                        <a:buNone/>
                      </a:pPr>
                      <a:r>
                        <a:rPr lang="en-US" sz="1600" b="1" i="0" u="none" strike="noStrike" noProof="0">
                          <a:solidFill>
                            <a:srgbClr val="000000"/>
                          </a:solidFill>
                          <a:effectLst/>
                          <a:latin typeface="Poppins"/>
                          <a:cs typeface="Poppins"/>
                        </a:rPr>
                        <a:t>Troubleshooting Steps</a:t>
                      </a:r>
                      <a:endParaRPr lang="en-US" sz="1600"/>
                    </a:p>
                    <a:p>
                      <a:pPr lvl="0">
                        <a:buNone/>
                      </a:pPr>
                      <a:endParaRPr lang="en-US" sz="1600" b="1" i="0" u="none" strike="noStrike" noProof="0">
                        <a:solidFill>
                          <a:srgbClr val="000000"/>
                        </a:solidFill>
                        <a:effectLst/>
                        <a:latin typeface="Poppins"/>
                        <a:cs typeface="Poppins"/>
                      </a:endParaRPr>
                    </a:p>
                    <a:p>
                      <a:pPr lvl="0">
                        <a:buNone/>
                      </a:pPr>
                      <a:r>
                        <a:rPr lang="en-US" sz="1400" b="1" i="0">
                          <a:effectLst/>
                          <a:latin typeface="Poppins"/>
                          <a:cs typeface="Poppins"/>
                        </a:rPr>
                        <a:t>Toggle Airplane Mode</a:t>
                      </a:r>
                      <a:br>
                        <a:rPr lang="en-US" sz="1400" i="0">
                          <a:effectLst/>
                          <a:latin typeface="Poppins"/>
                          <a:cs typeface="Poppins"/>
                        </a:rPr>
                      </a:br>
                      <a:r>
                        <a:rPr lang="en-US" sz="1400" i="0">
                          <a:effectLst/>
                          <a:latin typeface="Poppins"/>
                          <a:cs typeface="Poppins"/>
                        </a:rPr>
                        <a:t>Turn Airplane Mode on for 10 seconds, then turn it off to force a network scan.</a:t>
                      </a:r>
                      <a:br>
                        <a:rPr lang="en-US" sz="1400" i="0">
                          <a:effectLst/>
                          <a:latin typeface="Poppins"/>
                          <a:cs typeface="Poppins"/>
                        </a:rPr>
                      </a:br>
                      <a:br>
                        <a:rPr lang="en-US" sz="1400" i="0">
                          <a:effectLst/>
                          <a:latin typeface="Poppins"/>
                          <a:cs typeface="Poppins"/>
                        </a:rPr>
                      </a:br>
                      <a:r>
                        <a:rPr lang="en-US" sz="1400" b="1" i="0">
                          <a:effectLst/>
                          <a:latin typeface="Poppins"/>
                          <a:cs typeface="Poppins"/>
                        </a:rPr>
                        <a:t>Manual Network Selection (iPhone)</a:t>
                      </a:r>
                      <a:br>
                        <a:rPr lang="en-US" sz="1400" b="1" i="0">
                          <a:effectLst/>
                          <a:latin typeface="Poppins"/>
                          <a:cs typeface="Poppins"/>
                        </a:rPr>
                      </a:br>
                      <a:r>
                        <a:rPr lang="en-US" sz="1400" i="0">
                          <a:effectLst/>
                          <a:latin typeface="Poppins"/>
                          <a:cs typeface="Poppins"/>
                        </a:rPr>
                        <a:t>Go to Settings &gt; Mobile Service/Cellular &gt; Network Selection.</a:t>
                      </a:r>
                      <a:br>
                        <a:rPr lang="en-US" sz="1400" i="0">
                          <a:effectLst/>
                          <a:latin typeface="Poppins"/>
                          <a:cs typeface="Poppins"/>
                        </a:rPr>
                      </a:br>
                      <a:r>
                        <a:rPr lang="en-US" sz="1400" i="0">
                          <a:effectLst/>
                          <a:latin typeface="Poppins"/>
                          <a:cs typeface="Poppins"/>
                        </a:rPr>
                        <a:t>Turn off Automatic, then select Vodafone from the list.</a:t>
                      </a:r>
                      <a:br>
                        <a:rPr lang="en-US" sz="1400" i="0">
                          <a:effectLst/>
                          <a:latin typeface="Poppins"/>
                          <a:cs typeface="Poppins"/>
                        </a:rPr>
                      </a:br>
                      <a:br>
                        <a:rPr lang="en-US" sz="1400" i="0">
                          <a:effectLst/>
                          <a:latin typeface="Poppins"/>
                          <a:cs typeface="Poppins"/>
                        </a:rPr>
                      </a:br>
                      <a:r>
                        <a:rPr lang="en-US" sz="1400" b="1" i="0">
                          <a:effectLst/>
                          <a:latin typeface="Poppins"/>
                          <a:cs typeface="Poppins"/>
                        </a:rPr>
                        <a:t>Manual Network Selection (Android)</a:t>
                      </a:r>
                      <a:br>
                        <a:rPr lang="en-US" sz="1400" i="0">
                          <a:effectLst/>
                          <a:latin typeface="Poppins"/>
                          <a:cs typeface="Poppins"/>
                        </a:rPr>
                      </a:br>
                      <a:r>
                        <a:rPr lang="en-US" sz="1400" i="0">
                          <a:effectLst/>
                          <a:latin typeface="Poppins"/>
                          <a:cs typeface="Poppins"/>
                        </a:rPr>
                        <a:t>Go to Settings &gt; Connections &gt; Mobile Networks &gt; Network Operators.</a:t>
                      </a:r>
                      <a:br>
                        <a:rPr lang="en-US" sz="1400" i="0">
                          <a:effectLst/>
                          <a:latin typeface="Poppins"/>
                          <a:cs typeface="Poppins"/>
                        </a:rPr>
                      </a:br>
                      <a:r>
                        <a:rPr lang="en-US" sz="1400" i="0">
                          <a:effectLst/>
                          <a:latin typeface="Poppins"/>
                          <a:cs typeface="Poppins"/>
                        </a:rPr>
                        <a:t>Turn off Select automatically, then choose Vodafone.</a:t>
                      </a:r>
                      <a:br>
                        <a:rPr lang="en-US" sz="1400" i="0">
                          <a:effectLst/>
                          <a:latin typeface="Poppins"/>
                          <a:cs typeface="Poppins"/>
                        </a:rPr>
                      </a:br>
                      <a:br>
                        <a:rPr lang="en-US" sz="1400" i="0">
                          <a:effectLst/>
                          <a:latin typeface="Poppins"/>
                          <a:cs typeface="Poppins"/>
                        </a:rPr>
                      </a:br>
                      <a:r>
                        <a:rPr lang="en-US" sz="1400" b="1" i="0">
                          <a:effectLst/>
                          <a:latin typeface="Poppins"/>
                          <a:cs typeface="Poppins"/>
                        </a:rPr>
                        <a:t>Check APN Settings</a:t>
                      </a:r>
                      <a:br>
                        <a:rPr lang="en-US" sz="1400" b="1" i="0">
                          <a:effectLst/>
                          <a:latin typeface="Poppins"/>
                          <a:cs typeface="Poppins"/>
                        </a:rPr>
                      </a:br>
                      <a:r>
                        <a:rPr lang="en-US" sz="1400" i="0">
                          <a:effectLst/>
                          <a:latin typeface="Poppins"/>
                          <a:cs typeface="Poppins"/>
                        </a:rPr>
                        <a:t>Make sure the Access Point Name (APN) is set to: wap.vodafone.co.uk</a:t>
                      </a:r>
                      <a:br>
                        <a:rPr lang="en-US" sz="1400" i="0">
                          <a:effectLst/>
                          <a:latin typeface="Poppins"/>
                          <a:cs typeface="Poppins"/>
                        </a:rPr>
                      </a:br>
                      <a:br>
                        <a:rPr lang="en-US" sz="1400" i="0">
                          <a:effectLst/>
                          <a:latin typeface="Poppins"/>
                          <a:cs typeface="Poppins"/>
                        </a:rPr>
                      </a:br>
                      <a:r>
                        <a:rPr lang="en-US" sz="1400" b="1" i="0">
                          <a:effectLst/>
                          <a:latin typeface="Poppins"/>
                          <a:cs typeface="Poppins"/>
                        </a:rPr>
                        <a:t>Toggle Airplane Mode Again</a:t>
                      </a:r>
                      <a:br>
                        <a:rPr lang="en-US" sz="1400" i="0">
                          <a:effectLst/>
                          <a:latin typeface="Poppins"/>
                          <a:cs typeface="Poppins"/>
                        </a:rPr>
                      </a:br>
                      <a:r>
                        <a:rPr lang="en-US" sz="1400" i="0">
                          <a:effectLst/>
                          <a:latin typeface="Poppins"/>
                          <a:cs typeface="Poppins"/>
                        </a:rPr>
                        <a:t>Turn Airplane Mode on for 10 seconds, then turn it off again.</a:t>
                      </a:r>
                    </a:p>
                    <a:p>
                      <a:pPr lvl="0">
                        <a:buNone/>
                      </a:pPr>
                      <a:endParaRPr lang="en-US" sz="1500">
                        <a:effectLst/>
                        <a:latin typeface="Poppins"/>
                        <a:cs typeface="Poppins"/>
                      </a:endParaRPr>
                    </a:p>
                    <a:p>
                      <a:pPr lvl="0">
                        <a:buNone/>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4276677439"/>
                  </a:ext>
                </a:extLst>
              </a:tr>
            </a:tbl>
          </a:graphicData>
        </a:graphic>
      </p:graphicFrame>
      <p:sp>
        <p:nvSpPr>
          <p:cNvPr id="7" name="Shape 6">
            <a:extLst>
              <a:ext uri="{FF2B5EF4-FFF2-40B4-BE49-F238E27FC236}">
                <a16:creationId xmlns:a16="http://schemas.microsoft.com/office/drawing/2014/main" id="{8DB17405-5A30-BADC-0601-97FC225F61D7}"/>
              </a:ext>
            </a:extLst>
          </p:cNvPr>
          <p:cNvSpPr/>
          <p:nvPr/>
        </p:nvSpPr>
        <p:spPr>
          <a:xfrm>
            <a:off x="816817" y="5303393"/>
            <a:ext cx="6277155" cy="837452"/>
          </a:xfrm>
          <a:prstGeom prst="roundRect">
            <a:avLst>
              <a:gd name="adj" fmla="val 6522"/>
            </a:avLst>
          </a:prstGeom>
          <a:solidFill>
            <a:srgbClr val="EAD6CA"/>
          </a:solidFill>
          <a:ln w="12700">
            <a:solidFill>
              <a:srgbClr val="EAD6CA">
                <a:alpha val="0"/>
              </a:srgbClr>
            </a:solidFill>
            <a:prstDash val="solid"/>
          </a:ln>
        </p:spPr>
        <p:txBody>
          <a:bodyPr lIns="91440" tIns="45720" rIns="91440" bIns="45720" anchor="t"/>
          <a:lstStyle/>
          <a:p>
            <a:r>
              <a:rPr lang="en-GB" sz="1600" b="1">
                <a:latin typeface="Poppins"/>
                <a:ea typeface="+mn-lt"/>
                <a:cs typeface="Poppins"/>
              </a:rPr>
              <a:t>If the customer does not have an extra phone</a:t>
            </a:r>
            <a:r>
              <a:rPr lang="en-GB" sz="1600">
                <a:latin typeface="Poppins"/>
                <a:ea typeface="+mn-lt"/>
                <a:cs typeface="Poppins"/>
              </a:rPr>
              <a:t> : </a:t>
            </a:r>
          </a:p>
          <a:p>
            <a:r>
              <a:rPr lang="en-GB" sz="1600">
                <a:latin typeface="Poppins"/>
                <a:ea typeface="+mn-lt"/>
                <a:cs typeface="Poppins"/>
              </a:rPr>
              <a:t>Mention the troubleshooting steps and callback after 3 minutes.</a:t>
            </a:r>
            <a:endParaRPr lang="en-GB" sz="1600">
              <a:latin typeface="Poppins"/>
              <a:cs typeface="Poppins"/>
            </a:endParaRPr>
          </a:p>
        </p:txBody>
      </p:sp>
      <p:sp>
        <p:nvSpPr>
          <p:cNvPr id="6" name="Shape 2">
            <a:extLst>
              <a:ext uri="{FF2B5EF4-FFF2-40B4-BE49-F238E27FC236}">
                <a16:creationId xmlns:a16="http://schemas.microsoft.com/office/drawing/2014/main" id="{3633F237-7206-829C-2888-B3E8B71B706F}"/>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cs typeface="Poppins"/>
              </a:rPr>
              <a:t>Network</a:t>
            </a:r>
          </a:p>
          <a:p>
            <a:r>
              <a:rPr lang="en-GB" sz="2000" b="1">
                <a:latin typeface="Poppins"/>
                <a:cs typeface="Poppins"/>
              </a:rPr>
              <a:t>Slow speeds</a:t>
            </a:r>
          </a:p>
          <a:p>
            <a:r>
              <a:rPr lang="en-GB" sz="2000" b="1">
                <a:latin typeface="Poppins"/>
                <a:cs typeface="Poppins"/>
              </a:rPr>
              <a:t>No Connection</a:t>
            </a:r>
          </a:p>
          <a:p>
            <a:r>
              <a:rPr lang="en-GB" sz="2000" b="1">
                <a:latin typeface="Poppins"/>
                <a:ea typeface="+mn-lt"/>
                <a:cs typeface="Poppins"/>
              </a:rPr>
              <a:t>WIFI issues</a:t>
            </a:r>
            <a:endParaRPr lang="en-GB" sz="2000" b="1">
              <a:latin typeface="Poppins"/>
              <a:cs typeface="Poppins"/>
            </a:endParaRPr>
          </a:p>
          <a:p>
            <a:r>
              <a:rPr lang="en-GB" sz="2000" b="1">
                <a:latin typeface="Poppins"/>
                <a:ea typeface="+mn-lt"/>
                <a:cs typeface="Poppins"/>
              </a:rPr>
              <a:t>Streaming</a:t>
            </a:r>
            <a:endParaRPr lang="en-GB" sz="2000" b="1">
              <a:latin typeface="Poppins"/>
              <a:cs typeface="Poppins"/>
            </a:endParaRPr>
          </a:p>
        </p:txBody>
      </p:sp>
    </p:spTree>
    <p:extLst>
      <p:ext uri="{BB962C8B-B14F-4D97-AF65-F5344CB8AC3E}">
        <p14:creationId xmlns:p14="http://schemas.microsoft.com/office/powerpoint/2010/main" val="25995638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BD1FD-A7F9-9D3A-CA0E-95F9B823E959}"/>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08983FC9-F6B3-B69D-82A7-C5B50FF98D9C}"/>
              </a:ext>
            </a:extLst>
          </p:cNvPr>
          <p:cNvGraphicFramePr>
            <a:graphicFrameLocks noGrp="1"/>
          </p:cNvGraphicFramePr>
          <p:nvPr/>
        </p:nvGraphicFramePr>
        <p:xfrm>
          <a:off x="0" y="0"/>
          <a:ext cx="8320540" cy="6819088"/>
        </p:xfrm>
        <a:graphic>
          <a:graphicData uri="http://schemas.openxmlformats.org/drawingml/2006/table">
            <a:tbl>
              <a:tblPr bandRow="1">
                <a:tableStyleId>{5C22544A-7EE6-4342-B048-85BDC9FD1C3A}</a:tableStyleId>
              </a:tblPr>
              <a:tblGrid>
                <a:gridCol w="8320540">
                  <a:extLst>
                    <a:ext uri="{9D8B030D-6E8A-4147-A177-3AD203B41FA5}">
                      <a16:colId xmlns:a16="http://schemas.microsoft.com/office/drawing/2014/main" val="468640326"/>
                    </a:ext>
                  </a:extLst>
                </a:gridCol>
              </a:tblGrid>
              <a:tr h="6819088">
                <a:tc>
                  <a:txBody>
                    <a:bodyPr/>
                    <a:lstStyle/>
                    <a:p>
                      <a:pPr>
                        <a:buNone/>
                      </a:pPr>
                      <a:endParaRPr lang="en-US" err="1">
                        <a:effectLst/>
                      </a:endParaRPr>
                    </a:p>
                  </a:txBody>
                  <a:tcPr>
                    <a:lnL>
                      <a:noFill/>
                    </a:lnL>
                    <a:lnR>
                      <a:noFill/>
                    </a:lnR>
                    <a:lnT>
                      <a:noFill/>
                    </a:lnT>
                    <a:lnB>
                      <a:noFill/>
                    </a:lnB>
                    <a:noFill/>
                  </a:tcPr>
                </a:tc>
                <a:extLst>
                  <a:ext uri="{0D108BD9-81ED-4DB2-BD59-A6C34878D82A}">
                    <a16:rowId xmlns:a16="http://schemas.microsoft.com/office/drawing/2014/main" val="2974865557"/>
                  </a:ext>
                </a:extLst>
              </a:tr>
            </a:tbl>
          </a:graphicData>
        </a:graphic>
      </p:graphicFrame>
      <p:graphicFrame>
        <p:nvGraphicFramePr>
          <p:cNvPr id="5" name="Table 4">
            <a:extLst>
              <a:ext uri="{FF2B5EF4-FFF2-40B4-BE49-F238E27FC236}">
                <a16:creationId xmlns:a16="http://schemas.microsoft.com/office/drawing/2014/main" id="{9951E6D4-42AA-756E-B244-62F906165357}"/>
              </a:ext>
            </a:extLst>
          </p:cNvPr>
          <p:cNvGraphicFramePr>
            <a:graphicFrameLocks noGrp="1"/>
          </p:cNvGraphicFramePr>
          <p:nvPr>
            <p:extLst>
              <p:ext uri="{D42A27DB-BD31-4B8C-83A1-F6EECF244321}">
                <p14:modId xmlns:p14="http://schemas.microsoft.com/office/powerpoint/2010/main" val="3312583249"/>
              </p:ext>
            </p:extLst>
          </p:nvPr>
        </p:nvGraphicFramePr>
        <p:xfrm>
          <a:off x="709495" y="1879430"/>
          <a:ext cx="6897527" cy="2773680"/>
        </p:xfrm>
        <a:graphic>
          <a:graphicData uri="http://schemas.openxmlformats.org/drawingml/2006/table">
            <a:tbl>
              <a:tblPr bandRow="1">
                <a:tableStyleId>{5C22544A-7EE6-4342-B048-85BDC9FD1C3A}</a:tableStyleId>
              </a:tblPr>
              <a:tblGrid>
                <a:gridCol w="6897527">
                  <a:extLst>
                    <a:ext uri="{9D8B030D-6E8A-4147-A177-3AD203B41FA5}">
                      <a16:colId xmlns:a16="http://schemas.microsoft.com/office/drawing/2014/main" val="671864920"/>
                    </a:ext>
                  </a:extLst>
                </a:gridCol>
              </a:tblGrid>
              <a:tr h="1992844">
                <a:tc>
                  <a:txBody>
                    <a:bodyPr/>
                    <a:lstStyle/>
                    <a:p>
                      <a:pPr lvl="0" algn="l">
                        <a:lnSpc>
                          <a:spcPct val="100000"/>
                        </a:lnSpc>
                        <a:spcBef>
                          <a:spcPts val="0"/>
                        </a:spcBef>
                        <a:spcAft>
                          <a:spcPts val="0"/>
                        </a:spcAft>
                        <a:buNone/>
                      </a:pPr>
                      <a:r>
                        <a:rPr lang="en-US" sz="1600" b="1" i="0" u="none" strike="noStrike" noProof="0">
                          <a:effectLst/>
                          <a:latin typeface="Poppins"/>
                          <a:cs typeface="Poppins"/>
                        </a:rPr>
                        <a:t>If the issue persist, escalate with the info below:</a:t>
                      </a:r>
                      <a:endParaRPr lang="en-US" sz="1600" b="1">
                        <a:latin typeface="Poppins"/>
                        <a:cs typeface="Poppins"/>
                      </a:endParaRPr>
                    </a:p>
                    <a:p>
                      <a:pPr marL="285750" lvl="0" indent="-285750" algn="l">
                        <a:lnSpc>
                          <a:spcPct val="100000"/>
                        </a:lnSpc>
                        <a:spcBef>
                          <a:spcPts val="0"/>
                        </a:spcBef>
                        <a:spcAft>
                          <a:spcPts val="0"/>
                        </a:spcAft>
                        <a:buFont typeface="Arial"/>
                        <a:buChar char="•"/>
                      </a:pPr>
                      <a:r>
                        <a:rPr lang="en-US" sz="1600" b="0" i="0" u="none" strike="noStrike" noProof="0">
                          <a:effectLst/>
                          <a:latin typeface="Poppins"/>
                          <a:cs typeface="Poppins"/>
                        </a:rPr>
                        <a:t>Customer's exact location (Address) </a:t>
                      </a:r>
                      <a:endParaRPr lang="en-US" sz="1600">
                        <a:latin typeface="Poppins"/>
                        <a:cs typeface="Poppins"/>
                      </a:endParaRPr>
                    </a:p>
                    <a:p>
                      <a:pPr marL="285750" lvl="0" indent="-285750" algn="l">
                        <a:lnSpc>
                          <a:spcPct val="100000"/>
                        </a:lnSpc>
                        <a:spcBef>
                          <a:spcPts val="0"/>
                        </a:spcBef>
                        <a:spcAft>
                          <a:spcPts val="0"/>
                        </a:spcAft>
                        <a:buFont typeface="Arial"/>
                        <a:buChar char="•"/>
                      </a:pPr>
                      <a:r>
                        <a:rPr lang="en-US" sz="1600" b="0" i="0" u="none" strike="noStrike" noProof="0">
                          <a:effectLst/>
                          <a:latin typeface="Poppins"/>
                          <a:cs typeface="Poppins"/>
                        </a:rPr>
                        <a:t>Make and model (</a:t>
                      </a:r>
                      <a:r>
                        <a:rPr lang="en-US" sz="1600" b="0" i="0" u="none" strike="noStrike" noProof="0" err="1">
                          <a:effectLst/>
                          <a:latin typeface="Poppins"/>
                          <a:cs typeface="Poppins"/>
                        </a:rPr>
                        <a:t>eg.</a:t>
                      </a:r>
                      <a:r>
                        <a:rPr lang="en-US" sz="1600" b="0" i="0" u="none" strike="noStrike" noProof="0">
                          <a:effectLst/>
                          <a:latin typeface="Poppins"/>
                          <a:cs typeface="Poppins"/>
                        </a:rPr>
                        <a:t> </a:t>
                      </a:r>
                      <a:r>
                        <a:rPr lang="en-US" sz="1600" b="0" i="0" u="none" strike="noStrike" noProof="0" err="1">
                          <a:effectLst/>
                          <a:latin typeface="Poppins"/>
                          <a:cs typeface="Poppins"/>
                        </a:rPr>
                        <a:t>Iphone</a:t>
                      </a:r>
                      <a:r>
                        <a:rPr lang="en-US" sz="1600" b="0" i="0" u="none" strike="noStrike" noProof="0">
                          <a:effectLst/>
                          <a:latin typeface="Poppins"/>
                          <a:cs typeface="Poppins"/>
                        </a:rPr>
                        <a:t> 13, Google Pixel 10 pro)</a:t>
                      </a:r>
                      <a:endParaRPr lang="en-US" sz="1600">
                        <a:latin typeface="Poppins"/>
                        <a:cs typeface="Poppins"/>
                      </a:endParaRPr>
                    </a:p>
                    <a:p>
                      <a:pPr marL="285750" lvl="0" indent="-285750" algn="l">
                        <a:lnSpc>
                          <a:spcPct val="100000"/>
                        </a:lnSpc>
                        <a:spcBef>
                          <a:spcPts val="0"/>
                        </a:spcBef>
                        <a:spcAft>
                          <a:spcPts val="0"/>
                        </a:spcAft>
                        <a:buFont typeface="Arial"/>
                        <a:buChar char="•"/>
                      </a:pPr>
                      <a:r>
                        <a:rPr lang="en-US" sz="1600" b="0" i="0" u="none" strike="noStrike" noProof="0" err="1">
                          <a:effectLst/>
                          <a:latin typeface="Poppins"/>
                          <a:cs typeface="Poppins"/>
                        </a:rPr>
                        <a:t>eSIM</a:t>
                      </a:r>
                      <a:r>
                        <a:rPr lang="en-US" sz="1600" b="0" i="0" u="none" strike="noStrike" noProof="0">
                          <a:effectLst/>
                          <a:latin typeface="Poppins"/>
                          <a:cs typeface="Poppins"/>
                        </a:rPr>
                        <a:t> or cellular settings (does the customer connect through Vodacom or 3?)</a:t>
                      </a:r>
                      <a:endParaRPr lang="en-US" sz="1600">
                        <a:latin typeface="Poppins"/>
                        <a:cs typeface="Poppins"/>
                      </a:endParaRPr>
                    </a:p>
                    <a:p>
                      <a:pPr marL="285750" lvl="0" indent="-285750" algn="l">
                        <a:lnSpc>
                          <a:spcPct val="100000"/>
                        </a:lnSpc>
                        <a:spcBef>
                          <a:spcPts val="0"/>
                        </a:spcBef>
                        <a:spcAft>
                          <a:spcPts val="0"/>
                        </a:spcAft>
                        <a:buFont typeface="Arial"/>
                        <a:buChar char="•"/>
                      </a:pPr>
                      <a:r>
                        <a:rPr lang="en-US" sz="1600" b="1" i="0" u="none" strike="noStrike" noProof="0">
                          <a:effectLst/>
                        </a:rPr>
                        <a:t>Loop: </a:t>
                      </a:r>
                      <a:r>
                        <a:rPr lang="en-US" sz="1600" b="0" i="0" u="none" strike="noStrike" noProof="0">
                          <a:effectLst/>
                        </a:rPr>
                        <a:t>Serial number</a:t>
                      </a:r>
                    </a:p>
                    <a:p>
                      <a:pPr marL="285750" lvl="0" indent="-285750" algn="l">
                        <a:lnSpc>
                          <a:spcPct val="100000"/>
                        </a:lnSpc>
                        <a:spcBef>
                          <a:spcPts val="0"/>
                        </a:spcBef>
                        <a:spcAft>
                          <a:spcPts val="0"/>
                        </a:spcAft>
                        <a:buFont typeface="Arial"/>
                        <a:buChar char="•"/>
                      </a:pPr>
                      <a:r>
                        <a:rPr lang="en-US" sz="1600" b="1" i="0" u="none" strike="noStrike" noProof="0">
                          <a:effectLst/>
                        </a:rPr>
                        <a:t>e-SIM </a:t>
                      </a:r>
                      <a:r>
                        <a:rPr lang="en-US" sz="1600" b="0" i="0" u="none" strike="noStrike" noProof="0">
                          <a:effectLst/>
                        </a:rPr>
                        <a:t>MSISDN</a:t>
                      </a:r>
                      <a:endParaRPr lang="en-US" sz="1600" b="0" i="0" u="none" strike="noStrike" noProof="0">
                        <a:effectLst/>
                        <a:latin typeface="Poppins"/>
                        <a:cs typeface="Poppins"/>
                      </a:endParaRPr>
                    </a:p>
                    <a:p>
                      <a:pPr marL="285750" lvl="0" indent="-285750" algn="l">
                        <a:lnSpc>
                          <a:spcPct val="100000"/>
                        </a:lnSpc>
                        <a:spcBef>
                          <a:spcPts val="0"/>
                        </a:spcBef>
                        <a:spcAft>
                          <a:spcPts val="0"/>
                        </a:spcAft>
                        <a:buFont typeface="Arial"/>
                        <a:buChar char="•"/>
                      </a:pPr>
                      <a:endParaRPr lang="en-US" sz="1600" b="0" i="0" u="none" strike="noStrike" noProof="0">
                        <a:effectLst/>
                      </a:endParaRPr>
                    </a:p>
                    <a:p>
                      <a:pPr marL="285750" lvl="0" indent="-285750" algn="l">
                        <a:lnSpc>
                          <a:spcPct val="100000"/>
                        </a:lnSpc>
                        <a:spcBef>
                          <a:spcPts val="0"/>
                        </a:spcBef>
                        <a:spcAft>
                          <a:spcPts val="0"/>
                        </a:spcAft>
                        <a:buFont typeface="Arial"/>
                        <a:buChar char="•"/>
                      </a:pPr>
                      <a:endParaRPr lang="en-US" sz="1600" b="0" i="0" u="none" strike="noStrike" noProof="0">
                        <a:effectLst/>
                        <a:latin typeface="Poppins"/>
                        <a:cs typeface="Poppins"/>
                      </a:endParaRPr>
                    </a:p>
                    <a:p>
                      <a:pPr lvl="0" algn="l">
                        <a:lnSpc>
                          <a:spcPct val="100000"/>
                        </a:lnSpc>
                        <a:spcBef>
                          <a:spcPts val="0"/>
                        </a:spcBef>
                        <a:spcAft>
                          <a:spcPts val="0"/>
                        </a:spcAft>
                        <a:buNone/>
                      </a:pPr>
                      <a:endParaRPr lang="en-US" sz="1600" b="0" i="0" u="none" strike="noStrike" noProof="0">
                        <a:effectLst/>
                        <a:latin typeface="Poppins"/>
                        <a:cs typeface="Poppins"/>
                      </a:endParaRPr>
                    </a:p>
                    <a:p>
                      <a:pPr lvl="0">
                        <a:buNone/>
                      </a:pPr>
                      <a:endParaRPr lang="en-US" sz="1600" b="0" i="0" u="none" strike="noStrike" noProof="0">
                        <a:solidFill>
                          <a:srgbClr val="000000"/>
                        </a:solidFill>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4276677439"/>
                  </a:ext>
                </a:extLst>
              </a:tr>
            </a:tbl>
          </a:graphicData>
        </a:graphic>
      </p:graphicFrame>
      <p:sp>
        <p:nvSpPr>
          <p:cNvPr id="6" name="Shape 2">
            <a:extLst>
              <a:ext uri="{FF2B5EF4-FFF2-40B4-BE49-F238E27FC236}">
                <a16:creationId xmlns:a16="http://schemas.microsoft.com/office/drawing/2014/main" id="{35F3A006-653B-E751-1E4E-A60732FB94A2}"/>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cs typeface="Poppins"/>
              </a:rPr>
              <a:t>Network</a:t>
            </a:r>
          </a:p>
          <a:p>
            <a:r>
              <a:rPr lang="en-GB" sz="2000" b="1">
                <a:latin typeface="Poppins"/>
                <a:cs typeface="Poppins"/>
              </a:rPr>
              <a:t>Slow speeds</a:t>
            </a:r>
          </a:p>
          <a:p>
            <a:r>
              <a:rPr lang="en-GB" sz="2000" b="1">
                <a:latin typeface="Poppins"/>
                <a:cs typeface="Poppins"/>
              </a:rPr>
              <a:t>No Connection</a:t>
            </a:r>
          </a:p>
          <a:p>
            <a:r>
              <a:rPr lang="en-GB" sz="2000" b="1">
                <a:latin typeface="Poppins"/>
                <a:ea typeface="+mn-lt"/>
                <a:cs typeface="Poppins"/>
              </a:rPr>
              <a:t>WIFI issues</a:t>
            </a:r>
            <a:endParaRPr lang="en-GB" sz="2000" b="1">
              <a:latin typeface="Poppins"/>
              <a:cs typeface="Poppins"/>
            </a:endParaRPr>
          </a:p>
          <a:p>
            <a:r>
              <a:rPr lang="en-GB" sz="2000" b="1">
                <a:latin typeface="Poppins"/>
                <a:ea typeface="+mn-lt"/>
                <a:cs typeface="Poppins"/>
              </a:rPr>
              <a:t>Streaming</a:t>
            </a:r>
            <a:endParaRPr lang="en-GB" sz="2000" b="1">
              <a:latin typeface="Poppins"/>
              <a:cs typeface="Poppins"/>
            </a:endParaRPr>
          </a:p>
        </p:txBody>
      </p:sp>
    </p:spTree>
    <p:extLst>
      <p:ext uri="{BB962C8B-B14F-4D97-AF65-F5344CB8AC3E}">
        <p14:creationId xmlns:p14="http://schemas.microsoft.com/office/powerpoint/2010/main" val="16411774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4F1F7-84B2-9A2C-CFB6-9872D1A27E47}"/>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9926460A-C294-C64D-5B32-49AAF6D6CC70}"/>
              </a:ext>
            </a:extLst>
          </p:cNvPr>
          <p:cNvGraphicFramePr>
            <a:graphicFrameLocks noGrp="1"/>
          </p:cNvGraphicFramePr>
          <p:nvPr>
            <p:extLst>
              <p:ext uri="{D42A27DB-BD31-4B8C-83A1-F6EECF244321}">
                <p14:modId xmlns:p14="http://schemas.microsoft.com/office/powerpoint/2010/main" val="3232579463"/>
              </p:ext>
            </p:extLst>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3" name="Table 2">
            <a:extLst>
              <a:ext uri="{FF2B5EF4-FFF2-40B4-BE49-F238E27FC236}">
                <a16:creationId xmlns:a16="http://schemas.microsoft.com/office/drawing/2014/main" id="{7BDA0E67-D638-AEF0-2203-DBCC7FFE2B2F}"/>
              </a:ext>
            </a:extLst>
          </p:cNvPr>
          <p:cNvGraphicFramePr>
            <a:graphicFrameLocks noGrp="1"/>
          </p:cNvGraphicFramePr>
          <p:nvPr>
            <p:extLst>
              <p:ext uri="{D42A27DB-BD31-4B8C-83A1-F6EECF244321}">
                <p14:modId xmlns:p14="http://schemas.microsoft.com/office/powerpoint/2010/main" val="478240206"/>
              </p:ext>
            </p:extLst>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7" name="Table 6">
            <a:extLst>
              <a:ext uri="{FF2B5EF4-FFF2-40B4-BE49-F238E27FC236}">
                <a16:creationId xmlns:a16="http://schemas.microsoft.com/office/drawing/2014/main" id="{1533D027-4B26-038C-7ECB-35E008F601B2}"/>
              </a:ext>
            </a:extLst>
          </p:cNvPr>
          <p:cNvGraphicFramePr>
            <a:graphicFrameLocks noGrp="1"/>
          </p:cNvGraphicFramePr>
          <p:nvPr>
            <p:extLst>
              <p:ext uri="{D42A27DB-BD31-4B8C-83A1-F6EECF244321}">
                <p14:modId xmlns:p14="http://schemas.microsoft.com/office/powerpoint/2010/main" val="3525387533"/>
              </p:ext>
            </p:extLst>
          </p:nvPr>
        </p:nvGraphicFramePr>
        <p:xfrm>
          <a:off x="1059365" y="204439"/>
          <a:ext cx="6898640" cy="6663105"/>
        </p:xfrm>
        <a:graphic>
          <a:graphicData uri="http://schemas.openxmlformats.org/drawingml/2006/table">
            <a:tbl>
              <a:tblPr bandRow="1">
                <a:tableStyleId>{5C22544A-7EE6-4342-B048-85BDC9FD1C3A}</a:tableStyleId>
              </a:tblPr>
              <a:tblGrid>
                <a:gridCol w="6898640">
                  <a:extLst>
                    <a:ext uri="{9D8B030D-6E8A-4147-A177-3AD203B41FA5}">
                      <a16:colId xmlns:a16="http://schemas.microsoft.com/office/drawing/2014/main" val="1146741475"/>
                    </a:ext>
                  </a:extLst>
                </a:gridCol>
              </a:tblGrid>
              <a:tr h="6663105">
                <a:tc>
                  <a:txBody>
                    <a:bodyPr/>
                    <a:lstStyle/>
                    <a:p>
                      <a:pPr lvl="0">
                        <a:buNone/>
                      </a:pPr>
                      <a:r>
                        <a:rPr lang="en-US" sz="1600" b="1" i="0" u="none" strike="noStrike" noProof="0">
                          <a:solidFill>
                            <a:srgbClr val="000000"/>
                          </a:solidFill>
                          <a:effectLst/>
                          <a:latin typeface="Poppins"/>
                          <a:cs typeface="Poppins"/>
                        </a:rPr>
                        <a:t>Things we check </a:t>
                      </a:r>
                      <a:endParaRPr lang="en-US" sz="1600" b="0" i="0" u="none" strike="noStrike" noProof="0">
                        <a:solidFill>
                          <a:srgbClr val="000000"/>
                        </a:solidFill>
                        <a:effectLst/>
                        <a:latin typeface="Poppins"/>
                        <a:cs typeface="Poppins"/>
                      </a:endParaRPr>
                    </a:p>
                    <a:p>
                      <a:pPr lvl="0">
                        <a:buNone/>
                      </a:pPr>
                      <a:r>
                        <a:rPr lang="en-US" sz="1000" b="0" i="1" u="none" strike="noStrike" noProof="0">
                          <a:solidFill>
                            <a:srgbClr val="000000"/>
                          </a:solidFill>
                          <a:effectLst/>
                          <a:latin typeface="Poppins"/>
                          <a:cs typeface="Poppins"/>
                        </a:rPr>
                        <a:t>ask the customer, check in the station, etc.</a:t>
                      </a:r>
                    </a:p>
                    <a:p>
                      <a:pPr lvl="0">
                        <a:buNone/>
                      </a:pPr>
                      <a:endParaRPr lang="en-US" sz="1600" b="0" i="1" u="none" strike="noStrike" noProof="0">
                        <a:solidFill>
                          <a:srgbClr val="000000"/>
                        </a:solidFill>
                        <a:effectLst/>
                        <a:latin typeface="Poppins"/>
                        <a:cs typeface="Poppins"/>
                      </a:endParaRPr>
                    </a:p>
                    <a:p>
                      <a:pPr lvl="0">
                        <a:buNone/>
                      </a:pPr>
                      <a:r>
                        <a:rPr lang="en-US" sz="1600" b="1">
                          <a:effectLst/>
                          <a:latin typeface="Poppins"/>
                          <a:cs typeface="Poppins"/>
                        </a:rPr>
                        <a:t>Loop</a:t>
                      </a:r>
                    </a:p>
                    <a:p>
                      <a:pPr marL="342900" lvl="0" indent="-342900">
                        <a:buAutoNum type="arabicPeriod"/>
                      </a:pPr>
                      <a:r>
                        <a:rPr lang="en-US" sz="1600">
                          <a:effectLst/>
                          <a:latin typeface="Poppins"/>
                          <a:cs typeface="Poppins"/>
                        </a:rPr>
                        <a:t>Set up your loop by completing the Android setup process on the device. </a:t>
                      </a:r>
                    </a:p>
                    <a:p>
                      <a:pPr marL="342900" lvl="0" indent="-342900">
                        <a:buAutoNum type="arabicPeriod"/>
                      </a:pPr>
                      <a:r>
                        <a:rPr lang="en-US" sz="1600">
                          <a:effectLst/>
                          <a:latin typeface="Poppins"/>
                          <a:cs typeface="Poppins"/>
                        </a:rPr>
                        <a:t>Tap the activation widget on the loop's home screen.  </a:t>
                      </a:r>
                    </a:p>
                    <a:p>
                      <a:pPr marL="342900" lvl="0" indent="-342900">
                        <a:buAutoNum type="arabicPeriod"/>
                      </a:pPr>
                      <a:r>
                        <a:rPr lang="en-US" sz="1600">
                          <a:effectLst/>
                          <a:latin typeface="Poppins"/>
                          <a:cs typeface="Poppins"/>
                        </a:rPr>
                        <a:t>Scan the QR code displayed on your loop with your phone.  </a:t>
                      </a:r>
                    </a:p>
                    <a:p>
                      <a:pPr marL="342900" lvl="0" indent="-342900">
                        <a:buAutoNum type="arabicPeriod"/>
                      </a:pPr>
                      <a:r>
                        <a:rPr lang="en-US" sz="1600">
                          <a:effectLst/>
                          <a:latin typeface="Poppins"/>
                          <a:cs typeface="Poppins"/>
                        </a:rPr>
                        <a:t>Follow the activation prompts on the </a:t>
                      </a:r>
                      <a:r>
                        <a:rPr lang="en-US" sz="1600" err="1">
                          <a:effectLst/>
                          <a:latin typeface="Poppins"/>
                          <a:cs typeface="Poppins"/>
                        </a:rPr>
                        <a:t>LoopDL</a:t>
                      </a:r>
                      <a:r>
                        <a:rPr lang="en-US" sz="1600">
                          <a:effectLst/>
                          <a:latin typeface="Poppins"/>
                          <a:cs typeface="Poppins"/>
                        </a:rPr>
                        <a:t> website, then enter your activation code, which was sent during purchase</a:t>
                      </a:r>
                    </a:p>
                    <a:p>
                      <a:pPr marL="342900" lvl="0" indent="-342900">
                        <a:buAutoNum type="arabicPeriod"/>
                      </a:pPr>
                      <a:endParaRPr lang="en-US" sz="1600">
                        <a:effectLst/>
                        <a:latin typeface="Poppins"/>
                        <a:cs typeface="Poppins"/>
                      </a:endParaRPr>
                    </a:p>
                    <a:p>
                      <a:pPr marL="0" lvl="0" indent="0">
                        <a:buNone/>
                      </a:pPr>
                      <a:br>
                        <a:rPr lang="en-US" sz="1600">
                          <a:effectLst/>
                          <a:latin typeface="Poppins"/>
                          <a:cs typeface="Poppins"/>
                        </a:rPr>
                      </a:br>
                      <a:endParaRPr lang="en-US" sz="1600">
                        <a:effectLst/>
                        <a:latin typeface="Poppins"/>
                        <a:cs typeface="Poppins"/>
                      </a:endParaRPr>
                    </a:p>
                    <a:p>
                      <a:pPr marL="0" lvl="0" indent="0">
                        <a:buNone/>
                      </a:pPr>
                      <a:endParaRPr lang="en-US" sz="1600" b="1">
                        <a:effectLst/>
                        <a:latin typeface="Poppins"/>
                        <a:cs typeface="Poppins"/>
                      </a:endParaRPr>
                    </a:p>
                    <a:p>
                      <a:pPr marL="0" lvl="0" indent="0">
                        <a:buNone/>
                      </a:pPr>
                      <a:endParaRPr lang="en-US" sz="1600">
                        <a:effectLst/>
                        <a:latin typeface="Poppins"/>
                        <a:cs typeface="Poppins"/>
                      </a:endParaRPr>
                    </a:p>
                    <a:p>
                      <a:pPr marL="0" lvl="0" indent="0">
                        <a:buNone/>
                      </a:pPr>
                      <a:endParaRPr lang="en-US" sz="16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bl>
          </a:graphicData>
        </a:graphic>
      </p:graphicFrame>
      <p:sp>
        <p:nvSpPr>
          <p:cNvPr id="5" name="Shape 2">
            <a:extLst>
              <a:ext uri="{FF2B5EF4-FFF2-40B4-BE49-F238E27FC236}">
                <a16:creationId xmlns:a16="http://schemas.microsoft.com/office/drawing/2014/main" id="{EE287934-72E1-0CE1-7F65-7A6EC584A617}"/>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cs typeface="Poppins"/>
              </a:rPr>
              <a:t>Network</a:t>
            </a:r>
          </a:p>
          <a:p>
            <a:r>
              <a:rPr lang="en-GB" sz="2000" b="1">
                <a:latin typeface="Poppins"/>
                <a:cs typeface="Poppins"/>
              </a:rPr>
              <a:t>Activation</a:t>
            </a:r>
            <a:endParaRPr lang="en-GB"/>
          </a:p>
        </p:txBody>
      </p:sp>
      <p:pic>
        <p:nvPicPr>
          <p:cNvPr id="4" name="Picture 3" descr="A screenshot of a computer">
            <a:extLst>
              <a:ext uri="{FF2B5EF4-FFF2-40B4-BE49-F238E27FC236}">
                <a16:creationId xmlns:a16="http://schemas.microsoft.com/office/drawing/2014/main" id="{3BF494AF-9D67-3655-7503-D4E28714DEB1}"/>
              </a:ext>
            </a:extLst>
          </p:cNvPr>
          <p:cNvPicPr>
            <a:picLocks noChangeAspect="1"/>
          </p:cNvPicPr>
          <p:nvPr/>
        </p:nvPicPr>
        <p:blipFill>
          <a:blip r:embed="rId3"/>
          <a:stretch>
            <a:fillRect/>
          </a:stretch>
        </p:blipFill>
        <p:spPr>
          <a:xfrm>
            <a:off x="1373234" y="2948217"/>
            <a:ext cx="3982529" cy="1722526"/>
          </a:xfrm>
          <a:prstGeom prst="rect">
            <a:avLst/>
          </a:prstGeom>
        </p:spPr>
      </p:pic>
      <p:sp>
        <p:nvSpPr>
          <p:cNvPr id="9" name="Shape 6">
            <a:extLst>
              <a:ext uri="{FF2B5EF4-FFF2-40B4-BE49-F238E27FC236}">
                <a16:creationId xmlns:a16="http://schemas.microsoft.com/office/drawing/2014/main" id="{2FB1EA03-61FB-7740-6CFC-491852C889A1}"/>
              </a:ext>
            </a:extLst>
          </p:cNvPr>
          <p:cNvSpPr/>
          <p:nvPr/>
        </p:nvSpPr>
        <p:spPr>
          <a:xfrm>
            <a:off x="883739" y="4995727"/>
            <a:ext cx="7254815" cy="894962"/>
          </a:xfrm>
          <a:prstGeom prst="roundRect">
            <a:avLst>
              <a:gd name="adj" fmla="val 6522"/>
            </a:avLst>
          </a:prstGeom>
          <a:solidFill>
            <a:srgbClr val="EAD6CA"/>
          </a:solidFill>
          <a:ln w="12700">
            <a:solidFill>
              <a:srgbClr val="EAD6CA">
                <a:alpha val="0"/>
              </a:srgbClr>
            </a:solidFill>
            <a:prstDash val="solid"/>
          </a:ln>
        </p:spPr>
        <p:txBody>
          <a:bodyPr lIns="91440" tIns="45720" rIns="91440" bIns="45720" anchor="t"/>
          <a:lstStyle/>
          <a:p>
            <a:r>
              <a:rPr lang="en-GB" sz="1500" b="1">
                <a:latin typeface="Poppins"/>
                <a:ea typeface="+mn-lt"/>
                <a:cs typeface="Poppins"/>
              </a:rPr>
              <a:t>Do not proceed if the customer cannot verify the account.</a:t>
            </a:r>
          </a:p>
          <a:p>
            <a:r>
              <a:rPr lang="en-GB" sz="1500" b="1">
                <a:latin typeface="Poppins"/>
                <a:ea typeface="+mn-lt"/>
                <a:cs typeface="Poppins"/>
              </a:rPr>
              <a:t>If the e-SIM is on another device, continue with:</a:t>
            </a:r>
            <a:endParaRPr lang="en-GB" sz="1500"/>
          </a:p>
          <a:p>
            <a:r>
              <a:rPr lang="en-GB" sz="1500" b="1">
                <a:latin typeface="Poppins"/>
                <a:ea typeface="+mn-lt"/>
                <a:cs typeface="Poppins"/>
              </a:rPr>
              <a:t>Transfer e-SIM / e-SIM not working. </a:t>
            </a:r>
            <a:r>
              <a:rPr lang="en-GB" sz="1500">
                <a:latin typeface="Poppins"/>
                <a:ea typeface="+mn-lt"/>
                <a:cs typeface="Poppins"/>
              </a:rPr>
              <a:t>Otherwise,  continue troubleshooting.</a:t>
            </a:r>
            <a:endParaRPr lang="en-GB">
              <a:latin typeface="Poppins"/>
              <a:cs typeface="Poppins"/>
            </a:endParaRPr>
          </a:p>
          <a:p>
            <a:endParaRPr lang="en-GB" sz="1500" b="1">
              <a:latin typeface="Poppins"/>
              <a:cs typeface="Poppins"/>
            </a:endParaRPr>
          </a:p>
        </p:txBody>
      </p:sp>
    </p:spTree>
    <p:extLst>
      <p:ext uri="{BB962C8B-B14F-4D97-AF65-F5344CB8AC3E}">
        <p14:creationId xmlns:p14="http://schemas.microsoft.com/office/powerpoint/2010/main" val="13823800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83666-0707-0295-EC5B-72EDC9706C3E}"/>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67F5CC8B-1DBF-3B92-970B-6F39AC2657BC}"/>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3" name="Table 2">
            <a:extLst>
              <a:ext uri="{FF2B5EF4-FFF2-40B4-BE49-F238E27FC236}">
                <a16:creationId xmlns:a16="http://schemas.microsoft.com/office/drawing/2014/main" id="{8921540E-5EE6-6643-2CB1-2AAADE0B1B22}"/>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7" name="Table 6">
            <a:extLst>
              <a:ext uri="{FF2B5EF4-FFF2-40B4-BE49-F238E27FC236}">
                <a16:creationId xmlns:a16="http://schemas.microsoft.com/office/drawing/2014/main" id="{B7A3C21F-CAB1-4F5F-ED66-DF982C14BF68}"/>
              </a:ext>
            </a:extLst>
          </p:cNvPr>
          <p:cNvGraphicFramePr>
            <a:graphicFrameLocks noGrp="1"/>
          </p:cNvGraphicFramePr>
          <p:nvPr>
            <p:extLst>
              <p:ext uri="{D42A27DB-BD31-4B8C-83A1-F6EECF244321}">
                <p14:modId xmlns:p14="http://schemas.microsoft.com/office/powerpoint/2010/main" val="1458061631"/>
              </p:ext>
            </p:extLst>
          </p:nvPr>
        </p:nvGraphicFramePr>
        <p:xfrm>
          <a:off x="1060515" y="204247"/>
          <a:ext cx="6898640" cy="6663105"/>
        </p:xfrm>
        <a:graphic>
          <a:graphicData uri="http://schemas.openxmlformats.org/drawingml/2006/table">
            <a:tbl>
              <a:tblPr bandRow="1">
                <a:tableStyleId>{5C22544A-7EE6-4342-B048-85BDC9FD1C3A}</a:tableStyleId>
              </a:tblPr>
              <a:tblGrid>
                <a:gridCol w="6898640">
                  <a:extLst>
                    <a:ext uri="{9D8B030D-6E8A-4147-A177-3AD203B41FA5}">
                      <a16:colId xmlns:a16="http://schemas.microsoft.com/office/drawing/2014/main" val="1146741475"/>
                    </a:ext>
                  </a:extLst>
                </a:gridCol>
              </a:tblGrid>
              <a:tr h="6663105">
                <a:tc>
                  <a:txBody>
                    <a:bodyPr/>
                    <a:lstStyle/>
                    <a:p>
                      <a:pPr lvl="0">
                        <a:buNone/>
                      </a:pPr>
                      <a:r>
                        <a:rPr lang="en-US" sz="1600" b="1" i="0" u="none" strike="noStrike" noProof="0">
                          <a:solidFill>
                            <a:srgbClr val="000000"/>
                          </a:solidFill>
                          <a:effectLst/>
                          <a:latin typeface="Poppins"/>
                          <a:cs typeface="Poppins"/>
                        </a:rPr>
                        <a:t>Things we check </a:t>
                      </a:r>
                      <a:endParaRPr lang="en-US" sz="1600" b="0" i="0" u="none" strike="noStrike" noProof="0">
                        <a:solidFill>
                          <a:srgbClr val="000000"/>
                        </a:solidFill>
                        <a:effectLst/>
                        <a:latin typeface="Poppins"/>
                        <a:cs typeface="Poppins"/>
                      </a:endParaRPr>
                    </a:p>
                    <a:p>
                      <a:pPr lvl="0">
                        <a:buNone/>
                      </a:pPr>
                      <a:r>
                        <a:rPr lang="en-US" sz="1000" b="0" i="1" u="none" strike="noStrike" noProof="0">
                          <a:solidFill>
                            <a:srgbClr val="000000"/>
                          </a:solidFill>
                          <a:effectLst/>
                          <a:latin typeface="Poppins"/>
                          <a:cs typeface="Poppins"/>
                        </a:rPr>
                        <a:t>ask the customer, check in the station, etc.</a:t>
                      </a:r>
                    </a:p>
                    <a:p>
                      <a:pPr lvl="0">
                        <a:buNone/>
                      </a:pPr>
                      <a:endParaRPr lang="en-US" sz="1600" b="0" i="1" u="none" strike="noStrike" noProof="0">
                        <a:solidFill>
                          <a:srgbClr val="000000"/>
                        </a:solidFill>
                        <a:effectLst/>
                        <a:latin typeface="Poppins"/>
                        <a:cs typeface="Poppins"/>
                      </a:endParaRPr>
                    </a:p>
                    <a:p>
                      <a:pPr marL="0" lvl="0" indent="0">
                        <a:buNone/>
                      </a:pPr>
                      <a:r>
                        <a:rPr lang="en-US" sz="1600" b="1">
                          <a:effectLst/>
                          <a:latin typeface="Poppins"/>
                          <a:cs typeface="Poppins"/>
                        </a:rPr>
                        <a:t>e-SIM</a:t>
                      </a:r>
                      <a:endParaRPr lang="en-US" sz="1600">
                        <a:effectLst/>
                        <a:latin typeface="Poppins"/>
                        <a:cs typeface="Poppins"/>
                      </a:endParaRPr>
                    </a:p>
                    <a:p>
                      <a:pPr marL="0" lvl="0" indent="0">
                        <a:buNone/>
                      </a:pPr>
                      <a:endParaRPr lang="en-US" sz="1600" b="1">
                        <a:effectLst/>
                        <a:latin typeface="Poppins"/>
                        <a:cs typeface="Poppins"/>
                      </a:endParaRPr>
                    </a:p>
                    <a:p>
                      <a:pPr marL="0" lvl="0" indent="0">
                        <a:buNone/>
                      </a:pPr>
                      <a:endParaRPr lang="en-US" sz="1600" b="1">
                        <a:effectLst/>
                        <a:latin typeface="Poppins"/>
                        <a:cs typeface="Poppins"/>
                      </a:endParaRPr>
                    </a:p>
                    <a:p>
                      <a:pPr marL="0" lvl="0" indent="0">
                        <a:buNone/>
                      </a:pPr>
                      <a:endParaRPr lang="en-US" sz="1600" b="1">
                        <a:effectLst/>
                        <a:latin typeface="Poppins"/>
                        <a:cs typeface="Poppins"/>
                      </a:endParaRPr>
                    </a:p>
                    <a:p>
                      <a:pPr marL="0" lvl="0" indent="0">
                        <a:buNone/>
                      </a:pPr>
                      <a:endParaRPr lang="en-US" sz="1600" b="1">
                        <a:effectLst/>
                        <a:latin typeface="Poppins"/>
                        <a:cs typeface="Poppins"/>
                      </a:endParaRPr>
                    </a:p>
                    <a:p>
                      <a:pPr marL="0" lvl="0" indent="0">
                        <a:buNone/>
                      </a:pPr>
                      <a:endParaRPr lang="en-US" sz="1600" b="1">
                        <a:effectLst/>
                        <a:latin typeface="Poppins"/>
                        <a:cs typeface="Poppins"/>
                      </a:endParaRPr>
                    </a:p>
                    <a:p>
                      <a:pPr marL="0" lvl="0" indent="0">
                        <a:buNone/>
                      </a:pPr>
                      <a:endParaRPr lang="en-US" sz="1600" b="1">
                        <a:effectLst/>
                        <a:latin typeface="Poppins"/>
                        <a:cs typeface="Poppins"/>
                      </a:endParaRPr>
                    </a:p>
                    <a:p>
                      <a:pPr lvl="0" algn="l">
                        <a:lnSpc>
                          <a:spcPct val="100000"/>
                        </a:lnSpc>
                        <a:spcBef>
                          <a:spcPts val="0"/>
                        </a:spcBef>
                        <a:spcAft>
                          <a:spcPts val="0"/>
                        </a:spcAft>
                        <a:buNone/>
                      </a:pPr>
                      <a:r>
                        <a:rPr lang="en-US" sz="1600" b="1" i="0" u="none" strike="noStrike" noProof="0">
                          <a:effectLst/>
                          <a:latin typeface="Poppins"/>
                          <a:cs typeface="Poppins"/>
                        </a:rPr>
                        <a:t>Please ensure the following before proceeding with installation:</a:t>
                      </a:r>
                      <a:endParaRPr lang="en-US" sz="1600" b="1">
                        <a:latin typeface="Poppins"/>
                        <a:cs typeface="Poppins"/>
                      </a:endParaRPr>
                    </a:p>
                    <a:p>
                      <a:pPr marL="285750" lvl="0" indent="-285750" algn="l">
                        <a:lnSpc>
                          <a:spcPct val="100000"/>
                        </a:lnSpc>
                        <a:spcBef>
                          <a:spcPts val="0"/>
                        </a:spcBef>
                        <a:spcAft>
                          <a:spcPts val="0"/>
                        </a:spcAft>
                        <a:buFont typeface="Arial"/>
                        <a:buChar char="•"/>
                      </a:pPr>
                      <a:r>
                        <a:rPr lang="en-US" sz="1600" b="0" i="0" u="none" strike="noStrike" noProof="0">
                          <a:effectLst/>
                          <a:latin typeface="Poppins"/>
                          <a:cs typeface="Poppins"/>
                        </a:rPr>
                        <a:t>Use a stable internet connection (Wi-Fi or strong 5G).</a:t>
                      </a:r>
                      <a:endParaRPr lang="en-US" sz="1600">
                        <a:latin typeface="Poppins"/>
                        <a:cs typeface="Poppins"/>
                      </a:endParaRPr>
                    </a:p>
                    <a:p>
                      <a:pPr marL="285750" lvl="0" indent="-285750" algn="l">
                        <a:lnSpc>
                          <a:spcPct val="100000"/>
                        </a:lnSpc>
                        <a:spcBef>
                          <a:spcPts val="0"/>
                        </a:spcBef>
                        <a:spcAft>
                          <a:spcPts val="0"/>
                        </a:spcAft>
                        <a:buFont typeface="Arial"/>
                        <a:buChar char="•"/>
                      </a:pPr>
                      <a:r>
                        <a:rPr lang="en-US" sz="1600" b="0" i="0" u="none" strike="noStrike" noProof="0">
                          <a:effectLst/>
                          <a:latin typeface="Poppins"/>
                          <a:cs typeface="Poppins"/>
                        </a:rPr>
                        <a:t>Confirm the device is e-SIM compatible.</a:t>
                      </a:r>
                      <a:endParaRPr lang="en-US" sz="1600">
                        <a:latin typeface="Poppins"/>
                        <a:cs typeface="Poppins"/>
                      </a:endParaRPr>
                    </a:p>
                    <a:p>
                      <a:pPr marL="742950" lvl="1" indent="-285750" algn="l">
                        <a:lnSpc>
                          <a:spcPct val="100000"/>
                        </a:lnSpc>
                        <a:spcBef>
                          <a:spcPts val="0"/>
                        </a:spcBef>
                        <a:spcAft>
                          <a:spcPts val="0"/>
                        </a:spcAft>
                        <a:buFont typeface="Courier New"/>
                        <a:buChar char="o"/>
                      </a:pPr>
                      <a:r>
                        <a:rPr lang="en-US" sz="1600" b="0" i="0" u="none" strike="noStrike" noProof="0">
                          <a:effectLst/>
                          <a:latin typeface="Poppins"/>
                          <a:cs typeface="Poppins"/>
                        </a:rPr>
                        <a:t>Ask the brand and model and verify e-SIM compatibility</a:t>
                      </a:r>
                    </a:p>
                    <a:p>
                      <a:pPr marL="285750" lvl="0" indent="-285750" algn="l">
                        <a:lnSpc>
                          <a:spcPct val="100000"/>
                        </a:lnSpc>
                        <a:spcBef>
                          <a:spcPts val="0"/>
                        </a:spcBef>
                        <a:spcAft>
                          <a:spcPts val="0"/>
                        </a:spcAft>
                        <a:buFont typeface="Arial"/>
                        <a:buChar char="•"/>
                      </a:pPr>
                      <a:r>
                        <a:rPr lang="en-US" sz="1600" b="0" i="0" u="none" strike="noStrike" noProof="0">
                          <a:effectLst/>
                          <a:latin typeface="Poppins"/>
                          <a:cs typeface="Poppins"/>
                        </a:rPr>
                        <a:t>Ensure the device is updated to the latest iOS or Android version.</a:t>
                      </a:r>
                      <a:endParaRPr lang="en-US" sz="1600">
                        <a:latin typeface="Poppins"/>
                        <a:cs typeface="Poppins"/>
                      </a:endParaRPr>
                    </a:p>
                    <a:p>
                      <a:pPr marL="285750" lvl="0" indent="-285750" algn="l">
                        <a:lnSpc>
                          <a:spcPct val="100000"/>
                        </a:lnSpc>
                        <a:spcBef>
                          <a:spcPts val="0"/>
                        </a:spcBef>
                        <a:spcAft>
                          <a:spcPts val="0"/>
                        </a:spcAft>
                        <a:buFont typeface="Arial"/>
                        <a:buChar char="•"/>
                      </a:pPr>
                      <a:r>
                        <a:rPr lang="en-US" sz="1600" b="0" i="0" u="none" strike="noStrike" noProof="0">
                          <a:solidFill>
                            <a:srgbClr val="000000"/>
                          </a:solidFill>
                          <a:effectLst/>
                          <a:latin typeface="Poppins"/>
                          <a:cs typeface="Poppins"/>
                        </a:rPr>
                        <a:t>Verify if it was purchased in the UK</a:t>
                      </a:r>
                      <a:endParaRPr lang="en-US" sz="1600" b="0" i="0" u="none" strike="noStrike" noProof="0">
                        <a:effectLst/>
                        <a:latin typeface="Poppins"/>
                        <a:cs typeface="Poppins"/>
                      </a:endParaRPr>
                    </a:p>
                    <a:p>
                      <a:pPr marL="285750" lvl="0" indent="-285750" algn="l">
                        <a:lnSpc>
                          <a:spcPct val="100000"/>
                        </a:lnSpc>
                        <a:spcBef>
                          <a:spcPts val="0"/>
                        </a:spcBef>
                        <a:spcAft>
                          <a:spcPts val="0"/>
                        </a:spcAft>
                        <a:buFont typeface="Arial"/>
                        <a:buChar char="•"/>
                      </a:pPr>
                      <a:r>
                        <a:rPr lang="en-US" sz="1600" b="0" i="0" u="none" strike="noStrike" noProof="0">
                          <a:effectLst/>
                          <a:latin typeface="Poppins"/>
                          <a:cs typeface="Poppins"/>
                        </a:rPr>
                        <a:t>Check that the device has not reached its maximum number of stored e-SIMs (some Android devices allow 5–7 profiles, but only one can be active at a time).</a:t>
                      </a:r>
                      <a:endParaRPr lang="en-US" sz="1600">
                        <a:latin typeface="Poppins"/>
                        <a:cs typeface="Poppins"/>
                      </a:endParaRPr>
                    </a:p>
                    <a:p>
                      <a:pPr marL="0" lvl="0" indent="0">
                        <a:buNone/>
                      </a:pPr>
                      <a:endParaRPr lang="en-US" sz="1600" b="0" i="0" u="none" strike="noStrike" noProof="0">
                        <a:effectLst/>
                        <a:latin typeface="Poppins"/>
                        <a:cs typeface="Poppins"/>
                      </a:endParaRPr>
                    </a:p>
                    <a:p>
                      <a:pPr marL="0" lvl="0" indent="0">
                        <a:buNone/>
                      </a:pPr>
                      <a:r>
                        <a:rPr lang="en-US" sz="1600" b="1" i="0" u="none" strike="noStrike" noProof="0">
                          <a:effectLst/>
                          <a:latin typeface="Poppins"/>
                          <a:cs typeface="Poppins"/>
                        </a:rPr>
                        <a:t>Device Troubleshooting:</a:t>
                      </a:r>
                      <a:endParaRPr lang="en-US" sz="1600" b="1">
                        <a:latin typeface="Poppins"/>
                        <a:cs typeface="Poppins"/>
                      </a:endParaRPr>
                    </a:p>
                    <a:p>
                      <a:pPr marL="285750" lvl="0" indent="-285750" algn="l">
                        <a:lnSpc>
                          <a:spcPct val="100000"/>
                        </a:lnSpc>
                        <a:spcBef>
                          <a:spcPts val="0"/>
                        </a:spcBef>
                        <a:spcAft>
                          <a:spcPts val="0"/>
                        </a:spcAft>
                        <a:buFont typeface="Arial"/>
                        <a:buChar char="•"/>
                      </a:pPr>
                      <a:r>
                        <a:rPr lang="en-US" sz="1600" b="0" i="0" u="none" strike="noStrike" noProof="0">
                          <a:effectLst/>
                          <a:latin typeface="Poppins"/>
                          <a:cs typeface="Poppins"/>
                        </a:rPr>
                        <a:t>Restart the device and attempt the installation again.</a:t>
                      </a:r>
                      <a:endParaRPr lang="en-US" sz="1600">
                        <a:latin typeface="Poppins"/>
                        <a:cs typeface="Poppins"/>
                      </a:endParaRPr>
                    </a:p>
                    <a:p>
                      <a:pPr marL="285750" lvl="0" indent="-285750">
                        <a:buFont typeface="Arial"/>
                        <a:buChar char="•"/>
                      </a:pPr>
                      <a:r>
                        <a:rPr lang="en-US" sz="1600" b="0" i="0" u="none" strike="noStrike" noProof="0">
                          <a:effectLst/>
                          <a:latin typeface="Poppins"/>
                          <a:cs typeface="Poppins"/>
                        </a:rPr>
                        <a:t>If issues persist, delete unused e-SIM profiles if applicable.</a:t>
                      </a:r>
                      <a:br>
                        <a:rPr lang="en-US" sz="1600">
                          <a:effectLst/>
                          <a:latin typeface="Poppins"/>
                          <a:cs typeface="Poppins"/>
                        </a:rPr>
                      </a:br>
                      <a:endParaRPr lang="en-US" sz="1600">
                        <a:effectLst/>
                        <a:latin typeface="Poppins"/>
                        <a:cs typeface="Poppins"/>
                      </a:endParaRPr>
                    </a:p>
                    <a:p>
                      <a:pPr marL="0" lvl="0" indent="0">
                        <a:buNone/>
                      </a:pPr>
                      <a:endParaRPr lang="en-US" sz="1600">
                        <a:effectLst/>
                        <a:latin typeface="Poppins"/>
                        <a:cs typeface="Poppins"/>
                      </a:endParaRPr>
                    </a:p>
                    <a:p>
                      <a:pPr marL="0" lvl="0" indent="0">
                        <a:buNone/>
                      </a:pPr>
                      <a:endParaRPr lang="en-US" sz="16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bl>
          </a:graphicData>
        </a:graphic>
      </p:graphicFrame>
      <p:sp>
        <p:nvSpPr>
          <p:cNvPr id="9" name="Shape 6">
            <a:extLst>
              <a:ext uri="{FF2B5EF4-FFF2-40B4-BE49-F238E27FC236}">
                <a16:creationId xmlns:a16="http://schemas.microsoft.com/office/drawing/2014/main" id="{8ACF26F3-BEF1-5B77-8980-D205DA08A52A}"/>
              </a:ext>
            </a:extLst>
          </p:cNvPr>
          <p:cNvSpPr/>
          <p:nvPr/>
        </p:nvSpPr>
        <p:spPr>
          <a:xfrm>
            <a:off x="1057956" y="1152755"/>
            <a:ext cx="6277155" cy="873396"/>
          </a:xfrm>
          <a:prstGeom prst="roundRect">
            <a:avLst>
              <a:gd name="adj" fmla="val 6522"/>
            </a:avLst>
          </a:prstGeom>
          <a:solidFill>
            <a:srgbClr val="EAD6CA"/>
          </a:solidFill>
          <a:ln w="12700">
            <a:solidFill>
              <a:srgbClr val="EAD6CA">
                <a:alpha val="0"/>
              </a:srgbClr>
            </a:solidFill>
            <a:prstDash val="solid"/>
          </a:ln>
        </p:spPr>
        <p:txBody>
          <a:bodyPr lIns="91440" tIns="45720" rIns="91440" bIns="45720" anchor="t"/>
          <a:lstStyle/>
          <a:p>
            <a:r>
              <a:rPr lang="en-GB" sz="1600" b="1">
                <a:latin typeface="Poppins"/>
                <a:ea typeface="+mn-lt"/>
                <a:cs typeface="Poppins"/>
              </a:rPr>
              <a:t>If the </a:t>
            </a:r>
            <a:r>
              <a:rPr lang="en-GB" sz="1600" b="1" err="1">
                <a:latin typeface="Poppins"/>
                <a:ea typeface="+mn-lt"/>
                <a:cs typeface="Poppins"/>
              </a:rPr>
              <a:t>esim</a:t>
            </a:r>
            <a:r>
              <a:rPr lang="en-GB" sz="1600" b="1">
                <a:latin typeface="Poppins"/>
                <a:ea typeface="+mn-lt"/>
                <a:cs typeface="Poppins"/>
              </a:rPr>
              <a:t> is on another device, proceed with:</a:t>
            </a:r>
          </a:p>
          <a:p>
            <a:r>
              <a:rPr lang="en-GB" sz="1600" b="1">
                <a:latin typeface="Poppins"/>
                <a:ea typeface="+mn-lt"/>
                <a:cs typeface="Poppins"/>
              </a:rPr>
              <a:t>Transfer e-SIM / e-SIM not working. </a:t>
            </a:r>
          </a:p>
          <a:p>
            <a:r>
              <a:rPr lang="en-GB" sz="1600">
                <a:latin typeface="Poppins"/>
                <a:ea typeface="+mn-lt"/>
                <a:cs typeface="Poppins"/>
              </a:rPr>
              <a:t>Otherwise, proceed with troubleshooting.</a:t>
            </a:r>
            <a:endParaRPr lang="en-GB" sz="1600">
              <a:latin typeface="Poppins"/>
              <a:cs typeface="Poppins"/>
            </a:endParaRPr>
          </a:p>
          <a:p>
            <a:endParaRPr lang="en-GB" sz="1600" b="1">
              <a:latin typeface="Poppins"/>
              <a:cs typeface="Poppins"/>
            </a:endParaRPr>
          </a:p>
        </p:txBody>
      </p:sp>
      <p:sp>
        <p:nvSpPr>
          <p:cNvPr id="5" name="Shape 2">
            <a:extLst>
              <a:ext uri="{FF2B5EF4-FFF2-40B4-BE49-F238E27FC236}">
                <a16:creationId xmlns:a16="http://schemas.microsoft.com/office/drawing/2014/main" id="{BF7999DA-0F0F-32E4-6B03-F2E1DA756486}"/>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cs typeface="Poppins"/>
              </a:rPr>
              <a:t>Network</a:t>
            </a:r>
          </a:p>
          <a:p>
            <a:r>
              <a:rPr lang="en-GB" sz="2000" b="1">
                <a:latin typeface="Poppins"/>
                <a:cs typeface="Poppins"/>
              </a:rPr>
              <a:t>Activation</a:t>
            </a:r>
            <a:endParaRPr lang="en-GB"/>
          </a:p>
        </p:txBody>
      </p:sp>
    </p:spTree>
    <p:extLst>
      <p:ext uri="{BB962C8B-B14F-4D97-AF65-F5344CB8AC3E}">
        <p14:creationId xmlns:p14="http://schemas.microsoft.com/office/powerpoint/2010/main" val="16217850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2">
            <a:extLst>
              <a:ext uri="{FF2B5EF4-FFF2-40B4-BE49-F238E27FC236}">
                <a16:creationId xmlns:a16="http://schemas.microsoft.com/office/drawing/2014/main" id="{87A7A27B-9CDF-B1E5-5E0D-3D1D63393B35}"/>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cs typeface="Poppins"/>
              </a:rPr>
              <a:t>Network</a:t>
            </a:r>
          </a:p>
          <a:p>
            <a:r>
              <a:rPr lang="en-GB" sz="2000" b="1">
                <a:latin typeface="Poppins"/>
                <a:ea typeface="+mn-lt"/>
                <a:cs typeface="Poppins"/>
              </a:rPr>
              <a:t>APN Settings</a:t>
            </a:r>
            <a:endParaRPr lang="en-GB" sz="2000" b="1">
              <a:latin typeface="Poppins"/>
              <a:cs typeface="Poppins"/>
            </a:endParaRPr>
          </a:p>
        </p:txBody>
      </p:sp>
      <p:graphicFrame>
        <p:nvGraphicFramePr>
          <p:cNvPr id="7" name="Table 6">
            <a:extLst>
              <a:ext uri="{FF2B5EF4-FFF2-40B4-BE49-F238E27FC236}">
                <a16:creationId xmlns:a16="http://schemas.microsoft.com/office/drawing/2014/main" id="{6CE7177E-A036-1E8B-981E-F7CC743E3E41}"/>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B1496729-A315-14BF-F5CA-B7E3D52E01A9}"/>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3E14BA02-D1C4-742A-A143-574E0A6B8CAF}"/>
              </a:ext>
            </a:extLst>
          </p:cNvPr>
          <p:cNvGraphicFramePr>
            <a:graphicFrameLocks noGrp="1"/>
          </p:cNvGraphicFramePr>
          <p:nvPr>
            <p:extLst>
              <p:ext uri="{D42A27DB-BD31-4B8C-83A1-F6EECF244321}">
                <p14:modId xmlns:p14="http://schemas.microsoft.com/office/powerpoint/2010/main" val="1745127500"/>
              </p:ext>
            </p:extLst>
          </p:nvPr>
        </p:nvGraphicFramePr>
        <p:xfrm>
          <a:off x="1049547" y="806496"/>
          <a:ext cx="6913143" cy="5294900"/>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2282394">
                <a:tc>
                  <a:txBody>
                    <a:bodyPr/>
                    <a:lstStyle/>
                    <a:p>
                      <a:pPr lvl="0">
                        <a:buNone/>
                      </a:pPr>
                      <a:r>
                        <a:rPr lang="en-US" sz="1600" b="1" i="0" u="none" strike="noStrike" noProof="0">
                          <a:solidFill>
                            <a:srgbClr val="000000"/>
                          </a:solidFill>
                          <a:effectLst/>
                          <a:latin typeface="Poppins"/>
                          <a:cs typeface="Poppins"/>
                        </a:rPr>
                        <a:t>Things we check </a:t>
                      </a:r>
                      <a:endParaRPr lang="en-US" sz="1600" b="0" i="0" u="none" strike="noStrike" noProof="0">
                        <a:solidFill>
                          <a:srgbClr val="000000"/>
                        </a:solidFill>
                        <a:effectLst/>
                        <a:latin typeface="Poppins"/>
                        <a:cs typeface="Poppins"/>
                      </a:endParaRPr>
                    </a:p>
                    <a:p>
                      <a:pPr lvl="0">
                        <a:buNone/>
                      </a:pPr>
                      <a:r>
                        <a:rPr lang="en-US" sz="1000" b="0" i="1" u="none" strike="noStrike" noProof="0">
                          <a:solidFill>
                            <a:srgbClr val="000000"/>
                          </a:solidFill>
                          <a:effectLst/>
                          <a:latin typeface="Poppins"/>
                          <a:cs typeface="Poppins"/>
                        </a:rPr>
                        <a:t>ask the customer, check in the station, etc.</a:t>
                      </a:r>
                    </a:p>
                    <a:p>
                      <a:pPr lvl="0">
                        <a:buNone/>
                      </a:pPr>
                      <a:endParaRPr lang="en-US" sz="1600" b="0" i="1" u="none" strike="noStrike" noProof="0">
                        <a:solidFill>
                          <a:srgbClr val="000000"/>
                        </a:solidFill>
                        <a:effectLst/>
                        <a:latin typeface="Poppins"/>
                        <a:cs typeface="Poppins"/>
                      </a:endParaRPr>
                    </a:p>
                    <a:p>
                      <a:pPr lvl="0">
                        <a:buNone/>
                      </a:pPr>
                      <a:r>
                        <a:rPr lang="en-US" sz="1600" b="0" i="0" u="none" strike="noStrike" noProof="0">
                          <a:effectLst/>
                          <a:latin typeface="Poppins"/>
                          <a:cs typeface="Poppins"/>
                        </a:rPr>
                        <a:t>The loop uses an e-SIM (no physical SIM), and activation of the e-SIM happens automatically during the device setup via the </a:t>
                      </a:r>
                      <a:r>
                        <a:rPr lang="en-US" sz="1600" b="0" i="0" u="none" strike="noStrike" noProof="0" err="1">
                          <a:effectLst/>
                          <a:latin typeface="Poppins"/>
                          <a:cs typeface="Poppins"/>
                        </a:rPr>
                        <a:t>LoopDL</a:t>
                      </a:r>
                      <a:r>
                        <a:rPr lang="en-US" sz="1600" b="0" i="0" u="none" strike="noStrike" noProof="0">
                          <a:effectLst/>
                          <a:latin typeface="Poppins"/>
                          <a:cs typeface="Poppins"/>
                        </a:rPr>
                        <a:t> app.</a:t>
                      </a:r>
                      <a:endParaRPr lang="en-US" sz="1600">
                        <a:latin typeface="Poppins"/>
                        <a:cs typeface="Poppins"/>
                      </a:endParaRPr>
                    </a:p>
                    <a:p>
                      <a:pPr marL="0" lvl="0" indent="0" algn="l">
                        <a:lnSpc>
                          <a:spcPct val="100000"/>
                        </a:lnSpc>
                        <a:spcBef>
                          <a:spcPts val="0"/>
                        </a:spcBef>
                        <a:spcAft>
                          <a:spcPts val="0"/>
                        </a:spcAft>
                        <a:buNone/>
                      </a:pPr>
                      <a:endParaRPr lang="en-US" sz="1600">
                        <a:effectLst/>
                        <a:latin typeface="Poppins"/>
                        <a:cs typeface="Poppins"/>
                      </a:endParaRPr>
                    </a:p>
                    <a:p>
                      <a:pPr marL="0" lvl="0" indent="0" algn="l">
                        <a:lnSpc>
                          <a:spcPct val="100000"/>
                        </a:lnSpc>
                        <a:spcBef>
                          <a:spcPts val="0"/>
                        </a:spcBef>
                        <a:spcAft>
                          <a:spcPts val="0"/>
                        </a:spcAft>
                        <a:buNone/>
                      </a:pPr>
                      <a:r>
                        <a:rPr lang="en-US" sz="1600" b="1">
                          <a:effectLst/>
                          <a:latin typeface="Poppins"/>
                          <a:cs typeface="Poppins"/>
                        </a:rPr>
                        <a:t>Loop</a:t>
                      </a:r>
                    </a:p>
                    <a:p>
                      <a:pPr marL="0" lvl="0" indent="0" algn="l">
                        <a:lnSpc>
                          <a:spcPct val="100000"/>
                        </a:lnSpc>
                        <a:spcBef>
                          <a:spcPts val="0"/>
                        </a:spcBef>
                        <a:spcAft>
                          <a:spcPts val="0"/>
                        </a:spcAft>
                        <a:buNone/>
                      </a:pPr>
                      <a:r>
                        <a:rPr lang="en-US" sz="1600" b="0" i="0" u="none" strike="noStrike" noProof="0">
                          <a:effectLst/>
                          <a:latin typeface="Poppins"/>
                          <a:cs typeface="Poppins"/>
                        </a:rPr>
                        <a:t>No manual APN setting needed</a:t>
                      </a:r>
                      <a:endParaRPr lang="en-US" sz="1600">
                        <a:latin typeface="Poppins"/>
                        <a:cs typeface="Poppins"/>
                      </a:endParaRPr>
                    </a:p>
                    <a:p>
                      <a:pPr marL="0" lvl="0" indent="0" algn="l">
                        <a:lnSpc>
                          <a:spcPct val="100000"/>
                        </a:lnSpc>
                        <a:spcBef>
                          <a:spcPts val="0"/>
                        </a:spcBef>
                        <a:spcAft>
                          <a:spcPts val="0"/>
                        </a:spcAft>
                        <a:buNone/>
                      </a:pPr>
                      <a:endParaRPr lang="en-US" sz="1600" b="0" i="0" u="none" strike="noStrike" noProof="0">
                        <a:effectLst/>
                        <a:latin typeface="Poppins"/>
                        <a:cs typeface="Poppins"/>
                      </a:endParaRPr>
                    </a:p>
                    <a:p>
                      <a:pPr marL="0" lvl="0" indent="0" algn="l">
                        <a:lnSpc>
                          <a:spcPct val="100000"/>
                        </a:lnSpc>
                        <a:spcBef>
                          <a:spcPts val="0"/>
                        </a:spcBef>
                        <a:spcAft>
                          <a:spcPts val="0"/>
                        </a:spcAft>
                        <a:buNone/>
                      </a:pPr>
                      <a:r>
                        <a:rPr lang="en-US" sz="1600" b="1" i="0" u="none" strike="noStrike" noProof="0">
                          <a:effectLst/>
                          <a:latin typeface="Poppins"/>
                          <a:cs typeface="Poppins"/>
                        </a:rPr>
                        <a:t>e-SIM</a:t>
                      </a:r>
                    </a:p>
                    <a:p>
                      <a:pPr marL="0" lvl="0" indent="0">
                        <a:buNone/>
                      </a:pPr>
                      <a:r>
                        <a:rPr lang="en-US" sz="1600" b="0" i="0" u="none" strike="noStrike" noProof="0">
                          <a:effectLst/>
                          <a:latin typeface="Poppins"/>
                          <a:cs typeface="Poppins"/>
                        </a:rPr>
                        <a:t>the e-SIM profile and network settings are provisioned automatically as part of the activation process in the </a:t>
                      </a:r>
                      <a:r>
                        <a:rPr lang="en-US" sz="1600" b="0" i="0" u="none" strike="noStrike" noProof="0" err="1">
                          <a:effectLst/>
                          <a:latin typeface="Poppins"/>
                          <a:cs typeface="Poppins"/>
                        </a:rPr>
                        <a:t>LoopDL</a:t>
                      </a:r>
                      <a:r>
                        <a:rPr lang="en-US" sz="1600" b="0" i="0" u="none" strike="noStrike" noProof="0">
                          <a:effectLst/>
                          <a:latin typeface="Poppins"/>
                          <a:cs typeface="Poppins"/>
                        </a:rPr>
                        <a:t> app</a:t>
                      </a:r>
                      <a:endParaRPr lang="en-US" sz="1600">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r h="2124980">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spTree>
    <p:extLst>
      <p:ext uri="{BB962C8B-B14F-4D97-AF65-F5344CB8AC3E}">
        <p14:creationId xmlns:p14="http://schemas.microsoft.com/office/powerpoint/2010/main" val="35808606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2">
            <a:extLst>
              <a:ext uri="{FF2B5EF4-FFF2-40B4-BE49-F238E27FC236}">
                <a16:creationId xmlns:a16="http://schemas.microsoft.com/office/drawing/2014/main" id="{87A7A27B-9CDF-B1E5-5E0D-3D1D63393B35}"/>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cs typeface="Poppins"/>
              </a:rPr>
              <a:t>Network</a:t>
            </a:r>
          </a:p>
          <a:p>
            <a:r>
              <a:rPr lang="en-GB" sz="2000" b="1">
                <a:latin typeface="Poppins"/>
                <a:ea typeface="+mn-lt"/>
                <a:cs typeface="Poppins"/>
              </a:rPr>
              <a:t>Sim Swap</a:t>
            </a:r>
            <a:endParaRPr lang="en-GB" sz="2000">
              <a:latin typeface="Poppins"/>
              <a:cs typeface="Poppins"/>
            </a:endParaRPr>
          </a:p>
        </p:txBody>
      </p:sp>
      <p:graphicFrame>
        <p:nvGraphicFramePr>
          <p:cNvPr id="7" name="Table 6">
            <a:extLst>
              <a:ext uri="{FF2B5EF4-FFF2-40B4-BE49-F238E27FC236}">
                <a16:creationId xmlns:a16="http://schemas.microsoft.com/office/drawing/2014/main" id="{6CE7177E-A036-1E8B-981E-F7CC743E3E41}"/>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B1496729-A315-14BF-F5CA-B7E3D52E01A9}"/>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3E14BA02-D1C4-742A-A143-574E0A6B8CAF}"/>
              </a:ext>
            </a:extLst>
          </p:cNvPr>
          <p:cNvGraphicFramePr>
            <a:graphicFrameLocks noGrp="1"/>
          </p:cNvGraphicFramePr>
          <p:nvPr>
            <p:extLst>
              <p:ext uri="{D42A27DB-BD31-4B8C-83A1-F6EECF244321}">
                <p14:modId xmlns:p14="http://schemas.microsoft.com/office/powerpoint/2010/main" val="3617117064"/>
              </p:ext>
            </p:extLst>
          </p:nvPr>
        </p:nvGraphicFramePr>
        <p:xfrm>
          <a:off x="856636" y="169889"/>
          <a:ext cx="6913143" cy="13326209"/>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6663105">
                <a:tc>
                  <a:txBody>
                    <a:bodyPr/>
                    <a:lstStyle/>
                    <a:p>
                      <a:pPr lvl="0">
                        <a:buNone/>
                      </a:pPr>
                      <a:r>
                        <a:rPr lang="en-US" sz="1600" b="1" i="0" u="none" strike="noStrike" noProof="0">
                          <a:solidFill>
                            <a:srgbClr val="000000"/>
                          </a:solidFill>
                          <a:effectLst/>
                          <a:latin typeface="Poppins"/>
                          <a:cs typeface="Poppins"/>
                        </a:rPr>
                        <a:t>Things we check </a:t>
                      </a:r>
                      <a:endParaRPr lang="en-US" sz="1600" b="0" i="0" u="none" strike="noStrike" noProof="0">
                        <a:solidFill>
                          <a:srgbClr val="000000"/>
                        </a:solidFill>
                        <a:effectLst/>
                        <a:latin typeface="Poppins"/>
                        <a:cs typeface="Poppins"/>
                      </a:endParaRPr>
                    </a:p>
                    <a:p>
                      <a:pPr lvl="0">
                        <a:buNone/>
                      </a:pPr>
                      <a:r>
                        <a:rPr lang="en-US" sz="1000" b="0" i="1" u="none" strike="noStrike" noProof="0">
                          <a:solidFill>
                            <a:srgbClr val="000000"/>
                          </a:solidFill>
                          <a:effectLst/>
                          <a:latin typeface="Poppins"/>
                          <a:cs typeface="Poppins"/>
                        </a:rPr>
                        <a:t>ask the customer, check in the station, etc.</a:t>
                      </a:r>
                    </a:p>
                    <a:p>
                      <a:pPr lvl="0">
                        <a:buNone/>
                      </a:pPr>
                      <a:r>
                        <a:rPr lang="en-US" sz="1600" b="0" i="0" u="none" strike="noStrike" noProof="0">
                          <a:effectLst/>
                          <a:latin typeface="Poppins"/>
                          <a:cs typeface="Poppins"/>
                        </a:rPr>
                        <a:t>Verify reason for Loop Sim Swap, make sure to exhaust all troubleshooting steps. </a:t>
                      </a:r>
                    </a:p>
                    <a:p>
                      <a:pPr lvl="0">
                        <a:buNone/>
                      </a:pPr>
                      <a:endParaRPr lang="en-US" sz="1600" b="0" i="0" u="none" strike="noStrike" noProof="0">
                        <a:effectLst/>
                        <a:latin typeface="Poppins"/>
                        <a:cs typeface="Poppins"/>
                      </a:endParaRPr>
                    </a:p>
                    <a:p>
                      <a:pPr lvl="0" algn="l">
                        <a:lnSpc>
                          <a:spcPct val="100000"/>
                        </a:lnSpc>
                        <a:spcBef>
                          <a:spcPts val="0"/>
                        </a:spcBef>
                        <a:spcAft>
                          <a:spcPts val="0"/>
                        </a:spcAft>
                        <a:buNone/>
                      </a:pPr>
                      <a:r>
                        <a:rPr lang="en-US" sz="1600" b="1" i="0" u="none" strike="noStrike" noProof="0">
                          <a:effectLst/>
                          <a:latin typeface="Poppins"/>
                          <a:cs typeface="Poppins"/>
                        </a:rPr>
                        <a:t>Loop</a:t>
                      </a:r>
                      <a:br>
                        <a:rPr lang="en-US" sz="1600" b="1" i="0" u="none" strike="noStrike" noProof="0">
                          <a:effectLst/>
                          <a:latin typeface="Poppins"/>
                          <a:cs typeface="Poppins"/>
                        </a:rPr>
                      </a:br>
                      <a:r>
                        <a:rPr lang="en-US" sz="1600" b="0" i="0" u="none" strike="noStrike" noProof="0">
                          <a:effectLst/>
                          <a:latin typeface="Poppins"/>
                          <a:cs typeface="Poppins"/>
                        </a:rPr>
                        <a:t>Verify the device ID to process Sim Swap, do not take action without speaking to the customer. </a:t>
                      </a:r>
                    </a:p>
                    <a:p>
                      <a:pPr lvl="0" algn="l">
                        <a:lnSpc>
                          <a:spcPct val="100000"/>
                        </a:lnSpc>
                        <a:spcBef>
                          <a:spcPts val="0"/>
                        </a:spcBef>
                        <a:spcAft>
                          <a:spcPts val="0"/>
                        </a:spcAft>
                        <a:buNone/>
                      </a:pPr>
                      <a:endParaRPr lang="en-US" sz="1600" b="0" i="0" u="none" strike="noStrike" noProof="0">
                        <a:effectLst/>
                        <a:latin typeface="Poppins"/>
                        <a:cs typeface="Poppins"/>
                      </a:endParaRPr>
                    </a:p>
                    <a:p>
                      <a:pPr lvl="0" algn="l">
                        <a:lnSpc>
                          <a:spcPct val="100000"/>
                        </a:lnSpc>
                        <a:spcBef>
                          <a:spcPts val="0"/>
                        </a:spcBef>
                        <a:spcAft>
                          <a:spcPts val="0"/>
                        </a:spcAft>
                        <a:buNone/>
                      </a:pPr>
                      <a:r>
                        <a:rPr lang="en-US" sz="1600" b="1" i="0" u="none" strike="noStrike" noProof="0">
                          <a:effectLst/>
                          <a:latin typeface="Poppins"/>
                          <a:cs typeface="Poppins"/>
                        </a:rPr>
                        <a:t>e-SIM</a:t>
                      </a:r>
                    </a:p>
                    <a:p>
                      <a:pPr lvl="0" algn="l">
                        <a:lnSpc>
                          <a:spcPct val="100000"/>
                        </a:lnSpc>
                        <a:spcBef>
                          <a:spcPts val="0"/>
                        </a:spcBef>
                        <a:spcAft>
                          <a:spcPts val="0"/>
                        </a:spcAft>
                        <a:buNone/>
                      </a:pPr>
                      <a:r>
                        <a:rPr lang="en-US" sz="1600" b="0" i="0" u="none" strike="noStrike" noProof="0">
                          <a:effectLst/>
                          <a:latin typeface="Poppins"/>
                          <a:cs typeface="Poppins"/>
                        </a:rPr>
                        <a:t>1. Identify the customer's </a:t>
                      </a:r>
                      <a:r>
                        <a:rPr lang="en-US" sz="1600" b="0" i="0" u="none" strike="noStrike" noProof="0" err="1">
                          <a:effectLst/>
                          <a:latin typeface="Poppins"/>
                          <a:cs typeface="Poppins"/>
                        </a:rPr>
                        <a:t>device_id</a:t>
                      </a:r>
                      <a:endParaRPr lang="en-US" sz="1600">
                        <a:latin typeface="Poppins"/>
                        <a:cs typeface="Poppins"/>
                      </a:endParaRPr>
                    </a:p>
                    <a:p>
                      <a:pPr lvl="0" algn="l">
                        <a:lnSpc>
                          <a:spcPct val="100000"/>
                        </a:lnSpc>
                        <a:spcBef>
                          <a:spcPts val="0"/>
                        </a:spcBef>
                        <a:spcAft>
                          <a:spcPts val="0"/>
                        </a:spcAft>
                        <a:buNone/>
                      </a:pPr>
                      <a:r>
                        <a:rPr lang="en-US" sz="1600" b="0" i="0" u="none" strike="noStrike" noProof="0">
                          <a:effectLst/>
                          <a:latin typeface="Poppins"/>
                          <a:cs typeface="Poppins"/>
                        </a:rPr>
                        <a:t>2. Use the </a:t>
                      </a:r>
                      <a:r>
                        <a:rPr lang="en-US" sz="1600" b="0" i="0" u="none" strike="noStrike" noProof="0" err="1">
                          <a:effectLst/>
                          <a:latin typeface="Poppins"/>
                          <a:cs typeface="Poppins"/>
                        </a:rPr>
                        <a:t>eSIM</a:t>
                      </a:r>
                      <a:r>
                        <a:rPr lang="en-US" sz="1600" b="0" i="0" u="none" strike="noStrike" noProof="0">
                          <a:effectLst/>
                          <a:latin typeface="Poppins"/>
                          <a:cs typeface="Poppins"/>
                        </a:rPr>
                        <a:t> installation status tool to check the current </a:t>
                      </a:r>
                      <a:r>
                        <a:rPr lang="en-US" sz="1600" b="0" i="0" u="none" strike="noStrike" noProof="0" err="1">
                          <a:effectLst/>
                          <a:latin typeface="Poppins"/>
                          <a:cs typeface="Poppins"/>
                        </a:rPr>
                        <a:t>eSIM</a:t>
                      </a:r>
                      <a:r>
                        <a:rPr lang="en-US" sz="1600" b="0" i="0" u="none" strike="noStrike" noProof="0">
                          <a:effectLst/>
                          <a:latin typeface="Poppins"/>
                          <a:cs typeface="Poppins"/>
                        </a:rPr>
                        <a:t> state on the device.</a:t>
                      </a:r>
                      <a:endParaRPr lang="en-US" sz="1600">
                        <a:latin typeface="Poppins"/>
                        <a:cs typeface="Poppins"/>
                      </a:endParaRPr>
                    </a:p>
                    <a:p>
                      <a:pPr lvl="0" algn="l">
                        <a:lnSpc>
                          <a:spcPct val="100000"/>
                        </a:lnSpc>
                        <a:spcBef>
                          <a:spcPts val="0"/>
                        </a:spcBef>
                        <a:spcAft>
                          <a:spcPts val="0"/>
                        </a:spcAft>
                        <a:buNone/>
                      </a:pPr>
                      <a:r>
                        <a:rPr lang="en-US" sz="1600" b="0" i="0" u="none" strike="noStrike" noProof="0">
                          <a:effectLst/>
                          <a:latin typeface="Poppins"/>
                          <a:cs typeface="Poppins"/>
                        </a:rPr>
                        <a:t>3. If needed, initiate a new </a:t>
                      </a:r>
                      <a:r>
                        <a:rPr lang="en-US" sz="1600" b="0" i="0" u="none" strike="noStrike" noProof="0" err="1">
                          <a:effectLst/>
                          <a:latin typeface="Poppins"/>
                          <a:cs typeface="Poppins"/>
                        </a:rPr>
                        <a:t>eSIM</a:t>
                      </a:r>
                      <a:r>
                        <a:rPr lang="en-US" sz="1600" b="0" i="0" u="none" strike="noStrike" noProof="0">
                          <a:effectLst/>
                          <a:latin typeface="Poppins"/>
                          <a:cs typeface="Poppins"/>
                        </a:rPr>
                        <a:t> profile installation or swap via the backend system for that </a:t>
                      </a:r>
                      <a:r>
                        <a:rPr lang="en-US" sz="1600" b="0" i="0" u="none" strike="noStrike" noProof="0" err="1">
                          <a:effectLst/>
                          <a:latin typeface="Poppins"/>
                          <a:cs typeface="Poppins"/>
                        </a:rPr>
                        <a:t>device_id.Inform</a:t>
                      </a:r>
                      <a:r>
                        <a:rPr lang="en-US" sz="1600" b="0" i="0" u="none" strike="noStrike" noProof="0">
                          <a:effectLst/>
                          <a:latin typeface="Poppins"/>
                          <a:cs typeface="Poppins"/>
                        </a:rPr>
                        <a:t> the customer that the number may change due to the SIM swap</a:t>
                      </a:r>
                      <a:endParaRPr lang="en-US" sz="1600">
                        <a:latin typeface="Poppins"/>
                        <a:cs typeface="Poppins"/>
                      </a:endParaRPr>
                    </a:p>
                    <a:p>
                      <a:pPr lvl="0" algn="l">
                        <a:lnSpc>
                          <a:spcPct val="100000"/>
                        </a:lnSpc>
                        <a:spcBef>
                          <a:spcPts val="0"/>
                        </a:spcBef>
                        <a:spcAft>
                          <a:spcPts val="0"/>
                        </a:spcAft>
                        <a:buNone/>
                      </a:pPr>
                      <a:r>
                        <a:rPr lang="en-US" sz="1600" b="0" i="0" u="none" strike="noStrike" noProof="0">
                          <a:effectLst/>
                          <a:latin typeface="Poppins"/>
                          <a:cs typeface="Poppins"/>
                        </a:rPr>
                        <a:t>4. Confirm activation and connectivity of the new </a:t>
                      </a:r>
                      <a:r>
                        <a:rPr lang="en-US" sz="1600" b="0" i="0" u="none" strike="noStrike" noProof="0" err="1">
                          <a:effectLst/>
                          <a:latin typeface="Poppins"/>
                          <a:cs typeface="Poppins"/>
                        </a:rPr>
                        <a:t>eSIM</a:t>
                      </a:r>
                      <a:r>
                        <a:rPr lang="en-US" sz="1600" b="0" i="0" u="none" strike="noStrike" noProof="0">
                          <a:effectLst/>
                          <a:latin typeface="Poppins"/>
                          <a:cs typeface="Poppins"/>
                        </a:rPr>
                        <a:t> after the swap.</a:t>
                      </a:r>
                      <a:endParaRPr lang="en-US" sz="1600">
                        <a:latin typeface="Poppins"/>
                        <a:cs typeface="Poppins"/>
                      </a:endParaRPr>
                    </a:p>
                    <a:p>
                      <a:pPr lvl="0" algn="l">
                        <a:lnSpc>
                          <a:spcPct val="100000"/>
                        </a:lnSpc>
                        <a:spcBef>
                          <a:spcPts val="0"/>
                        </a:spcBef>
                        <a:spcAft>
                          <a:spcPts val="0"/>
                        </a:spcAft>
                        <a:buNone/>
                      </a:pPr>
                      <a:r>
                        <a:rPr lang="en-US" sz="1600" b="0" i="0" u="none" strike="noStrike" noProof="0">
                          <a:effectLst/>
                          <a:latin typeface="Poppins"/>
                          <a:cs typeface="Poppins"/>
                        </a:rPr>
                        <a:t>5. Inform the customer that the swap will be transparent and they may need to restart the device. </a:t>
                      </a:r>
                    </a:p>
                    <a:p>
                      <a:pPr lvl="0" algn="l">
                        <a:lnSpc>
                          <a:spcPct val="100000"/>
                        </a:lnSpc>
                        <a:spcBef>
                          <a:spcPts val="0"/>
                        </a:spcBef>
                        <a:spcAft>
                          <a:spcPts val="0"/>
                        </a:spcAft>
                        <a:buNone/>
                      </a:pPr>
                      <a:endParaRPr lang="en-US" sz="1600" b="0" i="0" u="none" strike="noStrike" noProof="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r h="6663104">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sp>
        <p:nvSpPr>
          <p:cNvPr id="3" name="Shape 6">
            <a:extLst>
              <a:ext uri="{FF2B5EF4-FFF2-40B4-BE49-F238E27FC236}">
                <a16:creationId xmlns:a16="http://schemas.microsoft.com/office/drawing/2014/main" id="{FEC143D4-4D4F-EB87-4CED-4B34E7491303}"/>
              </a:ext>
            </a:extLst>
          </p:cNvPr>
          <p:cNvSpPr/>
          <p:nvPr/>
        </p:nvSpPr>
        <p:spPr>
          <a:xfrm>
            <a:off x="855397" y="5188283"/>
            <a:ext cx="7060721" cy="1189698"/>
          </a:xfrm>
          <a:prstGeom prst="roundRect">
            <a:avLst>
              <a:gd name="adj" fmla="val 6522"/>
            </a:avLst>
          </a:prstGeom>
          <a:solidFill>
            <a:srgbClr val="EAD6CA"/>
          </a:solidFill>
          <a:ln w="12700">
            <a:solidFill>
              <a:srgbClr val="EAD6CA">
                <a:alpha val="0"/>
              </a:srgbClr>
            </a:solidFill>
            <a:prstDash val="solid"/>
          </a:ln>
        </p:spPr>
        <p:txBody>
          <a:bodyPr lIns="91440" tIns="45720" rIns="91440" bIns="45720" anchor="t"/>
          <a:lstStyle/>
          <a:p>
            <a:pPr marL="285750" indent="-285750">
              <a:buFont typeface="Arial"/>
              <a:buChar char="•"/>
            </a:pPr>
            <a:r>
              <a:rPr lang="en-GB" sz="1600">
                <a:latin typeface="Poppins"/>
                <a:ea typeface="+mn-lt"/>
                <a:cs typeface="Poppins"/>
              </a:rPr>
              <a:t>Before processing sim swap, gain</a:t>
            </a:r>
            <a:r>
              <a:rPr lang="en-GB" sz="1600" b="1">
                <a:latin typeface="Poppins"/>
                <a:ea typeface="+mn-lt"/>
                <a:cs typeface="Poppins"/>
              </a:rPr>
              <a:t> approval from support</a:t>
            </a:r>
            <a:r>
              <a:rPr lang="en-GB" sz="1600">
                <a:latin typeface="Poppins"/>
                <a:ea typeface="+mn-lt"/>
                <a:cs typeface="Poppins"/>
              </a:rPr>
              <a:t>, as this is a last resort for activation and similar issues. </a:t>
            </a:r>
          </a:p>
          <a:p>
            <a:pPr marL="285750" indent="-285750">
              <a:buFont typeface="Arial"/>
              <a:buChar char="•"/>
            </a:pPr>
            <a:r>
              <a:rPr lang="en-GB" sz="1600">
                <a:latin typeface="Poppins"/>
                <a:ea typeface="+mn-lt"/>
                <a:cs typeface="Poppins"/>
              </a:rPr>
              <a:t>Verify if there is a ported number. If there is, do not continue with the sim swap since the ported number will be lost.</a:t>
            </a:r>
          </a:p>
        </p:txBody>
      </p:sp>
    </p:spTree>
    <p:extLst>
      <p:ext uri="{BB962C8B-B14F-4D97-AF65-F5344CB8AC3E}">
        <p14:creationId xmlns:p14="http://schemas.microsoft.com/office/powerpoint/2010/main" val="4136248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50239-71AC-D9A8-8F74-C788032C714F}"/>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3D46C432-24CC-EF92-43E2-623D17189A16}"/>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cs typeface="Poppins"/>
              </a:rPr>
              <a:t>Network</a:t>
            </a:r>
          </a:p>
          <a:p>
            <a:r>
              <a:rPr lang="en-GB" sz="2000" b="1">
                <a:latin typeface="Poppins"/>
                <a:ea typeface="+mn-lt"/>
                <a:cs typeface="Poppins"/>
              </a:rPr>
              <a:t>SMS and Voice Query</a:t>
            </a:r>
            <a:endParaRPr lang="en-GB" sz="2000" b="1">
              <a:latin typeface="Poppins"/>
              <a:cs typeface="Poppins"/>
            </a:endParaRPr>
          </a:p>
        </p:txBody>
      </p:sp>
      <p:graphicFrame>
        <p:nvGraphicFramePr>
          <p:cNvPr id="7" name="Table 6">
            <a:extLst>
              <a:ext uri="{FF2B5EF4-FFF2-40B4-BE49-F238E27FC236}">
                <a16:creationId xmlns:a16="http://schemas.microsoft.com/office/drawing/2014/main" id="{2EB3807B-ECFA-7B28-62AE-263FD699CA8D}"/>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64C88EFE-D942-B6A0-2029-B456F2F0D94E}"/>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706101BA-81A2-63AC-902D-E0E20C404DBE}"/>
              </a:ext>
            </a:extLst>
          </p:cNvPr>
          <p:cNvGraphicFramePr>
            <a:graphicFrameLocks noGrp="1"/>
          </p:cNvGraphicFramePr>
          <p:nvPr>
            <p:extLst>
              <p:ext uri="{D42A27DB-BD31-4B8C-83A1-F6EECF244321}">
                <p14:modId xmlns:p14="http://schemas.microsoft.com/office/powerpoint/2010/main" val="622764734"/>
              </p:ext>
            </p:extLst>
          </p:nvPr>
        </p:nvGraphicFramePr>
        <p:xfrm>
          <a:off x="1049547" y="1539560"/>
          <a:ext cx="6913143" cy="3809538"/>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1415527">
                <a:tc>
                  <a:txBody>
                    <a:bodyPr/>
                    <a:lstStyle/>
                    <a:p>
                      <a:pPr lvl="0">
                        <a:buNone/>
                      </a:pPr>
                      <a:r>
                        <a:rPr lang="en-US" sz="1600" b="1" i="0" u="none" strike="noStrike" noProof="0">
                          <a:solidFill>
                            <a:srgbClr val="000000"/>
                          </a:solidFill>
                          <a:effectLst/>
                          <a:latin typeface="Poppins"/>
                          <a:cs typeface="Poppins"/>
                        </a:rPr>
                        <a:t>Things we check </a:t>
                      </a:r>
                      <a:endParaRPr lang="en-US" sz="1600" b="0" i="0" u="none" strike="noStrike" noProof="0">
                        <a:solidFill>
                          <a:srgbClr val="000000"/>
                        </a:solidFill>
                        <a:effectLst/>
                        <a:latin typeface="Poppins"/>
                        <a:cs typeface="Poppins"/>
                      </a:endParaRPr>
                    </a:p>
                    <a:p>
                      <a:pPr lvl="0">
                        <a:buNone/>
                      </a:pPr>
                      <a:r>
                        <a:rPr lang="en-US" sz="1000" b="0" i="1" u="none" strike="noStrike" noProof="0">
                          <a:solidFill>
                            <a:srgbClr val="000000"/>
                          </a:solidFill>
                          <a:effectLst/>
                          <a:latin typeface="Poppins"/>
                          <a:cs typeface="Poppins"/>
                        </a:rPr>
                        <a:t>ask the customer, check in the station, etc.</a:t>
                      </a:r>
                    </a:p>
                    <a:p>
                      <a:pPr marL="0" lvl="0" indent="0" algn="l">
                        <a:lnSpc>
                          <a:spcPct val="100000"/>
                        </a:lnSpc>
                        <a:spcBef>
                          <a:spcPts val="0"/>
                        </a:spcBef>
                        <a:spcAft>
                          <a:spcPts val="0"/>
                        </a:spcAft>
                        <a:buNone/>
                      </a:pPr>
                      <a:r>
                        <a:rPr lang="en-US" sz="1600" b="0" i="0" u="none" strike="noStrike" noProof="0">
                          <a:effectLst/>
                          <a:latin typeface="Poppins"/>
                          <a:cs typeface="Poppins"/>
                        </a:rPr>
                        <a:t>Check if e-SIM is activated</a:t>
                      </a:r>
                      <a:endParaRPr lang="en-US" sz="1600">
                        <a:latin typeface="Poppins"/>
                        <a:cs typeface="Poppins"/>
                      </a:endParaRPr>
                    </a:p>
                    <a:p>
                      <a:pPr lvl="0">
                        <a:buNone/>
                      </a:pPr>
                      <a:r>
                        <a:rPr lang="en-US" sz="1600" b="0" i="0" u="none" strike="noStrike" noProof="0">
                          <a:effectLst/>
                          <a:latin typeface="Poppins"/>
                          <a:cs typeface="Poppins"/>
                        </a:rPr>
                        <a:t>Check e-SIM settings on phone</a:t>
                      </a:r>
                      <a:endParaRPr lang="en-US" sz="1600">
                        <a:latin typeface="Poppins"/>
                        <a:cs typeface="Poppins"/>
                      </a:endParaRPr>
                    </a:p>
                    <a:p>
                      <a:pPr lvl="0" algn="l">
                        <a:lnSpc>
                          <a:spcPct val="100000"/>
                        </a:lnSpc>
                        <a:spcBef>
                          <a:spcPts val="0"/>
                        </a:spcBef>
                        <a:spcAft>
                          <a:spcPts val="0"/>
                        </a:spcAft>
                        <a:buNone/>
                      </a:pPr>
                      <a:endParaRPr lang="en-US" sz="1600" b="0" i="0" u="none" strike="noStrike" noProof="0">
                        <a:effectLst/>
                        <a:latin typeface="Poppins"/>
                        <a:cs typeface="Poppins"/>
                      </a:endParaRPr>
                    </a:p>
                    <a:p>
                      <a:pPr lvl="0" algn="l">
                        <a:lnSpc>
                          <a:spcPct val="100000"/>
                        </a:lnSpc>
                        <a:spcBef>
                          <a:spcPts val="0"/>
                        </a:spcBef>
                        <a:spcAft>
                          <a:spcPts val="0"/>
                        </a:spcAft>
                        <a:buNone/>
                      </a:pPr>
                      <a:r>
                        <a:rPr lang="en-US" sz="1600" b="1" i="0" u="none" strike="noStrike" noProof="0">
                          <a:effectLst/>
                          <a:latin typeface="Poppins"/>
                          <a:cs typeface="Poppins"/>
                        </a:rPr>
                        <a:t>Troubleshooting</a:t>
                      </a:r>
                    </a:p>
                    <a:p>
                      <a:pPr lvl="0" algn="l">
                        <a:lnSpc>
                          <a:spcPct val="100000"/>
                        </a:lnSpc>
                        <a:spcBef>
                          <a:spcPts val="0"/>
                        </a:spcBef>
                        <a:spcAft>
                          <a:spcPts val="0"/>
                        </a:spcAft>
                        <a:buNone/>
                      </a:pPr>
                      <a:r>
                        <a:rPr lang="en-US" sz="1600" b="1" i="0" u="none" strike="noStrike" noProof="0">
                          <a:effectLst/>
                          <a:latin typeface="Poppins"/>
                          <a:cs typeface="Poppins"/>
                        </a:rPr>
                        <a:t>e-SIM</a:t>
                      </a:r>
                    </a:p>
                    <a:p>
                      <a:pPr marL="342900" lvl="0" indent="-342900" algn="l">
                        <a:lnSpc>
                          <a:spcPct val="100000"/>
                        </a:lnSpc>
                        <a:spcBef>
                          <a:spcPts val="0"/>
                        </a:spcBef>
                        <a:spcAft>
                          <a:spcPts val="0"/>
                        </a:spcAft>
                        <a:buAutoNum type="arabicPeriod"/>
                      </a:pPr>
                      <a:r>
                        <a:rPr lang="en-US" sz="1600" b="0" i="0" u="none" strike="noStrike" noProof="0">
                          <a:effectLst/>
                          <a:latin typeface="Poppins"/>
                          <a:cs typeface="Poppins"/>
                        </a:rPr>
                        <a:t>Check the signal </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effectLst/>
                          <a:latin typeface="Poppins"/>
                          <a:cs typeface="Poppins"/>
                        </a:rPr>
                        <a:t>Check Messaging and Call settings </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effectLst/>
                          <a:latin typeface="Poppins"/>
                          <a:cs typeface="Poppins"/>
                        </a:rPr>
                        <a:t>Restart the phone</a:t>
                      </a:r>
                      <a:endParaRPr lang="en-US" sz="1600">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r h="1371138">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spTree>
    <p:extLst>
      <p:ext uri="{BB962C8B-B14F-4D97-AF65-F5344CB8AC3E}">
        <p14:creationId xmlns:p14="http://schemas.microsoft.com/office/powerpoint/2010/main" val="4203379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D8AD2-1DD6-A454-F76B-64ADC3A6693F}"/>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38A632D3-6B91-14EE-4809-768447A53B89}"/>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cs typeface="Poppins"/>
              </a:rPr>
              <a:t>Network</a:t>
            </a:r>
          </a:p>
          <a:p>
            <a:r>
              <a:rPr lang="en-GB" sz="2000" b="1">
                <a:latin typeface="Poppins"/>
                <a:ea typeface="+mn-lt"/>
                <a:cs typeface="Poppins"/>
              </a:rPr>
              <a:t>e-SIM Provision</a:t>
            </a:r>
            <a:endParaRPr lang="en-GB" sz="2000" b="1">
              <a:latin typeface="Poppins"/>
              <a:cs typeface="Poppins"/>
            </a:endParaRPr>
          </a:p>
        </p:txBody>
      </p:sp>
      <p:graphicFrame>
        <p:nvGraphicFramePr>
          <p:cNvPr id="7" name="Table 6">
            <a:extLst>
              <a:ext uri="{FF2B5EF4-FFF2-40B4-BE49-F238E27FC236}">
                <a16:creationId xmlns:a16="http://schemas.microsoft.com/office/drawing/2014/main" id="{75A17FA4-F385-2A91-B22B-DD6106D425D2}"/>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FA40DF93-1229-4B6F-61A7-D6F5F379D6D6}"/>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03C6C28B-F274-9ADF-8E02-4C628D0FD123}"/>
              </a:ext>
            </a:extLst>
          </p:cNvPr>
          <p:cNvGraphicFramePr>
            <a:graphicFrameLocks noGrp="1"/>
          </p:cNvGraphicFramePr>
          <p:nvPr>
            <p:extLst>
              <p:ext uri="{D42A27DB-BD31-4B8C-83A1-F6EECF244321}">
                <p14:modId xmlns:p14="http://schemas.microsoft.com/office/powerpoint/2010/main" val="3705855826"/>
              </p:ext>
            </p:extLst>
          </p:nvPr>
        </p:nvGraphicFramePr>
        <p:xfrm>
          <a:off x="1049547" y="208471"/>
          <a:ext cx="6913143" cy="13326209"/>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6663105">
                <a:tc>
                  <a:txBody>
                    <a:bodyPr/>
                    <a:lstStyle/>
                    <a:p>
                      <a:pPr lvl="0">
                        <a:buNone/>
                      </a:pPr>
                      <a:r>
                        <a:rPr lang="en-US" sz="1600" b="1" i="0" u="none" strike="noStrike" noProof="0">
                          <a:solidFill>
                            <a:srgbClr val="000000"/>
                          </a:solidFill>
                          <a:effectLst/>
                          <a:latin typeface="Poppins"/>
                          <a:cs typeface="Poppins"/>
                        </a:rPr>
                        <a:t>Things we check </a:t>
                      </a:r>
                      <a:endParaRPr lang="en-US" sz="1600" b="0" i="0" u="none" strike="noStrike" noProof="0">
                        <a:solidFill>
                          <a:srgbClr val="000000"/>
                        </a:solidFill>
                        <a:effectLst/>
                        <a:latin typeface="Poppins"/>
                        <a:cs typeface="Poppins"/>
                      </a:endParaRPr>
                    </a:p>
                    <a:p>
                      <a:pPr lvl="0">
                        <a:buNone/>
                      </a:pPr>
                      <a:r>
                        <a:rPr lang="en-US" sz="1000" b="0" i="1" u="none" strike="noStrike" noProof="0">
                          <a:solidFill>
                            <a:srgbClr val="000000"/>
                          </a:solidFill>
                          <a:effectLst/>
                          <a:latin typeface="Poppins"/>
                          <a:cs typeface="Poppins"/>
                        </a:rPr>
                        <a:t>ask the customer, check in the station, etc.</a:t>
                      </a:r>
                    </a:p>
                    <a:p>
                      <a:pPr lvl="0" algn="l">
                        <a:lnSpc>
                          <a:spcPct val="100000"/>
                        </a:lnSpc>
                        <a:spcBef>
                          <a:spcPts val="0"/>
                        </a:spcBef>
                        <a:spcAft>
                          <a:spcPts val="0"/>
                        </a:spcAft>
                        <a:buNone/>
                      </a:pPr>
                      <a:r>
                        <a:rPr lang="en-US" sz="1400" b="0" i="0" u="none" strike="noStrike" noProof="0">
                          <a:effectLst/>
                          <a:latin typeface="Poppins"/>
                          <a:cs typeface="Poppins"/>
                        </a:rPr>
                        <a:t>1. Check if the order was placed under services</a:t>
                      </a:r>
                      <a:endParaRPr lang="en-US" sz="1400">
                        <a:latin typeface="Poppins"/>
                        <a:cs typeface="Poppins"/>
                      </a:endParaRPr>
                    </a:p>
                    <a:p>
                      <a:pPr lvl="0" algn="l">
                        <a:lnSpc>
                          <a:spcPct val="100000"/>
                        </a:lnSpc>
                        <a:spcBef>
                          <a:spcPts val="0"/>
                        </a:spcBef>
                        <a:spcAft>
                          <a:spcPts val="0"/>
                        </a:spcAft>
                        <a:buNone/>
                      </a:pPr>
                      <a:endParaRPr lang="en-US" sz="1400" b="0" i="0" u="none" strike="noStrike" noProof="0">
                        <a:effectLst/>
                        <a:latin typeface="Poppins"/>
                        <a:cs typeface="Poppins"/>
                      </a:endParaRPr>
                    </a:p>
                    <a:p>
                      <a:pPr lvl="0" algn="l">
                        <a:lnSpc>
                          <a:spcPct val="100000"/>
                        </a:lnSpc>
                        <a:spcBef>
                          <a:spcPts val="0"/>
                        </a:spcBef>
                        <a:spcAft>
                          <a:spcPts val="0"/>
                        </a:spcAft>
                        <a:buNone/>
                      </a:pPr>
                      <a:endParaRPr lang="en-US" sz="1600" b="0" i="0" u="none" strike="noStrike" noProof="0">
                        <a:effectLst/>
                        <a:latin typeface="Poppins"/>
                        <a:cs typeface="Poppins"/>
                      </a:endParaRPr>
                    </a:p>
                    <a:p>
                      <a:pPr lvl="0" algn="l">
                        <a:lnSpc>
                          <a:spcPct val="100000"/>
                        </a:lnSpc>
                        <a:spcBef>
                          <a:spcPts val="0"/>
                        </a:spcBef>
                        <a:spcAft>
                          <a:spcPts val="0"/>
                        </a:spcAft>
                        <a:buNone/>
                      </a:pPr>
                      <a:endParaRPr lang="en-US" sz="1600" b="0" i="0" u="none" strike="noStrike" noProof="0">
                        <a:effectLst/>
                        <a:latin typeface="Poppins"/>
                        <a:cs typeface="Poppins"/>
                      </a:endParaRPr>
                    </a:p>
                    <a:p>
                      <a:pPr lvl="0" algn="l">
                        <a:lnSpc>
                          <a:spcPct val="100000"/>
                        </a:lnSpc>
                        <a:spcBef>
                          <a:spcPts val="0"/>
                        </a:spcBef>
                        <a:spcAft>
                          <a:spcPts val="0"/>
                        </a:spcAft>
                        <a:buNone/>
                      </a:pPr>
                      <a:endParaRPr lang="en-US" sz="1600" b="0" i="0" u="none" strike="noStrike" noProof="0">
                        <a:effectLst/>
                        <a:latin typeface="Poppins"/>
                        <a:cs typeface="Poppins"/>
                      </a:endParaRPr>
                    </a:p>
                    <a:p>
                      <a:pPr lvl="0" algn="l">
                        <a:lnSpc>
                          <a:spcPct val="100000"/>
                        </a:lnSpc>
                        <a:spcBef>
                          <a:spcPts val="0"/>
                        </a:spcBef>
                        <a:spcAft>
                          <a:spcPts val="0"/>
                        </a:spcAft>
                        <a:buNone/>
                      </a:pPr>
                      <a:endParaRPr lang="en-US" sz="1600" b="0" i="0" u="none" strike="noStrike" noProof="0">
                        <a:effectLst/>
                        <a:latin typeface="Poppins"/>
                        <a:cs typeface="Poppins"/>
                      </a:endParaRPr>
                    </a:p>
                    <a:p>
                      <a:pPr lvl="0" algn="l">
                        <a:lnSpc>
                          <a:spcPct val="100000"/>
                        </a:lnSpc>
                        <a:spcBef>
                          <a:spcPts val="0"/>
                        </a:spcBef>
                        <a:spcAft>
                          <a:spcPts val="0"/>
                        </a:spcAft>
                        <a:buNone/>
                      </a:pPr>
                      <a:endParaRPr lang="en-US" sz="1600" b="0" i="0" u="none" strike="noStrike" noProof="0">
                        <a:effectLst/>
                        <a:latin typeface="Poppins"/>
                        <a:cs typeface="Poppins"/>
                      </a:endParaRPr>
                    </a:p>
                    <a:p>
                      <a:pPr lvl="0" algn="l">
                        <a:lnSpc>
                          <a:spcPct val="100000"/>
                        </a:lnSpc>
                        <a:spcBef>
                          <a:spcPts val="0"/>
                        </a:spcBef>
                        <a:spcAft>
                          <a:spcPts val="0"/>
                        </a:spcAft>
                        <a:buNone/>
                      </a:pPr>
                      <a:endParaRPr lang="en-US" sz="1600" b="0" i="0" u="none" strike="noStrike" noProof="0">
                        <a:effectLst/>
                        <a:latin typeface="Poppins"/>
                        <a:cs typeface="Poppins"/>
                      </a:endParaRPr>
                    </a:p>
                    <a:p>
                      <a:pPr lvl="0" algn="l">
                        <a:lnSpc>
                          <a:spcPct val="100000"/>
                        </a:lnSpc>
                        <a:spcBef>
                          <a:spcPts val="0"/>
                        </a:spcBef>
                        <a:spcAft>
                          <a:spcPts val="0"/>
                        </a:spcAft>
                        <a:buNone/>
                      </a:pPr>
                      <a:endParaRPr lang="en-US" sz="1600" b="0" i="0" u="none" strike="noStrike" noProof="0">
                        <a:effectLst/>
                        <a:latin typeface="Poppins"/>
                        <a:cs typeface="Poppins"/>
                      </a:endParaRPr>
                    </a:p>
                    <a:p>
                      <a:pPr lvl="0" algn="l">
                        <a:lnSpc>
                          <a:spcPct val="100000"/>
                        </a:lnSpc>
                        <a:spcBef>
                          <a:spcPts val="0"/>
                        </a:spcBef>
                        <a:spcAft>
                          <a:spcPts val="0"/>
                        </a:spcAft>
                        <a:buNone/>
                      </a:pPr>
                      <a:endParaRPr lang="en-US" sz="1600" b="0" i="0" u="none" strike="noStrike" noProof="0">
                        <a:effectLst/>
                        <a:latin typeface="Poppins"/>
                        <a:cs typeface="Poppins"/>
                      </a:endParaRPr>
                    </a:p>
                    <a:p>
                      <a:pPr lvl="0" algn="l">
                        <a:lnSpc>
                          <a:spcPct val="100000"/>
                        </a:lnSpc>
                        <a:spcBef>
                          <a:spcPts val="0"/>
                        </a:spcBef>
                        <a:spcAft>
                          <a:spcPts val="0"/>
                        </a:spcAft>
                        <a:buNone/>
                      </a:pPr>
                      <a:endParaRPr lang="en-US" sz="1600" b="0" i="0" u="none" strike="noStrike" noProof="0">
                        <a:effectLst/>
                        <a:latin typeface="Poppins"/>
                        <a:cs typeface="Poppins"/>
                      </a:endParaRPr>
                    </a:p>
                    <a:p>
                      <a:pPr lvl="0" algn="l">
                        <a:lnSpc>
                          <a:spcPct val="100000"/>
                        </a:lnSpc>
                        <a:spcBef>
                          <a:spcPts val="0"/>
                        </a:spcBef>
                        <a:spcAft>
                          <a:spcPts val="0"/>
                        </a:spcAft>
                        <a:buNone/>
                      </a:pPr>
                      <a:endParaRPr lang="en-US" sz="1600" b="0" i="0" u="none" strike="noStrike" noProof="0">
                        <a:effectLst/>
                        <a:latin typeface="Poppins"/>
                        <a:cs typeface="Poppins"/>
                      </a:endParaRPr>
                    </a:p>
                    <a:p>
                      <a:pPr lvl="0" algn="l">
                        <a:lnSpc>
                          <a:spcPct val="100000"/>
                        </a:lnSpc>
                        <a:spcBef>
                          <a:spcPts val="0"/>
                        </a:spcBef>
                        <a:spcAft>
                          <a:spcPts val="0"/>
                        </a:spcAft>
                        <a:buNone/>
                      </a:pPr>
                      <a:endParaRPr lang="en-US" sz="1600" b="0" i="0" u="none" strike="noStrike" noProof="0">
                        <a:effectLst/>
                        <a:latin typeface="Poppins"/>
                        <a:cs typeface="Poppins"/>
                      </a:endParaRPr>
                    </a:p>
                    <a:p>
                      <a:pPr lvl="0" algn="l">
                        <a:lnSpc>
                          <a:spcPct val="100000"/>
                        </a:lnSpc>
                        <a:spcBef>
                          <a:spcPts val="0"/>
                        </a:spcBef>
                        <a:spcAft>
                          <a:spcPts val="0"/>
                        </a:spcAft>
                        <a:buNone/>
                      </a:pPr>
                      <a:endParaRPr lang="en-US" sz="1600" b="0" i="0" u="none" strike="noStrike" noProof="0">
                        <a:effectLst/>
                        <a:latin typeface="Poppins"/>
                        <a:cs typeface="Poppins"/>
                      </a:endParaRPr>
                    </a:p>
                    <a:p>
                      <a:pPr lvl="0" algn="l">
                        <a:lnSpc>
                          <a:spcPct val="100000"/>
                        </a:lnSpc>
                        <a:spcBef>
                          <a:spcPts val="0"/>
                        </a:spcBef>
                        <a:spcAft>
                          <a:spcPts val="0"/>
                        </a:spcAft>
                        <a:buNone/>
                      </a:pPr>
                      <a:endParaRPr lang="en-US" sz="1600" b="0" i="0" u="none" strike="noStrike" noProof="0">
                        <a:effectLst/>
                        <a:latin typeface="Poppins"/>
                        <a:cs typeface="Poppins"/>
                      </a:endParaRPr>
                    </a:p>
                    <a:p>
                      <a:pPr lvl="0" algn="l">
                        <a:lnSpc>
                          <a:spcPct val="100000"/>
                        </a:lnSpc>
                        <a:spcBef>
                          <a:spcPts val="0"/>
                        </a:spcBef>
                        <a:spcAft>
                          <a:spcPts val="0"/>
                        </a:spcAft>
                        <a:buNone/>
                      </a:pPr>
                      <a:endParaRPr lang="en-US" sz="1600" b="0" i="0" u="none" strike="noStrike" noProof="0">
                        <a:effectLst/>
                        <a:latin typeface="Poppins"/>
                        <a:cs typeface="Poppins"/>
                      </a:endParaRPr>
                    </a:p>
                    <a:p>
                      <a:pPr lvl="0" algn="l">
                        <a:lnSpc>
                          <a:spcPct val="100000"/>
                        </a:lnSpc>
                        <a:spcBef>
                          <a:spcPts val="0"/>
                        </a:spcBef>
                        <a:spcAft>
                          <a:spcPts val="0"/>
                        </a:spcAft>
                        <a:buNone/>
                      </a:pPr>
                      <a:r>
                        <a:rPr lang="en-US" sz="1400" b="0" i="0" u="none" strike="noStrike" noProof="0">
                          <a:effectLst/>
                          <a:latin typeface="Poppins"/>
                          <a:cs typeface="Poppins"/>
                        </a:rPr>
                        <a:t>2. Check if the payment was successful</a:t>
                      </a:r>
                      <a:endParaRPr lang="en-US" sz="1400">
                        <a:latin typeface="Poppins"/>
                        <a:cs typeface="Poppins"/>
                      </a:endParaRPr>
                    </a:p>
                    <a:p>
                      <a:pPr lvl="0" algn="l">
                        <a:lnSpc>
                          <a:spcPct val="100000"/>
                        </a:lnSpc>
                        <a:spcBef>
                          <a:spcPts val="0"/>
                        </a:spcBef>
                        <a:spcAft>
                          <a:spcPts val="0"/>
                        </a:spcAft>
                        <a:buNone/>
                      </a:pPr>
                      <a:endParaRPr lang="en-US" sz="1600" b="0" i="0" u="none" strike="noStrike" noProof="0">
                        <a:effectLst/>
                        <a:latin typeface="Poppins"/>
                        <a:cs typeface="Poppins"/>
                      </a:endParaRPr>
                    </a:p>
                    <a:p>
                      <a:pPr lvl="0" algn="l">
                        <a:lnSpc>
                          <a:spcPct val="100000"/>
                        </a:lnSpc>
                        <a:spcBef>
                          <a:spcPts val="0"/>
                        </a:spcBef>
                        <a:spcAft>
                          <a:spcPts val="0"/>
                        </a:spcAft>
                        <a:buNone/>
                      </a:pPr>
                      <a:endParaRPr lang="en-US" sz="1600" b="0" i="0" u="none" strike="noStrike" noProof="0">
                        <a:effectLst/>
                        <a:latin typeface="Poppins"/>
                        <a:cs typeface="Poppins"/>
                      </a:endParaRPr>
                    </a:p>
                    <a:p>
                      <a:pPr lvl="0" algn="l">
                        <a:lnSpc>
                          <a:spcPct val="100000"/>
                        </a:lnSpc>
                        <a:spcBef>
                          <a:spcPts val="0"/>
                        </a:spcBef>
                        <a:spcAft>
                          <a:spcPts val="0"/>
                        </a:spcAft>
                        <a:buNone/>
                      </a:pPr>
                      <a:endParaRPr lang="en-US" sz="1600" b="0" i="0" u="none" strike="noStrike" noProof="0">
                        <a:effectLst/>
                        <a:latin typeface="Poppins"/>
                        <a:cs typeface="Poppins"/>
                      </a:endParaRPr>
                    </a:p>
                    <a:p>
                      <a:pPr lvl="0" algn="l">
                        <a:lnSpc>
                          <a:spcPct val="100000"/>
                        </a:lnSpc>
                        <a:spcBef>
                          <a:spcPts val="0"/>
                        </a:spcBef>
                        <a:spcAft>
                          <a:spcPts val="0"/>
                        </a:spcAft>
                        <a:buNone/>
                      </a:pPr>
                      <a:endParaRPr lang="en-US" sz="1600" b="0" i="0" u="none" strike="noStrike" noProof="0">
                        <a:effectLst/>
                        <a:latin typeface="Poppins"/>
                        <a:cs typeface="Poppins"/>
                      </a:endParaRPr>
                    </a:p>
                    <a:p>
                      <a:pPr lvl="0" algn="l">
                        <a:lnSpc>
                          <a:spcPct val="100000"/>
                        </a:lnSpc>
                        <a:spcBef>
                          <a:spcPts val="0"/>
                        </a:spcBef>
                        <a:spcAft>
                          <a:spcPts val="0"/>
                        </a:spcAft>
                        <a:buNone/>
                      </a:pPr>
                      <a:endParaRPr lang="en-US" sz="1600" b="0" i="0" u="none" strike="noStrike" noProof="0">
                        <a:effectLst/>
                        <a:latin typeface="Poppins"/>
                        <a:cs typeface="Poppins"/>
                      </a:endParaRPr>
                    </a:p>
                    <a:p>
                      <a:pPr lvl="0" algn="l">
                        <a:lnSpc>
                          <a:spcPct val="100000"/>
                        </a:lnSpc>
                        <a:spcBef>
                          <a:spcPts val="0"/>
                        </a:spcBef>
                        <a:spcAft>
                          <a:spcPts val="0"/>
                        </a:spcAft>
                        <a:buNone/>
                      </a:pPr>
                      <a:endParaRPr lang="en-US" sz="1600" b="0" i="0" u="none" strike="noStrike" noProof="0">
                        <a:effectLst/>
                        <a:latin typeface="Poppins"/>
                        <a:cs typeface="Poppins"/>
                      </a:endParaRPr>
                    </a:p>
                    <a:p>
                      <a:pPr lvl="0" algn="l">
                        <a:lnSpc>
                          <a:spcPct val="100000"/>
                        </a:lnSpc>
                        <a:spcBef>
                          <a:spcPts val="0"/>
                        </a:spcBef>
                        <a:spcAft>
                          <a:spcPts val="0"/>
                        </a:spcAft>
                        <a:buNone/>
                      </a:pPr>
                      <a:r>
                        <a:rPr lang="en-US" sz="1400" b="0" i="0" u="none" strike="noStrike" noProof="0">
                          <a:effectLst/>
                          <a:latin typeface="Poppins"/>
                          <a:cs typeface="Poppins"/>
                        </a:rPr>
                        <a:t>3. Check if the device is e-SIM compatible</a:t>
                      </a:r>
                      <a:endParaRPr lang="en-US" sz="1400">
                        <a:latin typeface="Poppins"/>
                        <a:cs typeface="Poppins"/>
                      </a:endParaRPr>
                    </a:p>
                    <a:p>
                      <a:pPr lvl="0" algn="l">
                        <a:lnSpc>
                          <a:spcPct val="100000"/>
                        </a:lnSpc>
                        <a:spcBef>
                          <a:spcPts val="0"/>
                        </a:spcBef>
                        <a:spcAft>
                          <a:spcPts val="0"/>
                        </a:spcAft>
                        <a:buNone/>
                      </a:pPr>
                      <a:r>
                        <a:rPr lang="en-US" sz="1400" b="0" i="0" u="none" strike="noStrike" noProof="0">
                          <a:effectLst/>
                          <a:latin typeface="Poppins"/>
                          <a:cs typeface="Poppins"/>
                        </a:rPr>
                        <a:t>4. Check if the customer is currently in the UK</a:t>
                      </a:r>
                      <a:endParaRPr lang="en-US" sz="1400">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r h="6663104">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pic>
        <p:nvPicPr>
          <p:cNvPr id="2" name="Picture 1" descr="A screenshot of a computer">
            <a:extLst>
              <a:ext uri="{FF2B5EF4-FFF2-40B4-BE49-F238E27FC236}">
                <a16:creationId xmlns:a16="http://schemas.microsoft.com/office/drawing/2014/main" id="{9770F886-8321-30D5-C136-5A994F55C74E}"/>
              </a:ext>
            </a:extLst>
          </p:cNvPr>
          <p:cNvPicPr>
            <a:picLocks noChangeAspect="1"/>
          </p:cNvPicPr>
          <p:nvPr/>
        </p:nvPicPr>
        <p:blipFill>
          <a:blip r:embed="rId2"/>
          <a:stretch>
            <a:fillRect/>
          </a:stretch>
        </p:blipFill>
        <p:spPr>
          <a:xfrm>
            <a:off x="3914281" y="850689"/>
            <a:ext cx="4205377" cy="1837727"/>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10727F2D-576E-9797-212A-044EA49F124E}"/>
              </a:ext>
            </a:extLst>
          </p:cNvPr>
          <p:cNvPicPr>
            <a:picLocks noChangeAspect="1"/>
          </p:cNvPicPr>
          <p:nvPr/>
        </p:nvPicPr>
        <p:blipFill>
          <a:blip r:embed="rId3"/>
          <a:stretch>
            <a:fillRect/>
          </a:stretch>
        </p:blipFill>
        <p:spPr>
          <a:xfrm>
            <a:off x="3991446" y="2810928"/>
            <a:ext cx="4205377" cy="1597036"/>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732F745A-FD30-6FF9-FB80-8221F5DE4BEE}"/>
              </a:ext>
            </a:extLst>
          </p:cNvPr>
          <p:cNvPicPr>
            <a:picLocks noChangeAspect="1"/>
          </p:cNvPicPr>
          <p:nvPr/>
        </p:nvPicPr>
        <p:blipFill>
          <a:blip r:embed="rId4"/>
          <a:stretch>
            <a:fillRect/>
          </a:stretch>
        </p:blipFill>
        <p:spPr>
          <a:xfrm>
            <a:off x="852086" y="4670268"/>
            <a:ext cx="7109604" cy="1295251"/>
          </a:xfrm>
          <a:prstGeom prst="rect">
            <a:avLst/>
          </a:prstGeom>
        </p:spPr>
      </p:pic>
    </p:spTree>
    <p:extLst>
      <p:ext uri="{BB962C8B-B14F-4D97-AF65-F5344CB8AC3E}">
        <p14:creationId xmlns:p14="http://schemas.microsoft.com/office/powerpoint/2010/main" val="33539364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142E3-258A-B5E0-7EF0-1D1073C0746F}"/>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730EC5F1-2EBF-BB00-3BEA-18F4E1B56F8C}"/>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cs typeface="Poppins"/>
              </a:rPr>
              <a:t>Network</a:t>
            </a:r>
          </a:p>
          <a:p>
            <a:r>
              <a:rPr lang="en-GB" sz="2000" b="1">
                <a:latin typeface="Poppins"/>
                <a:ea typeface="+mn-lt"/>
                <a:cs typeface="Poppins"/>
              </a:rPr>
              <a:t>e-SIM Provision</a:t>
            </a:r>
            <a:endParaRPr lang="en-GB" sz="2000">
              <a:latin typeface="Poppins"/>
              <a:ea typeface="+mn-lt"/>
              <a:cs typeface="Poppins"/>
            </a:endParaRPr>
          </a:p>
          <a:p>
            <a:endParaRPr lang="en-GB" sz="2800" b="1">
              <a:latin typeface="Poppins"/>
              <a:cs typeface="Poppins"/>
            </a:endParaRPr>
          </a:p>
        </p:txBody>
      </p:sp>
      <p:graphicFrame>
        <p:nvGraphicFramePr>
          <p:cNvPr id="7" name="Table 6">
            <a:extLst>
              <a:ext uri="{FF2B5EF4-FFF2-40B4-BE49-F238E27FC236}">
                <a16:creationId xmlns:a16="http://schemas.microsoft.com/office/drawing/2014/main" id="{38719401-7B61-04D5-11F9-3AC03336EF0F}"/>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BD50BDCB-CBCB-F97F-B1F6-41D1D49CFE45}"/>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3E0BE541-F932-0914-C123-F3AE98634FB1}"/>
              </a:ext>
            </a:extLst>
          </p:cNvPr>
          <p:cNvGraphicFramePr>
            <a:graphicFrameLocks noGrp="1"/>
          </p:cNvGraphicFramePr>
          <p:nvPr>
            <p:extLst>
              <p:ext uri="{D42A27DB-BD31-4B8C-83A1-F6EECF244321}">
                <p14:modId xmlns:p14="http://schemas.microsoft.com/office/powerpoint/2010/main" val="1419408873"/>
              </p:ext>
            </p:extLst>
          </p:nvPr>
        </p:nvGraphicFramePr>
        <p:xfrm>
          <a:off x="731243" y="1857863"/>
          <a:ext cx="6913143" cy="3666626"/>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1624466">
                <a:tc>
                  <a:txBody>
                    <a:bodyPr/>
                    <a:lstStyle/>
                    <a:p>
                      <a:pPr lvl="0" algn="l">
                        <a:lnSpc>
                          <a:spcPct val="100000"/>
                        </a:lnSpc>
                        <a:spcBef>
                          <a:spcPts val="0"/>
                        </a:spcBef>
                        <a:spcAft>
                          <a:spcPts val="0"/>
                        </a:spcAft>
                        <a:buNone/>
                      </a:pPr>
                      <a:r>
                        <a:rPr lang="en-US" sz="1600" b="1" i="0" u="none" strike="noStrike" noProof="0">
                          <a:effectLst/>
                          <a:latin typeface="Poppins"/>
                          <a:cs typeface="Poppins"/>
                        </a:rPr>
                        <a:t>Troubleshooting</a:t>
                      </a:r>
                      <a:endParaRPr lang="en-US" sz="1600">
                        <a:latin typeface="Poppins"/>
                        <a:cs typeface="Poppins"/>
                      </a:endParaRPr>
                    </a:p>
                    <a:p>
                      <a:pPr lvl="0" algn="l">
                        <a:lnSpc>
                          <a:spcPct val="100000"/>
                        </a:lnSpc>
                        <a:spcBef>
                          <a:spcPts val="0"/>
                        </a:spcBef>
                        <a:spcAft>
                          <a:spcPts val="0"/>
                        </a:spcAft>
                        <a:buNone/>
                      </a:pPr>
                      <a:r>
                        <a:rPr lang="en-US" sz="1600" b="1" i="0" u="none" strike="noStrike" noProof="0">
                          <a:effectLst/>
                          <a:latin typeface="Poppins"/>
                          <a:cs typeface="Poppins"/>
                        </a:rPr>
                        <a:t>e-SIM</a:t>
                      </a:r>
                    </a:p>
                    <a:p>
                      <a:pPr marL="342900" lvl="0" indent="-342900" algn="l">
                        <a:lnSpc>
                          <a:spcPct val="100000"/>
                        </a:lnSpc>
                        <a:spcBef>
                          <a:spcPts val="0"/>
                        </a:spcBef>
                        <a:spcAft>
                          <a:spcPts val="0"/>
                        </a:spcAft>
                        <a:buAutoNum type="arabicPeriod"/>
                      </a:pPr>
                      <a:r>
                        <a:rPr lang="en-US" sz="1600" b="0" i="0" u="none" strike="noStrike" noProof="0">
                          <a:effectLst/>
                          <a:latin typeface="Poppins"/>
                          <a:cs typeface="Poppins"/>
                        </a:rPr>
                        <a:t>Ask the customer to reboot the device </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effectLst/>
                          <a:latin typeface="Poppins"/>
                          <a:cs typeface="Poppins"/>
                        </a:rPr>
                        <a:t>Uninstall and Reinstall the </a:t>
                      </a:r>
                      <a:r>
                        <a:rPr lang="en-US" sz="1600" b="0" i="0" u="none" strike="noStrike" noProof="0" err="1">
                          <a:effectLst/>
                          <a:latin typeface="Poppins"/>
                          <a:cs typeface="Poppins"/>
                        </a:rPr>
                        <a:t>loopDL</a:t>
                      </a:r>
                      <a:r>
                        <a:rPr lang="en-US" sz="1600" b="0" i="0" u="none" strike="noStrike" noProof="0">
                          <a:effectLst/>
                          <a:latin typeface="Poppins"/>
                          <a:cs typeface="Poppins"/>
                        </a:rPr>
                        <a:t> app </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effectLst/>
                          <a:latin typeface="Poppins"/>
                          <a:cs typeface="Poppins"/>
                        </a:rPr>
                        <a:t>Escalate the ticket if it is still not visible on the station/customer's end.</a:t>
                      </a:r>
                    </a:p>
                    <a:p>
                      <a:pPr marL="342900" lvl="0" indent="-342900" algn="l">
                        <a:lnSpc>
                          <a:spcPct val="100000"/>
                        </a:lnSpc>
                        <a:spcBef>
                          <a:spcPts val="0"/>
                        </a:spcBef>
                        <a:spcAft>
                          <a:spcPts val="0"/>
                        </a:spcAft>
                        <a:buAutoNum type="arabicPeriod"/>
                      </a:pPr>
                      <a:endParaRPr lang="en-US" sz="1600" b="0" i="0" u="none" strike="noStrike" noProof="0">
                        <a:effectLst/>
                        <a:latin typeface="Poppins"/>
                        <a:cs typeface="Poppins"/>
                      </a:endParaRPr>
                    </a:p>
                    <a:p>
                      <a:pPr marL="0" lvl="0" indent="0" algn="l">
                        <a:lnSpc>
                          <a:spcPct val="100000"/>
                        </a:lnSpc>
                        <a:spcBef>
                          <a:spcPts val="0"/>
                        </a:spcBef>
                        <a:spcAft>
                          <a:spcPts val="0"/>
                        </a:spcAft>
                        <a:buNone/>
                      </a:pPr>
                      <a:endParaRPr lang="en-US" sz="1600" b="0" i="0" u="none" strike="noStrike" noProof="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r h="1624466">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sp>
        <p:nvSpPr>
          <p:cNvPr id="3" name="Shape 6">
            <a:extLst>
              <a:ext uri="{FF2B5EF4-FFF2-40B4-BE49-F238E27FC236}">
                <a16:creationId xmlns:a16="http://schemas.microsoft.com/office/drawing/2014/main" id="{518B585E-81A6-6E69-A6C8-15D8BE036FCF}"/>
              </a:ext>
            </a:extLst>
          </p:cNvPr>
          <p:cNvSpPr/>
          <p:nvPr/>
        </p:nvSpPr>
        <p:spPr>
          <a:xfrm>
            <a:off x="732462" y="3911973"/>
            <a:ext cx="6269967" cy="1311905"/>
          </a:xfrm>
          <a:prstGeom prst="roundRect">
            <a:avLst>
              <a:gd name="adj" fmla="val 6522"/>
            </a:avLst>
          </a:prstGeom>
          <a:solidFill>
            <a:srgbClr val="EAD6CA"/>
          </a:solidFill>
          <a:ln w="12700">
            <a:solidFill>
              <a:srgbClr val="EAD6CA">
                <a:alpha val="0"/>
              </a:srgbClr>
            </a:solidFill>
            <a:prstDash val="solid"/>
          </a:ln>
        </p:spPr>
        <p:txBody>
          <a:bodyPr lIns="91440" tIns="45720" rIns="91440" bIns="45720" anchor="t"/>
          <a:lstStyle/>
          <a:p>
            <a:pPr marL="285750" indent="-285750">
              <a:buFont typeface="Arial"/>
              <a:buChar char="•"/>
            </a:pPr>
            <a:r>
              <a:rPr lang="en-GB" sz="1600" b="1">
                <a:latin typeface="Poppins"/>
                <a:ea typeface="+mn-lt"/>
                <a:cs typeface="Poppins"/>
              </a:rPr>
              <a:t>If the phone is not e-SIM compatible, let the customer know so they may best decide on what to do next</a:t>
            </a:r>
          </a:p>
          <a:p>
            <a:pPr marL="285750" indent="-285750">
              <a:buFont typeface="Arial"/>
              <a:buChar char="•"/>
            </a:pPr>
            <a:r>
              <a:rPr lang="en-US" sz="1600" b="1">
                <a:latin typeface="Poppins"/>
                <a:ea typeface="+mn-lt"/>
                <a:cs typeface="Poppins"/>
              </a:rPr>
              <a:t>If the customer is not in the UK – </a:t>
            </a:r>
            <a:r>
              <a:rPr lang="en-US" sz="1600">
                <a:latin typeface="Poppins"/>
                <a:ea typeface="+mn-lt"/>
                <a:cs typeface="Poppins"/>
              </a:rPr>
              <a:t>Mention that we only cater UK customers, then continue with other concerns.</a:t>
            </a:r>
            <a:endParaRPr lang="en-GB" sz="1600" b="1">
              <a:latin typeface="Poppins"/>
              <a:ea typeface="+mn-lt"/>
              <a:cs typeface="Poppins"/>
            </a:endParaRPr>
          </a:p>
        </p:txBody>
      </p:sp>
    </p:spTree>
    <p:extLst>
      <p:ext uri="{BB962C8B-B14F-4D97-AF65-F5344CB8AC3E}">
        <p14:creationId xmlns:p14="http://schemas.microsoft.com/office/powerpoint/2010/main" val="883870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04B5A-3B9E-25D6-003F-508DCCA0F269}"/>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BB43D5FF-C93C-EC64-DC59-FC7CDA5DADAC}"/>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cs typeface="Poppins"/>
              </a:rPr>
              <a:t>Network</a:t>
            </a:r>
          </a:p>
          <a:p>
            <a:r>
              <a:rPr lang="en-GB" sz="2000" b="1">
                <a:latin typeface="Poppins"/>
                <a:ea typeface="+mn-lt"/>
                <a:cs typeface="Poppins"/>
              </a:rPr>
              <a:t>Transfer e-SIM / </a:t>
            </a:r>
          </a:p>
          <a:p>
            <a:r>
              <a:rPr lang="en-GB" sz="2000" b="1">
                <a:latin typeface="Poppins"/>
                <a:ea typeface="+mn-lt"/>
                <a:cs typeface="Poppins"/>
              </a:rPr>
              <a:t>e-SIM not working</a:t>
            </a:r>
            <a:endParaRPr lang="en-GB" sz="2000" b="1">
              <a:latin typeface="Poppins"/>
              <a:cs typeface="Poppins"/>
            </a:endParaRPr>
          </a:p>
          <a:p>
            <a:endParaRPr lang="en-GB" sz="2800" b="1">
              <a:latin typeface="Poppins"/>
              <a:cs typeface="Poppins"/>
            </a:endParaRPr>
          </a:p>
        </p:txBody>
      </p:sp>
      <p:graphicFrame>
        <p:nvGraphicFramePr>
          <p:cNvPr id="7" name="Table 6">
            <a:extLst>
              <a:ext uri="{FF2B5EF4-FFF2-40B4-BE49-F238E27FC236}">
                <a16:creationId xmlns:a16="http://schemas.microsoft.com/office/drawing/2014/main" id="{EBA04835-C82E-73EF-E5AB-6D0984C11027}"/>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EE447301-60B8-512E-3494-DF2CB573101D}"/>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9A471DAA-AAD1-66D2-13BC-EB60818698DC}"/>
              </a:ext>
            </a:extLst>
          </p:cNvPr>
          <p:cNvGraphicFramePr>
            <a:graphicFrameLocks noGrp="1"/>
          </p:cNvGraphicFramePr>
          <p:nvPr>
            <p:extLst>
              <p:ext uri="{D42A27DB-BD31-4B8C-83A1-F6EECF244321}">
                <p14:modId xmlns:p14="http://schemas.microsoft.com/office/powerpoint/2010/main" val="1499902862"/>
              </p:ext>
            </p:extLst>
          </p:nvPr>
        </p:nvGraphicFramePr>
        <p:xfrm>
          <a:off x="721598" y="1057281"/>
          <a:ext cx="6913143" cy="3859055"/>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1176815">
                <a:tc>
                  <a:txBody>
                    <a:bodyPr/>
                    <a:lstStyle/>
                    <a:p>
                      <a:pPr lvl="0">
                        <a:buNone/>
                      </a:pPr>
                      <a:r>
                        <a:rPr lang="en-US" sz="1600" b="1" i="0" u="none" strike="noStrike" noProof="0">
                          <a:solidFill>
                            <a:srgbClr val="000000"/>
                          </a:solidFill>
                          <a:effectLst/>
                          <a:latin typeface="Poppins"/>
                          <a:cs typeface="Poppins"/>
                        </a:rPr>
                        <a:t>Things we check </a:t>
                      </a:r>
                      <a:endParaRPr lang="en-US" sz="1600" b="0" i="0" u="none" strike="noStrike" noProof="0">
                        <a:solidFill>
                          <a:srgbClr val="000000"/>
                        </a:solidFill>
                        <a:effectLst/>
                        <a:latin typeface="Poppins"/>
                        <a:cs typeface="Poppins"/>
                      </a:endParaRPr>
                    </a:p>
                    <a:p>
                      <a:pPr lvl="0">
                        <a:buNone/>
                      </a:pPr>
                      <a:r>
                        <a:rPr lang="en-US" sz="1000" b="0" i="1" u="none" strike="noStrike" noProof="0">
                          <a:solidFill>
                            <a:srgbClr val="000000"/>
                          </a:solidFill>
                          <a:effectLst/>
                          <a:latin typeface="Poppins"/>
                          <a:cs typeface="Poppins"/>
                        </a:rPr>
                        <a:t>ask the customer, check in the station, etc.</a:t>
                      </a:r>
                      <a:endParaRPr lang="en-US" sz="1000">
                        <a:latin typeface="Poppins"/>
                        <a:cs typeface="Poppins"/>
                      </a:endParaRPr>
                    </a:p>
                    <a:p>
                      <a:pPr marL="285750" lvl="0" indent="-285750" algn="l">
                        <a:lnSpc>
                          <a:spcPct val="100000"/>
                        </a:lnSpc>
                        <a:spcBef>
                          <a:spcPts val="0"/>
                        </a:spcBef>
                        <a:spcAft>
                          <a:spcPts val="0"/>
                        </a:spcAft>
                        <a:buFont typeface="Arial"/>
                        <a:buChar char="•"/>
                      </a:pPr>
                      <a:r>
                        <a:rPr lang="en-US" sz="1600" b="0" i="0" u="none" strike="noStrike" noProof="0">
                          <a:effectLst/>
                          <a:latin typeface="Poppins"/>
                          <a:cs typeface="Poppins"/>
                        </a:rPr>
                        <a:t>Confirm e-SIM is fully deleted from the old phone</a:t>
                      </a:r>
                      <a:endParaRPr lang="en-US" sz="1600">
                        <a:latin typeface="Poppins"/>
                        <a:cs typeface="Poppins"/>
                      </a:endParaRPr>
                    </a:p>
                    <a:p>
                      <a:pPr marL="742950" lvl="1" indent="-285750" algn="l">
                        <a:lnSpc>
                          <a:spcPct val="100000"/>
                        </a:lnSpc>
                        <a:spcBef>
                          <a:spcPts val="0"/>
                        </a:spcBef>
                        <a:spcAft>
                          <a:spcPts val="0"/>
                        </a:spcAft>
                        <a:buFont typeface="Courier New"/>
                        <a:buChar char="o"/>
                      </a:pPr>
                      <a:r>
                        <a:rPr lang="en-US" sz="1600">
                          <a:latin typeface="Poppins"/>
                          <a:cs typeface="Poppins"/>
                        </a:rPr>
                        <a:t>If not, ask if they still have access to it</a:t>
                      </a:r>
                    </a:p>
                    <a:p>
                      <a:pPr marL="285750" lvl="0" indent="-285750" algn="l">
                        <a:lnSpc>
                          <a:spcPct val="100000"/>
                        </a:lnSpc>
                        <a:spcBef>
                          <a:spcPts val="0"/>
                        </a:spcBef>
                        <a:spcAft>
                          <a:spcPts val="0"/>
                        </a:spcAft>
                        <a:buFont typeface="Arial"/>
                        <a:buChar char="•"/>
                      </a:pPr>
                      <a:r>
                        <a:rPr lang="en-US" sz="1600" b="0" i="0" u="none" strike="noStrike" noProof="0">
                          <a:effectLst/>
                          <a:latin typeface="Poppins"/>
                          <a:cs typeface="Poppins"/>
                        </a:rPr>
                        <a:t>Ask where the customer bought the phone (within the UK?)</a:t>
                      </a:r>
                      <a:endParaRPr lang="en-US" sz="1600">
                        <a:latin typeface="Poppins"/>
                        <a:cs typeface="Poppins"/>
                      </a:endParaRPr>
                    </a:p>
                    <a:p>
                      <a:pPr marL="285750" lvl="0" indent="-285750" algn="l">
                        <a:lnSpc>
                          <a:spcPct val="100000"/>
                        </a:lnSpc>
                        <a:spcBef>
                          <a:spcPts val="0"/>
                        </a:spcBef>
                        <a:spcAft>
                          <a:spcPts val="0"/>
                        </a:spcAft>
                        <a:buFont typeface="Arial"/>
                        <a:buChar char="•"/>
                      </a:pPr>
                      <a:r>
                        <a:rPr lang="en-US" sz="1600" b="0" i="0" u="none" strike="noStrike" noProof="0">
                          <a:effectLst/>
                          <a:latin typeface="Poppins"/>
                          <a:cs typeface="Poppins"/>
                        </a:rPr>
                        <a:t>Check if the device supports e-SIM </a:t>
                      </a:r>
                      <a:endParaRPr lang="en-US" sz="1600">
                        <a:latin typeface="Poppins"/>
                        <a:cs typeface="Poppins"/>
                      </a:endParaRPr>
                    </a:p>
                    <a:p>
                      <a:pPr marL="742950" lvl="1" indent="-285750" algn="l">
                        <a:lnSpc>
                          <a:spcPct val="100000"/>
                        </a:lnSpc>
                        <a:spcBef>
                          <a:spcPts val="0"/>
                        </a:spcBef>
                        <a:spcAft>
                          <a:spcPts val="0"/>
                        </a:spcAft>
                        <a:buFont typeface="Courier New"/>
                        <a:buChar char="o"/>
                      </a:pPr>
                      <a:r>
                        <a:rPr lang="en-US" sz="1600" b="0" i="0" u="none" strike="noStrike" noProof="0">
                          <a:latin typeface="Poppins"/>
                          <a:cs typeface="Poppins"/>
                        </a:rPr>
                        <a:t>Get the Make and model of the phone and ask google or go to gsmarena.com and check if the phone supports e-SIM</a:t>
                      </a:r>
                    </a:p>
                    <a:p>
                      <a:pPr marL="285750" lvl="0" indent="-285750" algn="l">
                        <a:lnSpc>
                          <a:spcPct val="100000"/>
                        </a:lnSpc>
                        <a:spcBef>
                          <a:spcPts val="0"/>
                        </a:spcBef>
                        <a:spcAft>
                          <a:spcPts val="0"/>
                        </a:spcAft>
                        <a:buFont typeface="Arial"/>
                        <a:buChar char="•"/>
                      </a:pPr>
                      <a:r>
                        <a:rPr lang="en-US" sz="1600" b="0" i="0" u="none" strike="noStrike" noProof="0">
                          <a:effectLst/>
                          <a:latin typeface="Poppins"/>
                          <a:cs typeface="Poppins"/>
                        </a:rPr>
                        <a:t>Verify if e-SIM is allocated on the Loop; mobile device</a:t>
                      </a:r>
                      <a:endParaRPr lang="en-US" sz="1600">
                        <a:latin typeface="Poppins"/>
                        <a:cs typeface="Poppins"/>
                      </a:endParaRPr>
                    </a:p>
                    <a:p>
                      <a:pPr marL="342900" lvl="0" indent="-342900" algn="l">
                        <a:lnSpc>
                          <a:spcPct val="100000"/>
                        </a:lnSpc>
                        <a:spcBef>
                          <a:spcPts val="0"/>
                        </a:spcBef>
                        <a:spcAft>
                          <a:spcPts val="0"/>
                        </a:spcAft>
                        <a:buFont typeface="Arial"/>
                        <a:buChar char="•"/>
                      </a:pPr>
                      <a:endParaRPr lang="en-US" sz="1600" b="0" i="0" u="none" strike="noStrike" noProof="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r h="1176815">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sp>
        <p:nvSpPr>
          <p:cNvPr id="3" name="Shape 6">
            <a:extLst>
              <a:ext uri="{FF2B5EF4-FFF2-40B4-BE49-F238E27FC236}">
                <a16:creationId xmlns:a16="http://schemas.microsoft.com/office/drawing/2014/main" id="{4ADF64E5-5784-F090-ACD5-FE9657D9216D}"/>
              </a:ext>
            </a:extLst>
          </p:cNvPr>
          <p:cNvSpPr/>
          <p:nvPr/>
        </p:nvSpPr>
        <p:spPr>
          <a:xfrm>
            <a:off x="1058747" y="3771584"/>
            <a:ext cx="6269967" cy="2181734"/>
          </a:xfrm>
          <a:prstGeom prst="roundRect">
            <a:avLst>
              <a:gd name="adj" fmla="val 6522"/>
            </a:avLst>
          </a:prstGeom>
          <a:solidFill>
            <a:srgbClr val="EAD6CA"/>
          </a:solidFill>
          <a:ln w="12700">
            <a:solidFill>
              <a:srgbClr val="EAD6CA">
                <a:alpha val="0"/>
              </a:srgbClr>
            </a:solidFill>
            <a:prstDash val="solid"/>
          </a:ln>
        </p:spPr>
        <p:txBody>
          <a:bodyPr lIns="91440" tIns="45720" rIns="91440" bIns="45720" anchor="t"/>
          <a:lstStyle/>
          <a:p>
            <a:pPr marL="285750" indent="-285750">
              <a:buFont typeface="Arial"/>
              <a:buChar char="•"/>
            </a:pPr>
            <a:r>
              <a:rPr lang="en-GB" sz="1600">
                <a:latin typeface="Poppins"/>
                <a:ea typeface="+mn-lt"/>
                <a:cs typeface="Poppins"/>
              </a:rPr>
              <a:t>If the customer does not have access to the old phone anymore</a:t>
            </a:r>
            <a:endParaRPr lang="en-US">
              <a:latin typeface="Aptos" panose="020B0004020202020204"/>
              <a:ea typeface="+mn-lt"/>
              <a:cs typeface="Poppins"/>
            </a:endParaRPr>
          </a:p>
          <a:p>
            <a:pPr marL="742950" lvl="1" indent="-285750">
              <a:buFont typeface="Courier New"/>
              <a:buChar char="o"/>
            </a:pPr>
            <a:r>
              <a:rPr lang="en-GB" sz="1600">
                <a:latin typeface="Poppins"/>
                <a:ea typeface="+mn-lt"/>
                <a:cs typeface="Poppins"/>
              </a:rPr>
              <a:t>If they want to recover the e-SIM. Escalate for backend to try to recover the e-SIM.</a:t>
            </a:r>
            <a:endParaRPr lang="en-GB" sz="1600">
              <a:latin typeface="Poppins"/>
              <a:cs typeface="Poppins"/>
            </a:endParaRPr>
          </a:p>
          <a:p>
            <a:pPr marL="742950" lvl="1" indent="-285750">
              <a:buFont typeface="Courier New"/>
              <a:buChar char="o"/>
            </a:pPr>
            <a:r>
              <a:rPr lang="en-GB" sz="1600">
                <a:latin typeface="Poppins"/>
                <a:ea typeface="+mn-lt"/>
                <a:cs typeface="Poppins"/>
              </a:rPr>
              <a:t>If they agree on a sim swap. Escalate for sim swap approval.</a:t>
            </a:r>
          </a:p>
          <a:p>
            <a:pPr marL="1200150" lvl="2" indent="-285750">
              <a:buFont typeface="Wingdings"/>
              <a:buChar char="§"/>
            </a:pPr>
            <a:r>
              <a:rPr lang="en-GB" sz="1600">
                <a:latin typeface="Poppins"/>
                <a:ea typeface="+mn-lt"/>
                <a:cs typeface="Poppins"/>
              </a:rPr>
              <a:t>make sure the e-SIM is not ported, otherwise do the former.</a:t>
            </a:r>
          </a:p>
        </p:txBody>
      </p:sp>
    </p:spTree>
    <p:extLst>
      <p:ext uri="{BB962C8B-B14F-4D97-AF65-F5344CB8AC3E}">
        <p14:creationId xmlns:p14="http://schemas.microsoft.com/office/powerpoint/2010/main" val="336208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04B5A-3B9E-25D6-003F-508DCCA0F269}"/>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BB43D5FF-C93C-EC64-DC59-FC7CDA5DADAC}"/>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cs typeface="Poppins"/>
              </a:rPr>
              <a:t>Network</a:t>
            </a:r>
          </a:p>
          <a:p>
            <a:r>
              <a:rPr lang="en-GB" sz="2000" b="1">
                <a:latin typeface="Poppins"/>
                <a:ea typeface="+mn-lt"/>
                <a:cs typeface="Poppins"/>
              </a:rPr>
              <a:t>Transfer e-SIM / </a:t>
            </a:r>
          </a:p>
          <a:p>
            <a:r>
              <a:rPr lang="en-GB" sz="2000" b="1">
                <a:latin typeface="Poppins"/>
                <a:ea typeface="+mn-lt"/>
                <a:cs typeface="Poppins"/>
              </a:rPr>
              <a:t>E-SIM not working</a:t>
            </a:r>
            <a:endParaRPr lang="en-GB" sz="2000" b="1">
              <a:latin typeface="Poppins"/>
              <a:cs typeface="Poppins"/>
            </a:endParaRPr>
          </a:p>
          <a:p>
            <a:endParaRPr lang="en-GB" sz="2800" b="1">
              <a:latin typeface="Poppins"/>
              <a:cs typeface="Poppins"/>
            </a:endParaRPr>
          </a:p>
        </p:txBody>
      </p:sp>
      <p:graphicFrame>
        <p:nvGraphicFramePr>
          <p:cNvPr id="7" name="Table 6">
            <a:extLst>
              <a:ext uri="{FF2B5EF4-FFF2-40B4-BE49-F238E27FC236}">
                <a16:creationId xmlns:a16="http://schemas.microsoft.com/office/drawing/2014/main" id="{EBA04835-C82E-73EF-E5AB-6D0984C11027}"/>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EE447301-60B8-512E-3494-DF2CB573101D}"/>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9A471DAA-AAD1-66D2-13BC-EB60818698DC}"/>
              </a:ext>
            </a:extLst>
          </p:cNvPr>
          <p:cNvGraphicFramePr>
            <a:graphicFrameLocks noGrp="1"/>
          </p:cNvGraphicFramePr>
          <p:nvPr>
            <p:extLst>
              <p:ext uri="{D42A27DB-BD31-4B8C-83A1-F6EECF244321}">
                <p14:modId xmlns:p14="http://schemas.microsoft.com/office/powerpoint/2010/main" val="1938588944"/>
              </p:ext>
            </p:extLst>
          </p:nvPr>
        </p:nvGraphicFramePr>
        <p:xfrm>
          <a:off x="885572" y="1250193"/>
          <a:ext cx="6913143" cy="13326209"/>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6663105">
                <a:tc>
                  <a:txBody>
                    <a:bodyPr/>
                    <a:lstStyle/>
                    <a:p>
                      <a:pPr lvl="0">
                        <a:buNone/>
                      </a:pPr>
                      <a:r>
                        <a:rPr lang="en-US" sz="1600" b="1" i="0" u="none" strike="noStrike" noProof="0">
                          <a:solidFill>
                            <a:srgbClr val="000000"/>
                          </a:solidFill>
                          <a:effectLst/>
                          <a:latin typeface="Poppins"/>
                          <a:cs typeface="Poppins"/>
                        </a:rPr>
                        <a:t>Troubleshooting (</a:t>
                      </a:r>
                      <a:r>
                        <a:rPr lang="en-US" sz="1600" b="0" i="0" u="none" strike="noStrike" noProof="0">
                          <a:effectLst/>
                          <a:latin typeface="Poppins"/>
                          <a:cs typeface="Poppins"/>
                        </a:rPr>
                        <a:t>e-SIM Transfer Steps</a:t>
                      </a:r>
                      <a:r>
                        <a:rPr lang="en-US" sz="1600" b="1" i="0" u="none" strike="noStrike" noProof="0">
                          <a:effectLst/>
                          <a:latin typeface="Poppins"/>
                          <a:cs typeface="Poppins"/>
                        </a:rPr>
                        <a:t>)</a:t>
                      </a:r>
                    </a:p>
                    <a:p>
                      <a:pPr marL="342900" lvl="0" indent="-342900" algn="l">
                        <a:lnSpc>
                          <a:spcPct val="100000"/>
                        </a:lnSpc>
                        <a:spcBef>
                          <a:spcPts val="0"/>
                        </a:spcBef>
                        <a:spcAft>
                          <a:spcPts val="0"/>
                        </a:spcAft>
                        <a:buAutoNum type="arabicPeriod"/>
                      </a:pPr>
                      <a:r>
                        <a:rPr lang="en-US" sz="1600" b="0" i="0" u="none" strike="noStrike" noProof="0">
                          <a:effectLst/>
                          <a:latin typeface="Poppins"/>
                          <a:cs typeface="Poppins"/>
                        </a:rPr>
                        <a:t>Delete e-SIM from old phone</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effectLst/>
                          <a:latin typeface="Poppins"/>
                          <a:cs typeface="Poppins"/>
                        </a:rPr>
                        <a:t>Open Settings </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effectLst/>
                          <a:latin typeface="Poppins"/>
                          <a:cs typeface="Poppins"/>
                        </a:rPr>
                        <a:t>Tap Cellular or Mobile Data </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effectLst/>
                          <a:latin typeface="Poppins"/>
                          <a:cs typeface="Poppins"/>
                        </a:rPr>
                        <a:t>Tap SIMs or Cellular Plans</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effectLst/>
                          <a:latin typeface="Poppins"/>
                          <a:cs typeface="Poppins"/>
                        </a:rPr>
                        <a:t>Select the e-SIM</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effectLst/>
                          <a:latin typeface="Poppins"/>
                          <a:cs typeface="Poppins"/>
                        </a:rPr>
                        <a:t>Tap Delete e-SIM / Remove Cellular Plan</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effectLst/>
                          <a:latin typeface="Poppins"/>
                          <a:cs typeface="Poppins"/>
                        </a:rPr>
                        <a:t>Tap Confirm</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1" i="0" u="none" strike="noStrike" noProof="0">
                          <a:effectLst/>
                          <a:latin typeface="Poppins"/>
                          <a:cs typeface="Poppins"/>
                        </a:rPr>
                        <a:t>Install e-SIM on new phone</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effectLst/>
                          <a:latin typeface="Poppins"/>
                          <a:cs typeface="Poppins"/>
                        </a:rPr>
                        <a:t>Open the app</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effectLst/>
                          <a:latin typeface="Poppins"/>
                          <a:cs typeface="Poppins"/>
                        </a:rPr>
                        <a:t>Sign in</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effectLst/>
                          <a:latin typeface="Poppins"/>
                          <a:cs typeface="Poppins"/>
                        </a:rPr>
                        <a:t>Select Install e-SIM</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effectLst/>
                          <a:latin typeface="Poppins"/>
                          <a:cs typeface="Poppins"/>
                        </a:rPr>
                        <a:t>Follow on-screen instructions</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effectLst/>
                          <a:latin typeface="Poppins"/>
                          <a:cs typeface="Poppins"/>
                        </a:rPr>
                        <a:t>(If it did not work)</a:t>
                      </a:r>
                      <a:endParaRPr lang="en-US" sz="1600">
                        <a:latin typeface="Poppins"/>
                        <a:cs typeface="Poppins"/>
                      </a:endParaRPr>
                    </a:p>
                    <a:p>
                      <a:pPr marL="800100" lvl="1" indent="-342900" algn="l">
                        <a:lnSpc>
                          <a:spcPct val="100000"/>
                        </a:lnSpc>
                        <a:spcBef>
                          <a:spcPts val="0"/>
                        </a:spcBef>
                        <a:spcAft>
                          <a:spcPts val="0"/>
                        </a:spcAft>
                        <a:buFont typeface="Courier New"/>
                        <a:buChar char="o"/>
                      </a:pPr>
                      <a:r>
                        <a:rPr lang="en-US" sz="1600" b="0" i="0" u="none" strike="noStrike" noProof="0">
                          <a:effectLst/>
                          <a:latin typeface="Poppins"/>
                          <a:cs typeface="Poppins"/>
                        </a:rPr>
                        <a:t>Uninstall e-SIM/</a:t>
                      </a:r>
                      <a:r>
                        <a:rPr lang="en-US" sz="1600" b="0" i="0" u="none" strike="noStrike" noProof="0" err="1">
                          <a:effectLst/>
                          <a:latin typeface="Poppins"/>
                          <a:cs typeface="Poppins"/>
                        </a:rPr>
                        <a:t>LoopDL</a:t>
                      </a:r>
                      <a:r>
                        <a:rPr lang="en-US" sz="1600" b="0" i="0" u="none" strike="noStrike" noProof="0">
                          <a:effectLst/>
                          <a:latin typeface="Poppins"/>
                          <a:cs typeface="Poppins"/>
                        </a:rPr>
                        <a:t> app</a:t>
                      </a:r>
                      <a:endParaRPr lang="en-US" sz="1600">
                        <a:latin typeface="Poppins"/>
                        <a:cs typeface="Poppins"/>
                      </a:endParaRPr>
                    </a:p>
                    <a:p>
                      <a:pPr marL="800100" lvl="1" indent="-342900" algn="l">
                        <a:lnSpc>
                          <a:spcPct val="100000"/>
                        </a:lnSpc>
                        <a:spcBef>
                          <a:spcPts val="0"/>
                        </a:spcBef>
                        <a:spcAft>
                          <a:spcPts val="0"/>
                        </a:spcAft>
                        <a:buFont typeface="Courier New"/>
                        <a:buChar char="o"/>
                      </a:pPr>
                      <a:r>
                        <a:rPr lang="en-US" sz="1600" b="0" i="0" u="none" strike="noStrike" noProof="0">
                          <a:effectLst/>
                          <a:latin typeface="Poppins"/>
                          <a:cs typeface="Poppins"/>
                        </a:rPr>
                        <a:t>Reinstall e-SIM/</a:t>
                      </a:r>
                      <a:r>
                        <a:rPr lang="en-US" sz="1600" b="0" i="0" u="none" strike="noStrike" noProof="0" err="1">
                          <a:effectLst/>
                          <a:latin typeface="Poppins"/>
                          <a:cs typeface="Poppins"/>
                        </a:rPr>
                        <a:t>LoopDL</a:t>
                      </a:r>
                      <a:r>
                        <a:rPr lang="en-US" sz="1600" b="0" i="0" u="none" strike="noStrike" noProof="0">
                          <a:effectLst/>
                          <a:latin typeface="Poppins"/>
                          <a:cs typeface="Poppins"/>
                        </a:rPr>
                        <a:t> app</a:t>
                      </a:r>
                      <a:endParaRPr lang="en-US" sz="1600">
                        <a:latin typeface="Poppins"/>
                        <a:cs typeface="Poppins"/>
                      </a:endParaRPr>
                    </a:p>
                    <a:p>
                      <a:pPr marL="0" lvl="0" indent="0" algn="l">
                        <a:lnSpc>
                          <a:spcPct val="100000"/>
                        </a:lnSpc>
                        <a:spcBef>
                          <a:spcPts val="0"/>
                        </a:spcBef>
                        <a:spcAft>
                          <a:spcPts val="0"/>
                        </a:spcAft>
                        <a:buNone/>
                      </a:pPr>
                      <a:endParaRPr lang="en-US" sz="1600" b="0" i="0" u="none" strike="noStrike" noProof="0">
                        <a:effectLst/>
                        <a:latin typeface="Poppins"/>
                        <a:cs typeface="Poppins"/>
                      </a:endParaRPr>
                    </a:p>
                    <a:p>
                      <a:pPr marL="285750" lvl="0" indent="-285750" algn="l">
                        <a:lnSpc>
                          <a:spcPct val="100000"/>
                        </a:lnSpc>
                        <a:spcBef>
                          <a:spcPts val="0"/>
                        </a:spcBef>
                        <a:spcAft>
                          <a:spcPts val="0"/>
                        </a:spcAft>
                        <a:buClr>
                          <a:srgbClr val="000000"/>
                        </a:buClr>
                        <a:buAutoNum type="arabicPeriod"/>
                      </a:pPr>
                      <a:endParaRPr lang="en-US" sz="1600" b="0" i="0" u="none" strike="noStrike" noProof="0">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r h="6663104">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sp>
        <p:nvSpPr>
          <p:cNvPr id="6" name="Shape 6">
            <a:extLst>
              <a:ext uri="{FF2B5EF4-FFF2-40B4-BE49-F238E27FC236}">
                <a16:creationId xmlns:a16="http://schemas.microsoft.com/office/drawing/2014/main" id="{74A36A0D-D3CA-E4F9-FC4C-DE60F0598FAF}"/>
              </a:ext>
            </a:extLst>
          </p:cNvPr>
          <p:cNvSpPr/>
          <p:nvPr/>
        </p:nvSpPr>
        <p:spPr>
          <a:xfrm>
            <a:off x="886791" y="5908334"/>
            <a:ext cx="6269967" cy="431156"/>
          </a:xfrm>
          <a:prstGeom prst="roundRect">
            <a:avLst>
              <a:gd name="adj" fmla="val 6522"/>
            </a:avLst>
          </a:prstGeom>
          <a:solidFill>
            <a:srgbClr val="EAD6CA"/>
          </a:solidFill>
          <a:ln w="12700">
            <a:solidFill>
              <a:srgbClr val="EAD6CA">
                <a:alpha val="0"/>
              </a:srgbClr>
            </a:solidFill>
            <a:prstDash val="solid"/>
          </a:ln>
        </p:spPr>
        <p:txBody>
          <a:bodyPr lIns="91440" tIns="45720" rIns="91440" bIns="45720" anchor="t"/>
          <a:lstStyle/>
          <a:p>
            <a:pPr marL="342900" indent="-342900">
              <a:buFont typeface="Arial"/>
              <a:buChar char="•"/>
            </a:pPr>
            <a:r>
              <a:rPr lang="en-US" sz="1500" b="1">
                <a:latin typeface="Poppins"/>
                <a:ea typeface="+mn-lt"/>
                <a:cs typeface="Poppins"/>
              </a:rPr>
              <a:t>If issue persists, do not sim swap -&gt; Escalate</a:t>
            </a:r>
            <a:endParaRPr lang="en-US">
              <a:latin typeface="Aptos" panose="020B0004020202020204"/>
              <a:ea typeface="+mn-lt"/>
              <a:cs typeface="Poppins"/>
            </a:endParaRPr>
          </a:p>
          <a:p>
            <a:endParaRPr lang="en-US" sz="1500" b="1">
              <a:latin typeface="Poppins"/>
              <a:ea typeface="+mn-lt"/>
              <a:cs typeface="Poppins"/>
            </a:endParaRPr>
          </a:p>
          <a:p>
            <a:pPr marL="285750" indent="-285750">
              <a:buFont typeface="Arial"/>
              <a:buChar char="•"/>
            </a:pPr>
            <a:endParaRPr lang="en-GB" sz="1500" b="1">
              <a:latin typeface="Poppins"/>
              <a:ea typeface="+mn-lt"/>
              <a:cs typeface="Poppins"/>
            </a:endParaRPr>
          </a:p>
        </p:txBody>
      </p:sp>
    </p:spTree>
    <p:extLst>
      <p:ext uri="{BB962C8B-B14F-4D97-AF65-F5344CB8AC3E}">
        <p14:creationId xmlns:p14="http://schemas.microsoft.com/office/powerpoint/2010/main" val="2231543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819CA-601F-ECDC-E8D2-E19DA981F27C}"/>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AEDDE4BF-95CB-1910-74A8-CC3B05167A03}"/>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cs typeface="Poppins"/>
              </a:rPr>
              <a:t>Network</a:t>
            </a:r>
          </a:p>
          <a:p>
            <a:r>
              <a:rPr lang="en-GB" sz="2000" b="1">
                <a:latin typeface="Poppins"/>
                <a:ea typeface="+mn-lt"/>
                <a:cs typeface="Poppins"/>
              </a:rPr>
              <a:t>Adult Content</a:t>
            </a:r>
            <a:endParaRPr lang="en-GB" sz="2000" b="1">
              <a:latin typeface="Poppins"/>
              <a:cs typeface="Poppins"/>
            </a:endParaRPr>
          </a:p>
        </p:txBody>
      </p:sp>
      <p:graphicFrame>
        <p:nvGraphicFramePr>
          <p:cNvPr id="7" name="Table 6">
            <a:extLst>
              <a:ext uri="{FF2B5EF4-FFF2-40B4-BE49-F238E27FC236}">
                <a16:creationId xmlns:a16="http://schemas.microsoft.com/office/drawing/2014/main" id="{E30B4AB0-C161-9186-94A0-3B79B5670393}"/>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22CD724F-FF95-C3B0-FBE2-A9B54AD30456}"/>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9666AA58-FB78-10EF-947B-22BA5DB44ACE}"/>
              </a:ext>
            </a:extLst>
          </p:cNvPr>
          <p:cNvGraphicFramePr>
            <a:graphicFrameLocks noGrp="1"/>
          </p:cNvGraphicFramePr>
          <p:nvPr>
            <p:extLst>
              <p:ext uri="{D42A27DB-BD31-4B8C-83A1-F6EECF244321}">
                <p14:modId xmlns:p14="http://schemas.microsoft.com/office/powerpoint/2010/main" val="3327180146"/>
              </p:ext>
            </p:extLst>
          </p:nvPr>
        </p:nvGraphicFramePr>
        <p:xfrm>
          <a:off x="1049547" y="208471"/>
          <a:ext cx="6913143" cy="5960912"/>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4204446">
                <a:tc>
                  <a:txBody>
                    <a:bodyPr/>
                    <a:lstStyle/>
                    <a:p>
                      <a:pPr lvl="0">
                        <a:buNone/>
                      </a:pPr>
                      <a:r>
                        <a:rPr lang="en-US" sz="1600" b="1" i="0" u="none" strike="noStrike" noProof="0">
                          <a:solidFill>
                            <a:srgbClr val="000000"/>
                          </a:solidFill>
                          <a:effectLst/>
                          <a:latin typeface="Poppins"/>
                          <a:cs typeface="Poppins"/>
                        </a:rPr>
                        <a:t>Things we check </a:t>
                      </a:r>
                      <a:endParaRPr lang="en-US" sz="1600" b="0" i="0" u="none" strike="noStrike" noProof="0">
                        <a:solidFill>
                          <a:srgbClr val="000000"/>
                        </a:solidFill>
                        <a:effectLst/>
                        <a:latin typeface="Poppins"/>
                        <a:cs typeface="Poppins"/>
                      </a:endParaRPr>
                    </a:p>
                    <a:p>
                      <a:pPr lvl="0">
                        <a:buNone/>
                      </a:pPr>
                      <a:r>
                        <a:rPr lang="en-US" sz="1000" b="0" i="1" u="none" strike="noStrike" noProof="0">
                          <a:solidFill>
                            <a:srgbClr val="000000"/>
                          </a:solidFill>
                          <a:effectLst/>
                          <a:latin typeface="Poppins"/>
                          <a:cs typeface="Poppins"/>
                        </a:rPr>
                        <a:t>ask the customer, check in the station, etc.</a:t>
                      </a:r>
                      <a:endParaRPr lang="en-US" sz="1500" b="1" i="0" u="none" strike="noStrike" noProof="0">
                        <a:effectLst/>
                        <a:latin typeface="Poppins"/>
                        <a:cs typeface="Poppins"/>
                      </a:endParaRPr>
                    </a:p>
                    <a:p>
                      <a:pPr marL="0" lvl="0" indent="0" algn="l">
                        <a:lnSpc>
                          <a:spcPct val="100000"/>
                        </a:lnSpc>
                        <a:spcBef>
                          <a:spcPts val="0"/>
                        </a:spcBef>
                        <a:spcAft>
                          <a:spcPts val="0"/>
                        </a:spcAft>
                        <a:buNone/>
                      </a:pPr>
                      <a:endParaRPr lang="en-US" sz="1800" b="0" i="0" u="none" strike="noStrike" noProof="0">
                        <a:latin typeface="Poppins"/>
                        <a:cs typeface="Poppins"/>
                      </a:endParaRPr>
                    </a:p>
                    <a:p>
                      <a:pPr marL="0" lvl="0" indent="0" algn="l">
                        <a:lnSpc>
                          <a:spcPct val="100000"/>
                        </a:lnSpc>
                        <a:spcBef>
                          <a:spcPts val="0"/>
                        </a:spcBef>
                        <a:spcAft>
                          <a:spcPts val="0"/>
                        </a:spcAft>
                        <a:buNone/>
                      </a:pPr>
                      <a:r>
                        <a:rPr lang="en-US" sz="1600" b="1" i="0" u="none" strike="noStrike" noProof="0">
                          <a:latin typeface="Poppins"/>
                          <a:cs typeface="Poppins"/>
                        </a:rPr>
                        <a:t>Positioning:</a:t>
                      </a:r>
                    </a:p>
                    <a:p>
                      <a:pPr lvl="0" algn="l">
                        <a:lnSpc>
                          <a:spcPct val="100000"/>
                        </a:lnSpc>
                        <a:spcBef>
                          <a:spcPts val="0"/>
                        </a:spcBef>
                        <a:spcAft>
                          <a:spcPts val="0"/>
                        </a:spcAft>
                        <a:buNone/>
                      </a:pPr>
                      <a:r>
                        <a:rPr lang="en-US" sz="1600" b="0" i="1" u="none" strike="noStrike" noProof="0">
                          <a:latin typeface="Poppins"/>
                          <a:cs typeface="Poppins"/>
                        </a:rPr>
                        <a:t>"Unfortunately, this is not a setting we can change or disable on your behalf.</a:t>
                      </a:r>
                      <a:endParaRPr lang="en-US" sz="1600" i="1">
                        <a:latin typeface="Poppins"/>
                        <a:cs typeface="Poppins"/>
                      </a:endParaRPr>
                    </a:p>
                    <a:p>
                      <a:pPr lvl="0" algn="l">
                        <a:lnSpc>
                          <a:spcPct val="100000"/>
                        </a:lnSpc>
                        <a:spcBef>
                          <a:spcPts val="0"/>
                        </a:spcBef>
                        <a:spcAft>
                          <a:spcPts val="0"/>
                        </a:spcAft>
                        <a:buNone/>
                      </a:pPr>
                      <a:r>
                        <a:rPr lang="en-US" sz="1600" b="0" i="1" u="none" strike="noStrike" noProof="0">
                          <a:latin typeface="Poppins"/>
                          <a:cs typeface="Poppins"/>
                        </a:rPr>
                        <a:t>To resolve this, kindly follow the steps below to turn off the Adult Content filter:"</a:t>
                      </a:r>
                      <a:endParaRPr lang="en-US" sz="1600" i="1">
                        <a:latin typeface="Poppins"/>
                        <a:cs typeface="Poppins"/>
                      </a:endParaRPr>
                    </a:p>
                    <a:p>
                      <a:pPr marL="285750" lvl="0" indent="-285750" algn="l">
                        <a:lnSpc>
                          <a:spcPct val="100000"/>
                        </a:lnSpc>
                        <a:spcBef>
                          <a:spcPts val="0"/>
                        </a:spcBef>
                        <a:spcAft>
                          <a:spcPts val="0"/>
                        </a:spcAft>
                        <a:buFont typeface="Arial"/>
                        <a:buChar char="•"/>
                      </a:pPr>
                      <a:r>
                        <a:rPr lang="en-US" sz="1600" b="0" i="0" u="none" strike="noStrike" noProof="0">
                          <a:latin typeface="Poppins"/>
                          <a:cs typeface="Poppins"/>
                        </a:rPr>
                        <a:t>Log in to your account</a:t>
                      </a:r>
                      <a:endParaRPr lang="en-US" sz="1600">
                        <a:latin typeface="Poppins"/>
                        <a:cs typeface="Poppins"/>
                      </a:endParaRPr>
                    </a:p>
                    <a:p>
                      <a:pPr marL="285750" lvl="0" indent="-285750" algn="l">
                        <a:lnSpc>
                          <a:spcPct val="100000"/>
                        </a:lnSpc>
                        <a:spcBef>
                          <a:spcPts val="0"/>
                        </a:spcBef>
                        <a:spcAft>
                          <a:spcPts val="0"/>
                        </a:spcAft>
                        <a:buFont typeface="Arial"/>
                        <a:buChar char="•"/>
                      </a:pPr>
                      <a:r>
                        <a:rPr lang="en-US" sz="1600" b="0" i="0" u="none" strike="noStrike" noProof="0">
                          <a:latin typeface="Poppins"/>
                          <a:cs typeface="Poppins"/>
                        </a:rPr>
                        <a:t>Go to My Account</a:t>
                      </a:r>
                      <a:endParaRPr lang="en-US" sz="1600">
                        <a:latin typeface="Poppins"/>
                        <a:cs typeface="Poppins"/>
                      </a:endParaRPr>
                    </a:p>
                    <a:p>
                      <a:pPr marL="285750" lvl="0" indent="-285750" algn="l">
                        <a:lnSpc>
                          <a:spcPct val="100000"/>
                        </a:lnSpc>
                        <a:spcBef>
                          <a:spcPts val="0"/>
                        </a:spcBef>
                        <a:spcAft>
                          <a:spcPts val="0"/>
                        </a:spcAft>
                        <a:buFont typeface="Arial"/>
                        <a:buChar char="•"/>
                      </a:pPr>
                      <a:r>
                        <a:rPr lang="en-US" sz="1600" b="0" i="0" u="none" strike="noStrike" noProof="0">
                          <a:latin typeface="Poppins"/>
                          <a:cs typeface="Poppins"/>
                        </a:rPr>
                        <a:t>Select Profile</a:t>
                      </a:r>
                      <a:endParaRPr lang="en-US" sz="1600">
                        <a:latin typeface="Poppins"/>
                        <a:cs typeface="Poppins"/>
                      </a:endParaRPr>
                    </a:p>
                    <a:p>
                      <a:pPr marL="285750" lvl="0" indent="-285750" algn="l">
                        <a:lnSpc>
                          <a:spcPct val="100000"/>
                        </a:lnSpc>
                        <a:spcBef>
                          <a:spcPts val="0"/>
                        </a:spcBef>
                        <a:spcAft>
                          <a:spcPts val="0"/>
                        </a:spcAft>
                        <a:buFont typeface="Arial"/>
                        <a:buChar char="•"/>
                      </a:pPr>
                      <a:r>
                        <a:rPr lang="en-US" sz="1600" b="0" i="0" u="none" strike="noStrike" noProof="0">
                          <a:latin typeface="Poppins"/>
                          <a:cs typeface="Poppins"/>
                        </a:rPr>
                        <a:t>Click on Manage Device</a:t>
                      </a:r>
                      <a:endParaRPr lang="en-US" sz="1600">
                        <a:latin typeface="Poppins"/>
                        <a:cs typeface="Poppins"/>
                      </a:endParaRPr>
                    </a:p>
                    <a:p>
                      <a:pPr marL="285750" lvl="0" indent="-285750" algn="l">
                        <a:lnSpc>
                          <a:spcPct val="100000"/>
                        </a:lnSpc>
                        <a:spcBef>
                          <a:spcPts val="0"/>
                        </a:spcBef>
                        <a:spcAft>
                          <a:spcPts val="0"/>
                        </a:spcAft>
                        <a:buFont typeface="Arial"/>
                        <a:buChar char="•"/>
                      </a:pPr>
                      <a:r>
                        <a:rPr lang="en-US" sz="1600" b="0" i="0" u="none" strike="noStrike" noProof="0">
                          <a:latin typeface="Poppins"/>
                          <a:cs typeface="Poppins"/>
                        </a:rPr>
                        <a:t>Go to My Plan</a:t>
                      </a:r>
                      <a:endParaRPr lang="en-US" sz="1600">
                        <a:latin typeface="Poppins"/>
                        <a:cs typeface="Poppins"/>
                      </a:endParaRPr>
                    </a:p>
                    <a:p>
                      <a:pPr marL="285750" lvl="0" indent="-285750" algn="l">
                        <a:lnSpc>
                          <a:spcPct val="100000"/>
                        </a:lnSpc>
                        <a:spcBef>
                          <a:spcPts val="0"/>
                        </a:spcBef>
                        <a:spcAft>
                          <a:spcPts val="0"/>
                        </a:spcAft>
                        <a:buFont typeface="Arial"/>
                        <a:buChar char="•"/>
                      </a:pPr>
                      <a:r>
                        <a:rPr lang="en-US" sz="1600" b="0" i="0" u="none" strike="noStrike" noProof="0">
                          <a:latin typeface="Poppins"/>
                          <a:cs typeface="Poppins"/>
                        </a:rPr>
                        <a:t>Toggle OFF the Adult Content Filter</a:t>
                      </a:r>
                      <a:endParaRPr lang="en-US" sz="1600">
                        <a:latin typeface="Poppins"/>
                        <a:cs typeface="Poppins"/>
                      </a:endParaRPr>
                    </a:p>
                    <a:p>
                      <a:pPr marL="285750" lvl="0" indent="-285750" algn="l">
                        <a:lnSpc>
                          <a:spcPct val="100000"/>
                        </a:lnSpc>
                        <a:spcBef>
                          <a:spcPts val="0"/>
                        </a:spcBef>
                        <a:spcAft>
                          <a:spcPts val="0"/>
                        </a:spcAft>
                        <a:buFont typeface="Arial"/>
                        <a:buChar char="•"/>
                      </a:pPr>
                      <a:r>
                        <a:rPr lang="en-US" sz="1600" b="0" i="0" u="none" strike="noStrike" noProof="0">
                          <a:latin typeface="Poppins"/>
                          <a:cs typeface="Poppins"/>
                        </a:rPr>
                        <a:t>Once you turn it off, a pop-up with a website link will appear. (Continue to next slide)</a:t>
                      </a:r>
                    </a:p>
                    <a:p>
                      <a:pPr marL="285750" lvl="0" indent="-285750" algn="l">
                        <a:lnSpc>
                          <a:spcPct val="100000"/>
                        </a:lnSpc>
                        <a:spcBef>
                          <a:spcPts val="0"/>
                        </a:spcBef>
                        <a:spcAft>
                          <a:spcPts val="0"/>
                        </a:spcAft>
                        <a:buClr>
                          <a:srgbClr val="000000"/>
                        </a:buClr>
                        <a:buFont typeface="Arial"/>
                        <a:buChar char="•"/>
                      </a:pPr>
                      <a:endParaRPr lang="en-US" sz="1500" b="0" i="0" u="none" strike="noStrike" noProof="0">
                        <a:effectLst/>
                        <a:latin typeface="Poppins"/>
                        <a:cs typeface="Poppins"/>
                      </a:endParaRPr>
                    </a:p>
                    <a:p>
                      <a:pPr marL="285750" lvl="0" indent="-285750" algn="l">
                        <a:lnSpc>
                          <a:spcPct val="100000"/>
                        </a:lnSpc>
                        <a:spcBef>
                          <a:spcPts val="0"/>
                        </a:spcBef>
                        <a:spcAft>
                          <a:spcPts val="0"/>
                        </a:spcAft>
                        <a:buClr>
                          <a:srgbClr val="000000"/>
                        </a:buClr>
                        <a:buFont typeface="Arial"/>
                        <a:buChar char="•"/>
                      </a:pPr>
                      <a:endParaRPr lang="en-US" sz="1500" b="0" i="0" u="none" strike="noStrike" noProof="0">
                        <a:effectLst/>
                        <a:latin typeface="Poppins"/>
                        <a:cs typeface="Poppins"/>
                      </a:endParaRPr>
                    </a:p>
                    <a:p>
                      <a:pPr marL="285750" lvl="0" indent="-285750" algn="l">
                        <a:lnSpc>
                          <a:spcPct val="100000"/>
                        </a:lnSpc>
                        <a:spcBef>
                          <a:spcPts val="0"/>
                        </a:spcBef>
                        <a:spcAft>
                          <a:spcPts val="0"/>
                        </a:spcAft>
                        <a:buClr>
                          <a:srgbClr val="000000"/>
                        </a:buClr>
                        <a:buFont typeface="Arial"/>
                        <a:buChar char="•"/>
                      </a:pPr>
                      <a:endParaRPr lang="en-US" sz="1500" b="0" i="0" u="none" strike="noStrike" noProof="0">
                        <a:effectLst/>
                        <a:latin typeface="Poppins"/>
                        <a:cs typeface="Poppins"/>
                      </a:endParaRPr>
                    </a:p>
                    <a:p>
                      <a:pPr marL="285750" lvl="0" indent="-285750" algn="l">
                        <a:lnSpc>
                          <a:spcPct val="100000"/>
                        </a:lnSpc>
                        <a:spcBef>
                          <a:spcPts val="0"/>
                        </a:spcBef>
                        <a:spcAft>
                          <a:spcPts val="0"/>
                        </a:spcAft>
                        <a:buClr>
                          <a:srgbClr val="000000"/>
                        </a:buClr>
                        <a:buFont typeface="Arial"/>
                        <a:buChar char="•"/>
                      </a:pPr>
                      <a:endParaRPr lang="en-US" sz="1500" b="0" i="0" u="none" strike="noStrike" noProof="0">
                        <a:effectLst/>
                        <a:latin typeface="Poppins"/>
                        <a:cs typeface="Poppins"/>
                      </a:endParaRPr>
                    </a:p>
                    <a:p>
                      <a:pPr marL="285750" lvl="0" indent="-285750" algn="l">
                        <a:lnSpc>
                          <a:spcPct val="100000"/>
                        </a:lnSpc>
                        <a:spcBef>
                          <a:spcPts val="0"/>
                        </a:spcBef>
                        <a:spcAft>
                          <a:spcPts val="0"/>
                        </a:spcAft>
                        <a:buClr>
                          <a:srgbClr val="000000"/>
                        </a:buClr>
                        <a:buFont typeface="Arial"/>
                        <a:buChar char="•"/>
                      </a:pPr>
                      <a:endParaRPr lang="en-US" sz="1500" b="0" i="0" u="none" strike="noStrike" noProof="0">
                        <a:effectLst/>
                        <a:latin typeface="Poppins"/>
                        <a:cs typeface="Poppins"/>
                      </a:endParaRPr>
                    </a:p>
                    <a:p>
                      <a:pPr marL="285750" lvl="0" indent="-285750" algn="l">
                        <a:lnSpc>
                          <a:spcPct val="100000"/>
                        </a:lnSpc>
                        <a:spcBef>
                          <a:spcPts val="0"/>
                        </a:spcBef>
                        <a:spcAft>
                          <a:spcPts val="0"/>
                        </a:spcAft>
                        <a:buClr>
                          <a:srgbClr val="000000"/>
                        </a:buClr>
                        <a:buFont typeface="Arial"/>
                        <a:buChar char="•"/>
                      </a:pPr>
                      <a:endParaRPr lang="en-US" sz="1500" b="0" i="0" u="none" strike="noStrike" noProof="0">
                        <a:effectLst/>
                        <a:latin typeface="Poppins"/>
                        <a:cs typeface="Poppins"/>
                      </a:endParaRPr>
                    </a:p>
                    <a:p>
                      <a:pPr marL="342900" lvl="0" indent="-342900" algn="l">
                        <a:lnSpc>
                          <a:spcPct val="100000"/>
                        </a:lnSpc>
                        <a:spcBef>
                          <a:spcPts val="0"/>
                        </a:spcBef>
                        <a:spcAft>
                          <a:spcPts val="0"/>
                        </a:spcAft>
                        <a:buFont typeface="Arial"/>
                        <a:buChar char="•"/>
                      </a:pPr>
                      <a:endParaRPr lang="en-US" sz="1600" b="0" i="0" u="none" strike="noStrike" noProof="0">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r h="413552">
                <a:tc>
                  <a:txBody>
                    <a:bodyPr/>
                    <a:lstStyle/>
                    <a:p>
                      <a:pPr marL="0" lvl="0" indent="0">
                        <a:buNone/>
                      </a:pPr>
                      <a:endParaRPr lang="en-US" sz="15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spTree>
    <p:extLst>
      <p:ext uri="{BB962C8B-B14F-4D97-AF65-F5344CB8AC3E}">
        <p14:creationId xmlns:p14="http://schemas.microsoft.com/office/powerpoint/2010/main" val="22461777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69354-A185-D09E-6879-A40B7615D221}"/>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F1DAF57C-5B6E-4352-96F4-875B8C932BBB}"/>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cs typeface="Poppins"/>
              </a:rPr>
              <a:t>Network</a:t>
            </a:r>
          </a:p>
          <a:p>
            <a:r>
              <a:rPr lang="en-GB" sz="2000" b="1">
                <a:latin typeface="Poppins"/>
                <a:ea typeface="+mn-lt"/>
                <a:cs typeface="Poppins"/>
              </a:rPr>
              <a:t>Adult Content</a:t>
            </a:r>
            <a:endParaRPr lang="en-GB" sz="2000" b="1">
              <a:latin typeface="Poppins"/>
              <a:cs typeface="Poppins"/>
            </a:endParaRPr>
          </a:p>
        </p:txBody>
      </p:sp>
      <p:graphicFrame>
        <p:nvGraphicFramePr>
          <p:cNvPr id="7" name="Table 6">
            <a:extLst>
              <a:ext uri="{FF2B5EF4-FFF2-40B4-BE49-F238E27FC236}">
                <a16:creationId xmlns:a16="http://schemas.microsoft.com/office/drawing/2014/main" id="{F58BCFEE-E2A2-36D4-5E54-C2CB4861490E}"/>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9382C1C8-C3C7-3B67-08B5-6D0913F1174A}"/>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17C18443-A972-0991-E96B-29D5AB70CA95}"/>
              </a:ext>
            </a:extLst>
          </p:cNvPr>
          <p:cNvGraphicFramePr>
            <a:graphicFrameLocks noGrp="1"/>
          </p:cNvGraphicFramePr>
          <p:nvPr>
            <p:extLst>
              <p:ext uri="{D42A27DB-BD31-4B8C-83A1-F6EECF244321}">
                <p14:modId xmlns:p14="http://schemas.microsoft.com/office/powerpoint/2010/main" val="815390262"/>
              </p:ext>
            </p:extLst>
          </p:nvPr>
        </p:nvGraphicFramePr>
        <p:xfrm>
          <a:off x="1049547" y="208471"/>
          <a:ext cx="6913143" cy="7269480"/>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3456665">
                <a:tc>
                  <a:txBody>
                    <a:bodyPr/>
                    <a:lstStyle/>
                    <a:p>
                      <a:pPr lvl="0">
                        <a:buNone/>
                      </a:pPr>
                      <a:r>
                        <a:rPr lang="en-US" sz="1600" b="1" i="0" u="none" strike="noStrike" noProof="0">
                          <a:solidFill>
                            <a:srgbClr val="000000"/>
                          </a:solidFill>
                          <a:effectLst/>
                          <a:latin typeface="Poppins"/>
                          <a:cs typeface="Poppins"/>
                        </a:rPr>
                        <a:t>Things we check </a:t>
                      </a:r>
                      <a:endParaRPr lang="en-US" sz="1600" b="0" i="0" u="none" strike="noStrike" noProof="0">
                        <a:solidFill>
                          <a:srgbClr val="000000"/>
                        </a:solidFill>
                        <a:effectLst/>
                        <a:latin typeface="Poppins"/>
                        <a:cs typeface="Poppins"/>
                      </a:endParaRPr>
                    </a:p>
                    <a:p>
                      <a:pPr lvl="0">
                        <a:buNone/>
                      </a:pPr>
                      <a:r>
                        <a:rPr lang="en-US" sz="1000" b="0" i="1" u="none" strike="noStrike" noProof="0">
                          <a:solidFill>
                            <a:srgbClr val="000000"/>
                          </a:solidFill>
                          <a:effectLst/>
                          <a:latin typeface="Poppins"/>
                          <a:cs typeface="Poppins"/>
                        </a:rPr>
                        <a:t>ask the customer, check in the station, etc.</a:t>
                      </a:r>
                      <a:endParaRPr lang="en-US" sz="1500" b="1" i="0" u="none" strike="noStrike" noProof="0">
                        <a:effectLst/>
                        <a:latin typeface="Poppins"/>
                        <a:cs typeface="Poppins"/>
                      </a:endParaRPr>
                    </a:p>
                    <a:p>
                      <a:pPr lvl="0" algn="l">
                        <a:lnSpc>
                          <a:spcPct val="100000"/>
                        </a:lnSpc>
                        <a:spcBef>
                          <a:spcPts val="0"/>
                        </a:spcBef>
                        <a:spcAft>
                          <a:spcPts val="0"/>
                        </a:spcAft>
                        <a:buNone/>
                      </a:pPr>
                      <a:endParaRPr lang="en-US" sz="1600" b="0" i="0" u="none" strike="noStrike" noProof="0">
                        <a:latin typeface="Poppins"/>
                        <a:cs typeface="Poppins"/>
                      </a:endParaRPr>
                    </a:p>
                    <a:p>
                      <a:pPr lvl="0" algn="l">
                        <a:lnSpc>
                          <a:spcPct val="100000"/>
                        </a:lnSpc>
                        <a:spcBef>
                          <a:spcPts val="0"/>
                        </a:spcBef>
                        <a:spcAft>
                          <a:spcPts val="0"/>
                        </a:spcAft>
                        <a:buNone/>
                      </a:pPr>
                      <a:r>
                        <a:rPr lang="en-US" sz="1600" b="1" i="0" u="none" strike="noStrike" noProof="0">
                          <a:latin typeface="Poppins"/>
                          <a:cs typeface="Poppins"/>
                        </a:rPr>
                        <a:t>Tap the link and follow the steps to complete verification:</a:t>
                      </a:r>
                      <a:endParaRPr lang="en-US" sz="1600" b="1">
                        <a:latin typeface="Poppins"/>
                        <a:cs typeface="Poppins"/>
                      </a:endParaRPr>
                    </a:p>
                    <a:p>
                      <a:pPr marL="285750" lvl="0" indent="-285750" algn="l">
                        <a:lnSpc>
                          <a:spcPct val="100000"/>
                        </a:lnSpc>
                        <a:spcBef>
                          <a:spcPts val="0"/>
                        </a:spcBef>
                        <a:spcAft>
                          <a:spcPts val="0"/>
                        </a:spcAft>
                        <a:buFont typeface="Arial"/>
                        <a:buChar char="•"/>
                      </a:pPr>
                      <a:r>
                        <a:rPr lang="en-US" sz="1600" b="0" i="0" u="none" strike="noStrike" noProof="0">
                          <a:latin typeface="Poppins"/>
                          <a:cs typeface="Poppins"/>
                        </a:rPr>
                        <a:t>Enter your details</a:t>
                      </a:r>
                      <a:endParaRPr lang="en-US" sz="1600">
                        <a:latin typeface="Poppins"/>
                        <a:cs typeface="Poppins"/>
                      </a:endParaRPr>
                    </a:p>
                    <a:p>
                      <a:pPr marL="285750" lvl="0" indent="-285750" algn="l">
                        <a:lnSpc>
                          <a:spcPct val="100000"/>
                        </a:lnSpc>
                        <a:spcBef>
                          <a:spcPts val="0"/>
                        </a:spcBef>
                        <a:spcAft>
                          <a:spcPts val="0"/>
                        </a:spcAft>
                        <a:buFont typeface="Arial"/>
                        <a:buChar char="•"/>
                      </a:pPr>
                      <a:r>
                        <a:rPr lang="en-US" sz="1600" b="0" i="0" u="none" strike="noStrike" noProof="0">
                          <a:latin typeface="Poppins"/>
                          <a:cs typeface="Poppins"/>
                        </a:rPr>
                        <a:t>Upload a valid ID for age verification</a:t>
                      </a:r>
                      <a:endParaRPr lang="en-US" sz="1600">
                        <a:latin typeface="Poppins"/>
                        <a:cs typeface="Poppins"/>
                      </a:endParaRPr>
                    </a:p>
                    <a:p>
                      <a:pPr marL="0" lvl="0" indent="0" algn="l">
                        <a:lnSpc>
                          <a:spcPct val="100000"/>
                        </a:lnSpc>
                        <a:spcBef>
                          <a:spcPts val="0"/>
                        </a:spcBef>
                        <a:spcAft>
                          <a:spcPts val="0"/>
                        </a:spcAft>
                        <a:buNone/>
                      </a:pPr>
                      <a:endParaRPr lang="en-US" sz="1600" b="0" i="0" u="none" strike="noStrike" noProof="0">
                        <a:latin typeface="Poppins"/>
                        <a:cs typeface="Poppins"/>
                      </a:endParaRPr>
                    </a:p>
                    <a:p>
                      <a:pPr marL="285750" lvl="0" indent="-285750" algn="l">
                        <a:lnSpc>
                          <a:spcPct val="100000"/>
                        </a:lnSpc>
                        <a:spcBef>
                          <a:spcPts val="0"/>
                        </a:spcBef>
                        <a:spcAft>
                          <a:spcPts val="0"/>
                        </a:spcAft>
                        <a:buFont typeface="Arial"/>
                        <a:buChar char="•"/>
                      </a:pPr>
                      <a:r>
                        <a:rPr lang="en-US" sz="1600" b="1" i="0" u="none" strike="noStrike" noProof="0">
                          <a:latin typeface="Poppins"/>
                          <a:cs typeface="Poppins"/>
                        </a:rPr>
                        <a:t>Note</a:t>
                      </a:r>
                      <a:r>
                        <a:rPr lang="en-US" sz="1600" b="0" i="0" u="none" strike="noStrike" noProof="0">
                          <a:latin typeface="Poppins"/>
                          <a:cs typeface="Poppins"/>
                        </a:rPr>
                        <a:t> that this verification is completed via the UK verification site and not through Loop.</a:t>
                      </a:r>
                      <a:endParaRPr lang="en-US" sz="1600">
                        <a:latin typeface="Poppins"/>
                        <a:cs typeface="Poppins"/>
                      </a:endParaRPr>
                    </a:p>
                    <a:p>
                      <a:pPr marL="285750" lvl="0" indent="-285750" algn="l">
                        <a:lnSpc>
                          <a:spcPct val="100000"/>
                        </a:lnSpc>
                        <a:spcBef>
                          <a:spcPts val="0"/>
                        </a:spcBef>
                        <a:spcAft>
                          <a:spcPts val="0"/>
                        </a:spcAft>
                        <a:buFont typeface="Arial"/>
                        <a:buChar char="•"/>
                      </a:pPr>
                      <a:r>
                        <a:rPr lang="en-US" sz="1600" b="0" i="0" u="none" strike="noStrike" noProof="0">
                          <a:latin typeface="Poppins"/>
                          <a:cs typeface="Poppins"/>
                        </a:rPr>
                        <a:t>After completing the process, customers must restart their phone to ensure the changes take effect.</a:t>
                      </a:r>
                      <a:endParaRPr lang="en-US" sz="1600">
                        <a:latin typeface="Poppins"/>
                        <a:cs typeface="Poppins"/>
                      </a:endParaRPr>
                    </a:p>
                    <a:p>
                      <a:pPr marL="285750" lvl="0" indent="-285750" algn="l">
                        <a:lnSpc>
                          <a:spcPct val="100000"/>
                        </a:lnSpc>
                        <a:spcBef>
                          <a:spcPts val="0"/>
                        </a:spcBef>
                        <a:spcAft>
                          <a:spcPts val="0"/>
                        </a:spcAft>
                        <a:buFont typeface="Arial"/>
                        <a:buChar char="•"/>
                      </a:pPr>
                      <a:r>
                        <a:rPr lang="en-US" sz="1600" b="0" i="0" u="none" strike="noStrike" noProof="0">
                          <a:latin typeface="Poppins"/>
                          <a:cs typeface="Poppins"/>
                        </a:rPr>
                        <a:t>Even if the Adult Content or parental filters are disabled, certain websites may still be blocked at the network level. These include sites hosting illegal content (such as those identified by the Internet Watch Foundation) and websites restricted under UK court orders (e.g., copyright-infringing or piracy sites). These restrictions are required by UK law and cannot be removed.</a:t>
                      </a:r>
                      <a:endParaRPr lang="en-US" sz="1600">
                        <a:latin typeface="Poppins"/>
                        <a:cs typeface="Poppins"/>
                      </a:endParaRPr>
                    </a:p>
                    <a:p>
                      <a:pPr marL="285750" lvl="0" indent="-285750" algn="l">
                        <a:lnSpc>
                          <a:spcPct val="100000"/>
                        </a:lnSpc>
                        <a:spcBef>
                          <a:spcPts val="0"/>
                        </a:spcBef>
                        <a:spcAft>
                          <a:spcPts val="0"/>
                        </a:spcAft>
                        <a:buFont typeface="Arial"/>
                        <a:buChar char="•"/>
                      </a:pPr>
                      <a:r>
                        <a:rPr lang="en-US" sz="1600" b="0" i="0" u="none" strike="noStrike" noProof="0">
                          <a:latin typeface="Poppins"/>
                          <a:cs typeface="Poppins"/>
                        </a:rPr>
                        <a:t>However, legal adult, gambling, dating, and other age-restricted websites should be accessible once the filter is turned off, unless they fall under legal blocking requirements.</a:t>
                      </a:r>
                      <a:endParaRPr lang="en-US" sz="1600">
                        <a:latin typeface="Poppins"/>
                        <a:cs typeface="Poppins"/>
                      </a:endParaRPr>
                    </a:p>
                    <a:p>
                      <a:pPr marL="285750" lvl="0" indent="-285750" algn="l">
                        <a:lnSpc>
                          <a:spcPct val="100000"/>
                        </a:lnSpc>
                        <a:spcBef>
                          <a:spcPts val="0"/>
                        </a:spcBef>
                        <a:spcAft>
                          <a:spcPts val="0"/>
                        </a:spcAft>
                        <a:buClr>
                          <a:srgbClr val="000000"/>
                        </a:buClr>
                        <a:buFont typeface="Arial"/>
                        <a:buChar char="•"/>
                      </a:pPr>
                      <a:endParaRPr lang="en-US" sz="1500" b="0" i="0" u="none" strike="noStrike" noProof="0">
                        <a:effectLst/>
                        <a:latin typeface="Poppins"/>
                        <a:cs typeface="Poppins"/>
                      </a:endParaRPr>
                    </a:p>
                    <a:p>
                      <a:pPr marL="285750" lvl="0" indent="-285750" algn="l">
                        <a:lnSpc>
                          <a:spcPct val="100000"/>
                        </a:lnSpc>
                        <a:spcBef>
                          <a:spcPts val="0"/>
                        </a:spcBef>
                        <a:spcAft>
                          <a:spcPts val="0"/>
                        </a:spcAft>
                        <a:buClr>
                          <a:srgbClr val="000000"/>
                        </a:buClr>
                        <a:buFont typeface="Arial"/>
                        <a:buChar char="•"/>
                      </a:pPr>
                      <a:endParaRPr lang="en-US" sz="1500" b="0" i="0" u="none" strike="noStrike" noProof="0">
                        <a:effectLst/>
                        <a:latin typeface="Poppins"/>
                        <a:cs typeface="Poppins"/>
                      </a:endParaRPr>
                    </a:p>
                    <a:p>
                      <a:pPr marL="285750" lvl="0" indent="-285750" algn="l">
                        <a:lnSpc>
                          <a:spcPct val="100000"/>
                        </a:lnSpc>
                        <a:spcBef>
                          <a:spcPts val="0"/>
                        </a:spcBef>
                        <a:spcAft>
                          <a:spcPts val="0"/>
                        </a:spcAft>
                        <a:buClr>
                          <a:srgbClr val="000000"/>
                        </a:buClr>
                        <a:buFont typeface="Arial"/>
                        <a:buChar char="•"/>
                      </a:pPr>
                      <a:endParaRPr lang="en-US" sz="1500" b="0" i="0" u="none" strike="noStrike" noProof="0">
                        <a:effectLst/>
                        <a:latin typeface="Poppins"/>
                        <a:cs typeface="Poppins"/>
                      </a:endParaRPr>
                    </a:p>
                    <a:p>
                      <a:pPr marL="285750" lvl="0" indent="-285750" algn="l">
                        <a:lnSpc>
                          <a:spcPct val="100000"/>
                        </a:lnSpc>
                        <a:spcBef>
                          <a:spcPts val="0"/>
                        </a:spcBef>
                        <a:spcAft>
                          <a:spcPts val="0"/>
                        </a:spcAft>
                        <a:buClr>
                          <a:srgbClr val="000000"/>
                        </a:buClr>
                        <a:buFont typeface="Arial"/>
                        <a:buChar char="•"/>
                      </a:pPr>
                      <a:endParaRPr lang="en-US" sz="1500" b="0" i="0" u="none" strike="noStrike" noProof="0">
                        <a:effectLst/>
                        <a:latin typeface="Poppins"/>
                        <a:cs typeface="Poppins"/>
                      </a:endParaRPr>
                    </a:p>
                    <a:p>
                      <a:pPr marL="285750" lvl="0" indent="-285750" algn="l">
                        <a:lnSpc>
                          <a:spcPct val="100000"/>
                        </a:lnSpc>
                        <a:spcBef>
                          <a:spcPts val="0"/>
                        </a:spcBef>
                        <a:spcAft>
                          <a:spcPts val="0"/>
                        </a:spcAft>
                        <a:buClr>
                          <a:srgbClr val="000000"/>
                        </a:buClr>
                        <a:buFont typeface="Arial"/>
                        <a:buChar char="•"/>
                      </a:pPr>
                      <a:endParaRPr lang="en-US" sz="1500" b="0" i="0" u="none" strike="noStrike" noProof="0">
                        <a:effectLst/>
                        <a:latin typeface="Poppins"/>
                        <a:cs typeface="Poppins"/>
                      </a:endParaRPr>
                    </a:p>
                    <a:p>
                      <a:pPr marL="285750" lvl="0" indent="-285750" algn="l">
                        <a:lnSpc>
                          <a:spcPct val="100000"/>
                        </a:lnSpc>
                        <a:spcBef>
                          <a:spcPts val="0"/>
                        </a:spcBef>
                        <a:spcAft>
                          <a:spcPts val="0"/>
                        </a:spcAft>
                        <a:buClr>
                          <a:srgbClr val="000000"/>
                        </a:buClr>
                        <a:buFont typeface="Arial"/>
                        <a:buChar char="•"/>
                      </a:pPr>
                      <a:endParaRPr lang="en-US" sz="1500" b="0" i="0" u="none" strike="noStrike" noProof="0">
                        <a:effectLst/>
                        <a:latin typeface="Poppins"/>
                        <a:cs typeface="Poppins"/>
                      </a:endParaRPr>
                    </a:p>
                    <a:p>
                      <a:pPr marL="285750" lvl="0" indent="-285750" algn="l">
                        <a:lnSpc>
                          <a:spcPct val="100000"/>
                        </a:lnSpc>
                        <a:spcBef>
                          <a:spcPts val="0"/>
                        </a:spcBef>
                        <a:spcAft>
                          <a:spcPts val="0"/>
                        </a:spcAft>
                        <a:buClr>
                          <a:srgbClr val="000000"/>
                        </a:buClr>
                        <a:buFont typeface="Arial"/>
                        <a:buChar char="•"/>
                      </a:pPr>
                      <a:endParaRPr lang="en-US" sz="1500" b="0" i="0" u="none" strike="noStrike" noProof="0">
                        <a:effectLst/>
                        <a:latin typeface="Poppins"/>
                        <a:cs typeface="Poppins"/>
                      </a:endParaRPr>
                    </a:p>
                    <a:p>
                      <a:pPr marL="285750" lvl="0" indent="-285750" algn="l">
                        <a:lnSpc>
                          <a:spcPct val="100000"/>
                        </a:lnSpc>
                        <a:spcBef>
                          <a:spcPts val="0"/>
                        </a:spcBef>
                        <a:spcAft>
                          <a:spcPts val="0"/>
                        </a:spcAft>
                        <a:buClr>
                          <a:srgbClr val="000000"/>
                        </a:buClr>
                        <a:buFont typeface="Arial"/>
                        <a:buChar char="•"/>
                      </a:pPr>
                      <a:endParaRPr lang="en-US" sz="1500" b="0" i="0" u="none" strike="noStrike" noProof="0">
                        <a:effectLst/>
                        <a:latin typeface="Poppins"/>
                        <a:cs typeface="Poppins"/>
                      </a:endParaRPr>
                    </a:p>
                    <a:p>
                      <a:pPr marL="342900" lvl="0" indent="-342900" algn="l">
                        <a:lnSpc>
                          <a:spcPct val="100000"/>
                        </a:lnSpc>
                        <a:spcBef>
                          <a:spcPts val="0"/>
                        </a:spcBef>
                        <a:spcAft>
                          <a:spcPts val="0"/>
                        </a:spcAft>
                        <a:buFont typeface="Arial"/>
                        <a:buChar char="•"/>
                      </a:pPr>
                      <a:endParaRPr lang="en-US" sz="1600" b="0" i="0" u="none" strike="noStrike" noProof="0">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r h="263152">
                <a:tc>
                  <a:txBody>
                    <a:bodyPr/>
                    <a:lstStyle/>
                    <a:p>
                      <a:pPr marL="0" lvl="0" indent="0">
                        <a:buNone/>
                      </a:pPr>
                      <a:endParaRPr lang="en-US" sz="15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spTree>
    <p:extLst>
      <p:ext uri="{BB962C8B-B14F-4D97-AF65-F5344CB8AC3E}">
        <p14:creationId xmlns:p14="http://schemas.microsoft.com/office/powerpoint/2010/main" val="37802445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04B5A-3B9E-25D6-003F-508DCCA0F269}"/>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BB43D5FF-C93C-EC64-DC59-FC7CDA5DADAC}"/>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cs typeface="Poppins"/>
              </a:rPr>
              <a:t>Network</a:t>
            </a:r>
          </a:p>
          <a:p>
            <a:r>
              <a:rPr lang="en-GB" sz="2000" b="1">
                <a:latin typeface="Poppins"/>
                <a:ea typeface="+mn-lt"/>
                <a:cs typeface="Poppins"/>
              </a:rPr>
              <a:t>How to reset network settings on an iPhone</a:t>
            </a:r>
            <a:endParaRPr lang="en-GB" sz="2000" b="1">
              <a:latin typeface="Poppins"/>
              <a:cs typeface="Poppins"/>
            </a:endParaRPr>
          </a:p>
          <a:p>
            <a:endParaRPr lang="en-GB" sz="2800" b="1">
              <a:latin typeface="Poppins"/>
              <a:cs typeface="Poppins"/>
            </a:endParaRPr>
          </a:p>
        </p:txBody>
      </p:sp>
      <p:graphicFrame>
        <p:nvGraphicFramePr>
          <p:cNvPr id="7" name="Table 6">
            <a:extLst>
              <a:ext uri="{FF2B5EF4-FFF2-40B4-BE49-F238E27FC236}">
                <a16:creationId xmlns:a16="http://schemas.microsoft.com/office/drawing/2014/main" id="{EBA04835-C82E-73EF-E5AB-6D0984C11027}"/>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EE447301-60B8-512E-3494-DF2CB573101D}"/>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9A471DAA-AAD1-66D2-13BC-EB60818698DC}"/>
              </a:ext>
            </a:extLst>
          </p:cNvPr>
          <p:cNvGraphicFramePr>
            <a:graphicFrameLocks noGrp="1"/>
          </p:cNvGraphicFramePr>
          <p:nvPr>
            <p:extLst>
              <p:ext uri="{D42A27DB-BD31-4B8C-83A1-F6EECF244321}">
                <p14:modId xmlns:p14="http://schemas.microsoft.com/office/powerpoint/2010/main" val="2778237016"/>
              </p:ext>
            </p:extLst>
          </p:nvPr>
        </p:nvGraphicFramePr>
        <p:xfrm>
          <a:off x="1049547" y="2311205"/>
          <a:ext cx="6913143" cy="3151099"/>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865099">
                <a:tc>
                  <a:txBody>
                    <a:bodyPr/>
                    <a:lstStyle/>
                    <a:p>
                      <a:pPr lvl="0">
                        <a:buNone/>
                      </a:pPr>
                      <a:r>
                        <a:rPr lang="en-US" sz="1600" b="1" i="0" u="none" strike="noStrike" noProof="0">
                          <a:solidFill>
                            <a:srgbClr val="000000"/>
                          </a:solidFill>
                          <a:effectLst/>
                          <a:latin typeface="Poppins"/>
                          <a:cs typeface="Poppins"/>
                        </a:rPr>
                        <a:t>Steps:</a:t>
                      </a:r>
                      <a:endParaRPr lang="en-US" sz="1600">
                        <a:latin typeface="Poppins"/>
                        <a:cs typeface="Poppins"/>
                      </a:endParaRPr>
                    </a:p>
                    <a:p>
                      <a:pPr lvl="0">
                        <a:buNone/>
                      </a:pPr>
                      <a:endParaRPr lang="en-US" sz="1600" b="1"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effectLst/>
                          <a:latin typeface="Poppins"/>
                          <a:cs typeface="Poppins"/>
                        </a:rPr>
                        <a:t>Go to Settings </a:t>
                      </a:r>
                    </a:p>
                    <a:p>
                      <a:pPr marL="342900" lvl="0" indent="-342900" algn="l">
                        <a:lnSpc>
                          <a:spcPct val="100000"/>
                        </a:lnSpc>
                        <a:spcBef>
                          <a:spcPts val="0"/>
                        </a:spcBef>
                        <a:spcAft>
                          <a:spcPts val="0"/>
                        </a:spcAft>
                        <a:buAutoNum type="arabicPeriod"/>
                      </a:pPr>
                      <a:r>
                        <a:rPr lang="en-US" sz="1600" b="0" i="0" u="none" strike="noStrike" noProof="0">
                          <a:effectLst/>
                          <a:latin typeface="Poppins"/>
                          <a:cs typeface="Poppins"/>
                        </a:rPr>
                        <a:t>General </a:t>
                      </a:r>
                    </a:p>
                    <a:p>
                      <a:pPr marL="342900" lvl="0" indent="-342900" algn="l">
                        <a:lnSpc>
                          <a:spcPct val="100000"/>
                        </a:lnSpc>
                        <a:spcBef>
                          <a:spcPts val="0"/>
                        </a:spcBef>
                        <a:spcAft>
                          <a:spcPts val="0"/>
                        </a:spcAft>
                        <a:buAutoNum type="arabicPeriod"/>
                      </a:pPr>
                      <a:r>
                        <a:rPr lang="en-US" sz="1600" b="0" i="0" u="none" strike="noStrike" noProof="0">
                          <a:effectLst/>
                          <a:latin typeface="Poppins"/>
                          <a:cs typeface="Poppins"/>
                        </a:rPr>
                        <a:t>Transfer or Reset iPhone </a:t>
                      </a:r>
                    </a:p>
                    <a:p>
                      <a:pPr marL="342900" lvl="0" indent="-342900" algn="l">
                        <a:lnSpc>
                          <a:spcPct val="100000"/>
                        </a:lnSpc>
                        <a:spcBef>
                          <a:spcPts val="0"/>
                        </a:spcBef>
                        <a:spcAft>
                          <a:spcPts val="0"/>
                        </a:spcAft>
                        <a:buAutoNum type="arabicPeriod"/>
                      </a:pPr>
                      <a:r>
                        <a:rPr lang="en-US" sz="1600" b="0" i="0" u="none" strike="noStrike" noProof="0">
                          <a:effectLst/>
                          <a:latin typeface="Poppins"/>
                          <a:cs typeface="Poppins"/>
                        </a:rPr>
                        <a:t>Reset </a:t>
                      </a:r>
                    </a:p>
                    <a:p>
                      <a:pPr marL="342900" lvl="0" indent="-342900" algn="l">
                        <a:lnSpc>
                          <a:spcPct val="100000"/>
                        </a:lnSpc>
                        <a:spcBef>
                          <a:spcPts val="0"/>
                        </a:spcBef>
                        <a:spcAft>
                          <a:spcPts val="0"/>
                        </a:spcAft>
                        <a:buAutoNum type="arabicPeriod"/>
                      </a:pPr>
                      <a:r>
                        <a:rPr lang="en-US" sz="1600" b="0" i="0" u="none" strike="noStrike" noProof="0">
                          <a:effectLst/>
                          <a:latin typeface="Poppins"/>
                          <a:cs typeface="Poppins"/>
                        </a:rPr>
                        <a:t>Reset Network Settings.</a:t>
                      </a:r>
                    </a:p>
                    <a:p>
                      <a:pPr marL="342900" lvl="0" indent="-342900" algn="l">
                        <a:lnSpc>
                          <a:spcPct val="100000"/>
                        </a:lnSpc>
                        <a:spcBef>
                          <a:spcPts val="0"/>
                        </a:spcBef>
                        <a:spcAft>
                          <a:spcPts val="0"/>
                        </a:spcAft>
                        <a:buAutoNum type="arabicPeriod"/>
                      </a:pPr>
                      <a:endParaRPr lang="en-US" sz="1600" b="0" i="0" u="none" strike="noStrike" noProof="0">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r h="865099">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spTree>
    <p:extLst>
      <p:ext uri="{BB962C8B-B14F-4D97-AF65-F5344CB8AC3E}">
        <p14:creationId xmlns:p14="http://schemas.microsoft.com/office/powerpoint/2010/main" val="27761621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778FA-E803-A8B6-98F9-E5F58F73656C}"/>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2F4E1427-62A2-DA65-9AA4-CDCA3BEB66E9}"/>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cs typeface="Poppins"/>
              </a:rPr>
              <a:t>Network</a:t>
            </a:r>
          </a:p>
          <a:p>
            <a:r>
              <a:rPr lang="en-GB" sz="2000" b="1">
                <a:latin typeface="Poppins"/>
                <a:ea typeface="+mn-lt"/>
                <a:cs typeface="Poppins"/>
              </a:rPr>
              <a:t>Steps to Manually Connect Vodafone UK e-SIM</a:t>
            </a:r>
            <a:endParaRPr lang="en-GB" sz="2000" b="1" err="1">
              <a:latin typeface="Poppins"/>
              <a:cs typeface="Poppins"/>
            </a:endParaRPr>
          </a:p>
          <a:p>
            <a:endParaRPr lang="en-GB" sz="2800" b="1">
              <a:latin typeface="Poppins"/>
              <a:cs typeface="Poppins"/>
            </a:endParaRPr>
          </a:p>
        </p:txBody>
      </p:sp>
      <p:graphicFrame>
        <p:nvGraphicFramePr>
          <p:cNvPr id="7" name="Table 6">
            <a:extLst>
              <a:ext uri="{FF2B5EF4-FFF2-40B4-BE49-F238E27FC236}">
                <a16:creationId xmlns:a16="http://schemas.microsoft.com/office/drawing/2014/main" id="{7DD91C93-B8A9-0918-523B-53A5692A1943}"/>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8A19D533-06E8-0EC3-4F0B-1CA66F25A4B9}"/>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055B1BDC-B645-D6C3-0599-1139728D1FB0}"/>
              </a:ext>
            </a:extLst>
          </p:cNvPr>
          <p:cNvGraphicFramePr>
            <a:graphicFrameLocks noGrp="1"/>
          </p:cNvGraphicFramePr>
          <p:nvPr>
            <p:extLst>
              <p:ext uri="{D42A27DB-BD31-4B8C-83A1-F6EECF244321}">
                <p14:modId xmlns:p14="http://schemas.microsoft.com/office/powerpoint/2010/main" val="2816633909"/>
              </p:ext>
            </p:extLst>
          </p:nvPr>
        </p:nvGraphicFramePr>
        <p:xfrm>
          <a:off x="1126712" y="1799990"/>
          <a:ext cx="6913143" cy="4159338"/>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1407791">
                <a:tc>
                  <a:txBody>
                    <a:bodyPr/>
                    <a:lstStyle/>
                    <a:p>
                      <a:pPr lvl="0">
                        <a:buNone/>
                      </a:pPr>
                      <a:r>
                        <a:rPr lang="en-US" sz="1600" b="1" i="0" u="none" strike="noStrike" noProof="0">
                          <a:solidFill>
                            <a:srgbClr val="000000"/>
                          </a:solidFill>
                          <a:effectLst/>
                          <a:latin typeface="Poppins"/>
                          <a:cs typeface="Poppins"/>
                        </a:rPr>
                        <a:t>Things we check </a:t>
                      </a:r>
                      <a:endParaRPr lang="en-US" sz="1600" b="0" i="0" u="none" strike="noStrike" noProof="0">
                        <a:solidFill>
                          <a:srgbClr val="000000"/>
                        </a:solidFill>
                        <a:effectLst/>
                        <a:latin typeface="Poppins"/>
                        <a:cs typeface="Poppins"/>
                      </a:endParaRPr>
                    </a:p>
                    <a:p>
                      <a:pPr lvl="0">
                        <a:buNone/>
                      </a:pPr>
                      <a:r>
                        <a:rPr lang="en-US" sz="1600" b="0" i="1" u="none" strike="noStrike" noProof="0">
                          <a:solidFill>
                            <a:srgbClr val="000000"/>
                          </a:solidFill>
                          <a:effectLst/>
                          <a:latin typeface="Poppins"/>
                          <a:cs typeface="Poppins"/>
                        </a:rPr>
                        <a:t>ask the customer, check in the station, etc.</a:t>
                      </a:r>
                      <a:endParaRPr lang="en-US" sz="1600">
                        <a:latin typeface="Poppins"/>
                        <a:cs typeface="Poppins"/>
                      </a:endParaRPr>
                    </a:p>
                    <a:p>
                      <a:pPr marL="285750" lvl="0" indent="-285750" algn="l">
                        <a:lnSpc>
                          <a:spcPct val="100000"/>
                        </a:lnSpc>
                        <a:spcBef>
                          <a:spcPts val="0"/>
                        </a:spcBef>
                        <a:spcAft>
                          <a:spcPts val="0"/>
                        </a:spcAft>
                        <a:buFont typeface="Arial"/>
                        <a:buChar char="•"/>
                      </a:pPr>
                      <a:r>
                        <a:rPr lang="en-US" sz="1600" b="0" i="0" u="none" strike="noStrike" noProof="0">
                          <a:effectLst/>
                          <a:latin typeface="Poppins"/>
                          <a:cs typeface="Poppins"/>
                        </a:rPr>
                        <a:t>Confirm e-SIM is fully deleted from the old phone </a:t>
                      </a:r>
                      <a:endParaRPr lang="en-US" sz="1600">
                        <a:latin typeface="Poppins"/>
                        <a:cs typeface="Poppins"/>
                      </a:endParaRPr>
                    </a:p>
                    <a:p>
                      <a:pPr marL="285750" lvl="0" indent="-285750" algn="l">
                        <a:lnSpc>
                          <a:spcPct val="100000"/>
                        </a:lnSpc>
                        <a:spcBef>
                          <a:spcPts val="0"/>
                        </a:spcBef>
                        <a:spcAft>
                          <a:spcPts val="0"/>
                        </a:spcAft>
                        <a:buFont typeface="Arial"/>
                        <a:buChar char="•"/>
                      </a:pPr>
                      <a:r>
                        <a:rPr lang="en-US" sz="1600" b="0" i="0" u="none" strike="noStrike" noProof="0">
                          <a:effectLst/>
                          <a:latin typeface="Poppins"/>
                          <a:cs typeface="Poppins"/>
                        </a:rPr>
                        <a:t>Ask where the customer bought the phone (within the UK?)</a:t>
                      </a:r>
                      <a:endParaRPr lang="en-US" sz="1600">
                        <a:latin typeface="Poppins"/>
                        <a:cs typeface="Poppins"/>
                      </a:endParaRPr>
                    </a:p>
                    <a:p>
                      <a:pPr marL="285750" lvl="0" indent="-285750" algn="l">
                        <a:lnSpc>
                          <a:spcPct val="100000"/>
                        </a:lnSpc>
                        <a:spcBef>
                          <a:spcPts val="0"/>
                        </a:spcBef>
                        <a:spcAft>
                          <a:spcPts val="0"/>
                        </a:spcAft>
                        <a:buFont typeface="Arial"/>
                        <a:buChar char="•"/>
                      </a:pPr>
                      <a:r>
                        <a:rPr lang="en-US" sz="1600" b="0" i="0" u="none" strike="noStrike" noProof="0">
                          <a:effectLst/>
                          <a:latin typeface="Poppins"/>
                          <a:cs typeface="Poppins"/>
                        </a:rPr>
                        <a:t>Check if the device supports e-SIM </a:t>
                      </a:r>
                      <a:endParaRPr lang="en-US" sz="1600">
                        <a:latin typeface="Poppins"/>
                        <a:cs typeface="Poppins"/>
                      </a:endParaRPr>
                    </a:p>
                    <a:p>
                      <a:pPr marL="742950" lvl="1" indent="-285750" algn="l">
                        <a:lnSpc>
                          <a:spcPct val="100000"/>
                        </a:lnSpc>
                        <a:spcBef>
                          <a:spcPts val="0"/>
                        </a:spcBef>
                        <a:spcAft>
                          <a:spcPts val="0"/>
                        </a:spcAft>
                        <a:buFont typeface="Courier New"/>
                        <a:buChar char="o"/>
                      </a:pPr>
                      <a:r>
                        <a:rPr lang="en-US" sz="1600" b="0" i="0" u="none" strike="noStrike" noProof="0">
                          <a:latin typeface="Poppins"/>
                          <a:cs typeface="Poppins"/>
                        </a:rPr>
                        <a:t>Get the Make and model of the phone and ask google or go to gsmarena.com and check if the phone supports e-SIM</a:t>
                      </a:r>
                    </a:p>
                    <a:p>
                      <a:pPr marL="285750" lvl="0" indent="-285750" algn="l">
                        <a:lnSpc>
                          <a:spcPct val="100000"/>
                        </a:lnSpc>
                        <a:spcBef>
                          <a:spcPts val="0"/>
                        </a:spcBef>
                        <a:spcAft>
                          <a:spcPts val="0"/>
                        </a:spcAft>
                        <a:buFont typeface="Arial"/>
                        <a:buChar char="•"/>
                      </a:pPr>
                      <a:r>
                        <a:rPr lang="en-US" sz="1600" b="0" i="0" u="none" strike="noStrike" noProof="0">
                          <a:effectLst/>
                          <a:latin typeface="Poppins"/>
                          <a:cs typeface="Poppins"/>
                        </a:rPr>
                        <a:t>Verify if e-SIM is allocated</a:t>
                      </a:r>
                      <a:endParaRPr lang="en-US" sz="1600">
                        <a:latin typeface="Poppins"/>
                        <a:cs typeface="Poppins"/>
                      </a:endParaRPr>
                    </a:p>
                    <a:p>
                      <a:pPr marL="342900" lvl="0" indent="-342900" algn="l">
                        <a:lnSpc>
                          <a:spcPct val="100000"/>
                        </a:lnSpc>
                        <a:spcBef>
                          <a:spcPts val="0"/>
                        </a:spcBef>
                        <a:spcAft>
                          <a:spcPts val="0"/>
                        </a:spcAft>
                        <a:buFont typeface="Arial"/>
                        <a:buChar char="•"/>
                      </a:pPr>
                      <a:endParaRPr lang="en-US" sz="1600" b="0" i="0" u="none" strike="noStrike" noProof="0">
                        <a:effectLst/>
                        <a:latin typeface="Poppins"/>
                        <a:cs typeface="Poppins"/>
                      </a:endParaRPr>
                    </a:p>
                    <a:p>
                      <a:pPr marL="342900" lvl="0" indent="-342900" algn="l">
                        <a:lnSpc>
                          <a:spcPct val="100000"/>
                        </a:lnSpc>
                        <a:spcBef>
                          <a:spcPts val="0"/>
                        </a:spcBef>
                        <a:spcAft>
                          <a:spcPts val="0"/>
                        </a:spcAft>
                        <a:buFont typeface="Arial"/>
                        <a:buChar char="•"/>
                      </a:pPr>
                      <a:endParaRPr lang="en-US" sz="1600" b="0" i="0" u="none" strike="noStrike" noProof="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r h="1385658">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spTree>
    <p:extLst>
      <p:ext uri="{BB962C8B-B14F-4D97-AF65-F5344CB8AC3E}">
        <p14:creationId xmlns:p14="http://schemas.microsoft.com/office/powerpoint/2010/main" val="35340106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CF42B-D1B2-1159-4F45-DEE569BD63CB}"/>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81C848D7-9E14-B28C-B8CB-228FA1F82EB8}"/>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cs typeface="Poppins"/>
              </a:rPr>
              <a:t>Network</a:t>
            </a:r>
          </a:p>
          <a:p>
            <a:r>
              <a:rPr lang="en-GB" sz="2000" b="1">
                <a:latin typeface="Poppins"/>
                <a:ea typeface="+mn-lt"/>
                <a:cs typeface="Poppins"/>
              </a:rPr>
              <a:t>Use a 3rd party SIM on loop </a:t>
            </a:r>
            <a:endParaRPr lang="en-GB" sz="2000" b="1">
              <a:latin typeface="Poppins"/>
              <a:cs typeface="Poppins"/>
            </a:endParaRPr>
          </a:p>
          <a:p>
            <a:endParaRPr lang="en-GB" sz="2800" b="1">
              <a:latin typeface="Poppins"/>
              <a:cs typeface="Poppins"/>
            </a:endParaRPr>
          </a:p>
        </p:txBody>
      </p:sp>
      <p:graphicFrame>
        <p:nvGraphicFramePr>
          <p:cNvPr id="7" name="Table 6">
            <a:extLst>
              <a:ext uri="{FF2B5EF4-FFF2-40B4-BE49-F238E27FC236}">
                <a16:creationId xmlns:a16="http://schemas.microsoft.com/office/drawing/2014/main" id="{85CCFE86-5B06-DD70-DC92-B5080E6E64F3}"/>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5187F09D-9A03-6A52-D24C-79C27FF79867}"/>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3505982C-C0F6-8BBC-B9E9-B51B2D71BEAC}"/>
              </a:ext>
            </a:extLst>
          </p:cNvPr>
          <p:cNvGraphicFramePr>
            <a:graphicFrameLocks noGrp="1"/>
          </p:cNvGraphicFramePr>
          <p:nvPr>
            <p:extLst>
              <p:ext uri="{D42A27DB-BD31-4B8C-83A1-F6EECF244321}">
                <p14:modId xmlns:p14="http://schemas.microsoft.com/office/powerpoint/2010/main" val="2054234982"/>
              </p:ext>
            </p:extLst>
          </p:nvPr>
        </p:nvGraphicFramePr>
        <p:xfrm>
          <a:off x="1049547" y="710041"/>
          <a:ext cx="6913143" cy="5684500"/>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2834897">
                <a:tc>
                  <a:txBody>
                    <a:bodyPr/>
                    <a:lstStyle/>
                    <a:p>
                      <a:pPr lvl="0">
                        <a:buNone/>
                      </a:pPr>
                      <a:r>
                        <a:rPr lang="en-US" sz="1600" b="1" i="0" u="none" strike="noStrike" noProof="0">
                          <a:solidFill>
                            <a:srgbClr val="000000"/>
                          </a:solidFill>
                          <a:effectLst/>
                          <a:latin typeface="Poppins"/>
                          <a:cs typeface="Poppins"/>
                        </a:rPr>
                        <a:t>Things we check </a:t>
                      </a:r>
                      <a:endParaRPr lang="en-US" sz="1600" b="0" i="0" u="none" strike="noStrike" noProof="0">
                        <a:solidFill>
                          <a:srgbClr val="000000"/>
                        </a:solidFill>
                        <a:effectLst/>
                        <a:latin typeface="Poppins"/>
                        <a:cs typeface="Poppins"/>
                      </a:endParaRPr>
                    </a:p>
                    <a:p>
                      <a:pPr lvl="0">
                        <a:buNone/>
                      </a:pPr>
                      <a:r>
                        <a:rPr lang="en-US" sz="1000" b="0" i="1" u="none" strike="noStrike" noProof="0">
                          <a:solidFill>
                            <a:srgbClr val="000000"/>
                          </a:solidFill>
                          <a:effectLst/>
                          <a:latin typeface="Poppins"/>
                          <a:cs typeface="Poppins"/>
                        </a:rPr>
                        <a:t>ask the customer, check in the station, etc.</a:t>
                      </a:r>
                      <a:endParaRPr lang="en-US" sz="1000">
                        <a:latin typeface="Poppins"/>
                        <a:cs typeface="Poppins"/>
                      </a:endParaRPr>
                    </a:p>
                    <a:p>
                      <a:pPr marL="0" lvl="0" indent="0" algn="l">
                        <a:lnSpc>
                          <a:spcPct val="100000"/>
                        </a:lnSpc>
                        <a:spcBef>
                          <a:spcPts val="0"/>
                        </a:spcBef>
                        <a:spcAft>
                          <a:spcPts val="0"/>
                        </a:spcAft>
                        <a:buNone/>
                      </a:pPr>
                      <a:r>
                        <a:rPr lang="en-US" sz="1600" b="1" i="0" u="none" strike="noStrike" noProof="0">
                          <a:effectLst/>
                          <a:latin typeface="Poppins"/>
                          <a:cs typeface="Poppins"/>
                        </a:rPr>
                        <a:t>Process to Follow (Customer Side)</a:t>
                      </a:r>
                      <a:endParaRPr lang="en-US" sz="1600" b="1">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effectLst/>
                          <a:latin typeface="Poppins"/>
                          <a:cs typeface="Poppins"/>
                        </a:rPr>
                        <a:t>Ask the customer to get the following from their previous provider:</a:t>
                      </a:r>
                      <a:endParaRPr lang="en-US" sz="1600">
                        <a:latin typeface="Poppins"/>
                        <a:cs typeface="Poppins"/>
                      </a:endParaRPr>
                    </a:p>
                    <a:p>
                      <a:pPr marL="800100" lvl="1" indent="-342900" algn="l">
                        <a:lnSpc>
                          <a:spcPct val="100000"/>
                        </a:lnSpc>
                        <a:spcBef>
                          <a:spcPts val="0"/>
                        </a:spcBef>
                        <a:spcAft>
                          <a:spcPts val="0"/>
                        </a:spcAft>
                        <a:buFont typeface="Courier New"/>
                        <a:buChar char="o"/>
                      </a:pPr>
                      <a:r>
                        <a:rPr lang="en-US" sz="1600" b="0" i="0" u="none" strike="noStrike" noProof="0">
                          <a:effectLst/>
                          <a:latin typeface="Poppins"/>
                          <a:cs typeface="Poppins"/>
                        </a:rPr>
                        <a:t>E-SIM QR Code or LPA (activation code)</a:t>
                      </a:r>
                      <a:endParaRPr lang="en-US" sz="1600">
                        <a:latin typeface="Poppins"/>
                        <a:cs typeface="Poppins"/>
                      </a:endParaRPr>
                    </a:p>
                    <a:p>
                      <a:pPr marL="800100" lvl="1" indent="-342900" algn="l">
                        <a:lnSpc>
                          <a:spcPct val="100000"/>
                        </a:lnSpc>
                        <a:spcBef>
                          <a:spcPts val="0"/>
                        </a:spcBef>
                        <a:spcAft>
                          <a:spcPts val="0"/>
                        </a:spcAft>
                        <a:buFont typeface="Courier New"/>
                        <a:buChar char="o"/>
                      </a:pPr>
                      <a:r>
                        <a:rPr lang="en-US" sz="1600" b="0" i="0" u="none" strike="noStrike" noProof="0">
                          <a:effectLst/>
                          <a:latin typeface="Poppins"/>
                          <a:cs typeface="Poppins"/>
                        </a:rPr>
                        <a:t>ICCID of loop</a:t>
                      </a:r>
                    </a:p>
                    <a:p>
                      <a:pPr marL="342900" lvl="0" indent="-342900" algn="l">
                        <a:lnSpc>
                          <a:spcPct val="100000"/>
                        </a:lnSpc>
                        <a:spcBef>
                          <a:spcPts val="0"/>
                        </a:spcBef>
                        <a:spcAft>
                          <a:spcPts val="0"/>
                        </a:spcAft>
                        <a:buAutoNum type="arabicPeriod"/>
                      </a:pPr>
                      <a:r>
                        <a:rPr lang="en-US" sz="1600" b="0" i="0" u="none" strike="noStrike" noProof="0">
                          <a:effectLst/>
                          <a:latin typeface="Poppins"/>
                          <a:cs typeface="Poppins"/>
                        </a:rPr>
                        <a:t>Instruct the customer to send these details to:</a:t>
                      </a:r>
                      <a:endParaRPr lang="en-US" sz="1600">
                        <a:latin typeface="Poppins"/>
                        <a:cs typeface="Poppins"/>
                      </a:endParaRPr>
                    </a:p>
                    <a:p>
                      <a:pPr marL="800100" lvl="1" indent="-342900" algn="l">
                        <a:lnSpc>
                          <a:spcPct val="100000"/>
                        </a:lnSpc>
                        <a:spcBef>
                          <a:spcPts val="0"/>
                        </a:spcBef>
                        <a:spcAft>
                          <a:spcPts val="0"/>
                        </a:spcAft>
                        <a:buFont typeface="Courier New"/>
                        <a:buChar char="o"/>
                      </a:pPr>
                      <a:r>
                        <a:rPr lang="en-US" sz="1600" b="0" i="0" u="none" strike="noStrike" noProof="0">
                          <a:effectLst/>
                          <a:latin typeface="Poppins"/>
                          <a:cs typeface="Poppins"/>
                          <a:hlinkClick r:id="rId2"/>
                        </a:rPr>
                        <a:t>support@loopdl.co.uk</a:t>
                      </a:r>
                      <a:endParaRPr lang="en-US" sz="1600" b="1">
                        <a:latin typeface="Poppins"/>
                        <a:cs typeface="Poppins"/>
                      </a:endParaRPr>
                    </a:p>
                    <a:p>
                      <a:pPr marL="0" lvl="0" indent="0" algn="l">
                        <a:lnSpc>
                          <a:spcPct val="100000"/>
                        </a:lnSpc>
                        <a:spcBef>
                          <a:spcPts val="0"/>
                        </a:spcBef>
                        <a:spcAft>
                          <a:spcPts val="0"/>
                        </a:spcAft>
                        <a:buNone/>
                      </a:pPr>
                      <a:endParaRPr lang="en-US" sz="1600" b="1" i="0" u="none" strike="noStrike" noProof="0">
                        <a:effectLst/>
                        <a:latin typeface="Poppins"/>
                        <a:cs typeface="Poppins"/>
                      </a:endParaRPr>
                    </a:p>
                    <a:p>
                      <a:pPr marL="0" lvl="0" indent="0" algn="l">
                        <a:lnSpc>
                          <a:spcPct val="100000"/>
                        </a:lnSpc>
                        <a:spcBef>
                          <a:spcPts val="0"/>
                        </a:spcBef>
                        <a:spcAft>
                          <a:spcPts val="0"/>
                        </a:spcAft>
                        <a:buNone/>
                      </a:pPr>
                      <a:r>
                        <a:rPr lang="en-US" sz="1600" b="1" i="0" u="none" strike="noStrike" noProof="0">
                          <a:effectLst/>
                          <a:latin typeface="Poppins"/>
                          <a:cs typeface="Poppins"/>
                        </a:rPr>
                        <a:t>Process on </a:t>
                      </a:r>
                      <a:r>
                        <a:rPr lang="en-US" sz="1600" b="1" i="0" u="none" strike="noStrike" noProof="0" err="1">
                          <a:effectLst/>
                          <a:latin typeface="Poppins"/>
                          <a:cs typeface="Poppins"/>
                        </a:rPr>
                        <a:t>theStation</a:t>
                      </a:r>
                      <a:r>
                        <a:rPr lang="en-US" sz="1600" b="1" i="0" u="none" strike="noStrike" noProof="0">
                          <a:effectLst/>
                          <a:latin typeface="Poppins"/>
                          <a:cs typeface="Poppins"/>
                        </a:rPr>
                        <a:t> (Agent Side)</a:t>
                      </a:r>
                      <a:endParaRPr lang="en-US" sz="1600" b="1">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effectLst/>
                          <a:latin typeface="Poppins"/>
                          <a:cs typeface="Poppins"/>
                        </a:rPr>
                        <a:t>Find the customer and their device on </a:t>
                      </a:r>
                      <a:r>
                        <a:rPr lang="en-US" sz="1600" b="0" i="0" u="none" strike="noStrike" noProof="0" err="1">
                          <a:effectLst/>
                          <a:latin typeface="Poppins"/>
                          <a:cs typeface="Poppins"/>
                        </a:rPr>
                        <a:t>theStation</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effectLst/>
                          <a:latin typeface="Poppins"/>
                          <a:cs typeface="Poppins"/>
                        </a:rPr>
                        <a:t>Go to Action Station &gt; Device &gt; Add e-SIM</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effectLst/>
                          <a:latin typeface="Poppins"/>
                          <a:cs typeface="Poppins"/>
                        </a:rPr>
                        <a:t>Copy and paste the e-SIM code (LPA)</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effectLst/>
                          <a:latin typeface="Poppins"/>
                          <a:cs typeface="Poppins"/>
                        </a:rPr>
                        <a:t>Click Add e-SIM</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effectLst/>
                          <a:latin typeface="Poppins"/>
                          <a:cs typeface="Poppins"/>
                        </a:rPr>
                        <a:t>Monitor the SIM status to confirm successful installation</a:t>
                      </a:r>
                      <a:endParaRPr lang="en-US" sz="1600">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r h="1783060">
                <a:tc>
                  <a:txBody>
                    <a:bodyPr/>
                    <a:lstStyle/>
                    <a:p>
                      <a:pPr marL="0" lvl="0" indent="0">
                        <a:buNone/>
                      </a:pPr>
                      <a:endParaRPr lang="en-US" sz="1600">
                        <a:effectLst/>
                        <a:latin typeface="Poppins"/>
                        <a:cs typeface="Poppins"/>
                      </a:endParaRPr>
                    </a:p>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sp>
        <p:nvSpPr>
          <p:cNvPr id="3" name="Shape 6">
            <a:extLst>
              <a:ext uri="{FF2B5EF4-FFF2-40B4-BE49-F238E27FC236}">
                <a16:creationId xmlns:a16="http://schemas.microsoft.com/office/drawing/2014/main" id="{47ACCD02-57BE-E888-E9C3-1D730C7B9C2C}"/>
              </a:ext>
            </a:extLst>
          </p:cNvPr>
          <p:cNvSpPr/>
          <p:nvPr/>
        </p:nvSpPr>
        <p:spPr>
          <a:xfrm>
            <a:off x="1187687" y="4906120"/>
            <a:ext cx="6629401" cy="832660"/>
          </a:xfrm>
          <a:prstGeom prst="roundRect">
            <a:avLst>
              <a:gd name="adj" fmla="val 6522"/>
            </a:avLst>
          </a:prstGeom>
          <a:solidFill>
            <a:srgbClr val="EAD6CA"/>
          </a:solidFill>
          <a:ln w="12700">
            <a:solidFill>
              <a:srgbClr val="EAD6CA">
                <a:alpha val="0"/>
              </a:srgbClr>
            </a:solidFill>
            <a:prstDash val="solid"/>
          </a:ln>
        </p:spPr>
        <p:txBody>
          <a:bodyPr lIns="91440" tIns="45720" rIns="91440" bIns="45720" anchor="t"/>
          <a:lstStyle/>
          <a:p>
            <a:r>
              <a:rPr lang="en-GB" sz="1600" b="1">
                <a:latin typeface="Poppins"/>
                <a:cs typeface="Poppins"/>
              </a:rPr>
              <a:t>Make sure to add the  LPA</a:t>
            </a:r>
            <a:endParaRPr lang="en-US"/>
          </a:p>
          <a:p>
            <a:endParaRPr lang="en-GB" sz="1600" b="1">
              <a:latin typeface="Poppins"/>
              <a:cs typeface="Poppins"/>
            </a:endParaRPr>
          </a:p>
          <a:p>
            <a:r>
              <a:rPr lang="en-GB" sz="1600" b="1">
                <a:latin typeface="Poppins"/>
                <a:cs typeface="Poppins"/>
              </a:rPr>
              <a:t>Eg. "LPA: </a:t>
            </a:r>
            <a:r>
              <a:rPr lang="en-GB" sz="1600" b="1" err="1">
                <a:latin typeface="Poppins"/>
                <a:cs typeface="Poppins"/>
              </a:rPr>
              <a:t>abcd</a:t>
            </a:r>
            <a:r>
              <a:rPr lang="en-GB" sz="1600" b="1">
                <a:latin typeface="Poppins"/>
                <a:cs typeface="Poppins"/>
              </a:rPr>
              <a:t>"</a:t>
            </a:r>
            <a:endParaRPr lang="en-GB"/>
          </a:p>
        </p:txBody>
      </p:sp>
    </p:spTree>
    <p:extLst>
      <p:ext uri="{BB962C8B-B14F-4D97-AF65-F5344CB8AC3E}">
        <p14:creationId xmlns:p14="http://schemas.microsoft.com/office/powerpoint/2010/main" val="17316373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778FA-E803-A8B6-98F9-E5F58F73656C}"/>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2F4E1427-62A2-DA65-9AA4-CDCA3BEB66E9}"/>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cs typeface="Poppins"/>
              </a:rPr>
              <a:t>Network</a:t>
            </a:r>
          </a:p>
          <a:p>
            <a:r>
              <a:rPr lang="en-GB" sz="2000" b="1">
                <a:latin typeface="Poppins"/>
                <a:ea typeface="+mn-lt"/>
                <a:cs typeface="Poppins"/>
              </a:rPr>
              <a:t>Sim Card Expired</a:t>
            </a:r>
            <a:endParaRPr lang="en-GB" b="1">
              <a:latin typeface="Poppins"/>
              <a:cs typeface="Poppins"/>
            </a:endParaRPr>
          </a:p>
          <a:p>
            <a:endParaRPr lang="en-GB" sz="2800" b="1">
              <a:latin typeface="Poppins"/>
              <a:cs typeface="Poppins"/>
            </a:endParaRPr>
          </a:p>
        </p:txBody>
      </p:sp>
      <p:graphicFrame>
        <p:nvGraphicFramePr>
          <p:cNvPr id="7" name="Table 6">
            <a:extLst>
              <a:ext uri="{FF2B5EF4-FFF2-40B4-BE49-F238E27FC236}">
                <a16:creationId xmlns:a16="http://schemas.microsoft.com/office/drawing/2014/main" id="{7DD91C93-B8A9-0918-523B-53A5692A1943}"/>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8A19D533-06E8-0EC3-4F0B-1CA66F25A4B9}"/>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055B1BDC-B645-D6C3-0599-1139728D1FB0}"/>
              </a:ext>
            </a:extLst>
          </p:cNvPr>
          <p:cNvGraphicFramePr>
            <a:graphicFrameLocks noGrp="1"/>
          </p:cNvGraphicFramePr>
          <p:nvPr>
            <p:extLst>
              <p:ext uri="{D42A27DB-BD31-4B8C-83A1-F6EECF244321}">
                <p14:modId xmlns:p14="http://schemas.microsoft.com/office/powerpoint/2010/main" val="3386189015"/>
              </p:ext>
            </p:extLst>
          </p:nvPr>
        </p:nvGraphicFramePr>
        <p:xfrm>
          <a:off x="1049547" y="382091"/>
          <a:ext cx="6913143" cy="6051669"/>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4429343">
                <a:tc>
                  <a:txBody>
                    <a:bodyPr/>
                    <a:lstStyle/>
                    <a:p>
                      <a:pPr lvl="0">
                        <a:buNone/>
                      </a:pPr>
                      <a:r>
                        <a:rPr lang="en-US" sz="1600" b="1" i="0" u="none" strike="noStrike" noProof="0">
                          <a:solidFill>
                            <a:srgbClr val="000000"/>
                          </a:solidFill>
                          <a:effectLst/>
                          <a:latin typeface="Poppins"/>
                          <a:cs typeface="Poppins"/>
                        </a:rPr>
                        <a:t>Things we check </a:t>
                      </a:r>
                      <a:endParaRPr lang="en-US" sz="1600" b="0" i="0" u="none" strike="noStrike" noProof="0">
                        <a:solidFill>
                          <a:srgbClr val="000000"/>
                        </a:solidFill>
                        <a:effectLst/>
                        <a:latin typeface="Poppins"/>
                        <a:cs typeface="Poppins"/>
                      </a:endParaRPr>
                    </a:p>
                    <a:p>
                      <a:pPr lvl="0">
                        <a:buNone/>
                      </a:pPr>
                      <a:r>
                        <a:rPr lang="en-US" sz="1000" b="0" i="1" u="none" strike="noStrike" noProof="0">
                          <a:solidFill>
                            <a:srgbClr val="000000"/>
                          </a:solidFill>
                          <a:effectLst/>
                          <a:latin typeface="Poppins"/>
                          <a:cs typeface="Poppins"/>
                        </a:rPr>
                        <a:t>ask the customer, check in the station, etc.</a:t>
                      </a:r>
                      <a:endParaRPr lang="en-US" sz="1000">
                        <a:latin typeface="Poppins"/>
                        <a:cs typeface="Poppins"/>
                      </a:endParaRPr>
                    </a:p>
                    <a:p>
                      <a:pPr marL="342900" lvl="0" indent="-342900" algn="l">
                        <a:lnSpc>
                          <a:spcPct val="100000"/>
                        </a:lnSpc>
                        <a:spcBef>
                          <a:spcPts val="0"/>
                        </a:spcBef>
                        <a:spcAft>
                          <a:spcPts val="0"/>
                        </a:spcAft>
                        <a:buAutoNum type="arabicPeriod"/>
                      </a:pPr>
                      <a:r>
                        <a:rPr lang="en-US" sz="1400" b="0" i="0" u="none" strike="noStrike" noProof="0">
                          <a:effectLst/>
                          <a:latin typeface="Poppins"/>
                          <a:cs typeface="Poppins"/>
                        </a:rPr>
                        <a:t>Initial Checks</a:t>
                      </a:r>
                      <a:endParaRPr lang="en-US" sz="1400">
                        <a:latin typeface="Poppins"/>
                        <a:cs typeface="Poppins"/>
                      </a:endParaRPr>
                    </a:p>
                    <a:p>
                      <a:pPr marL="342900" lvl="0" indent="-342900" algn="l">
                        <a:lnSpc>
                          <a:spcPct val="100000"/>
                        </a:lnSpc>
                        <a:spcBef>
                          <a:spcPts val="0"/>
                        </a:spcBef>
                        <a:spcAft>
                          <a:spcPts val="0"/>
                        </a:spcAft>
                        <a:buAutoNum type="arabicPeriod"/>
                      </a:pPr>
                      <a:r>
                        <a:rPr lang="en-US" sz="1400" b="0" i="0" u="none" strike="noStrike" noProof="0">
                          <a:effectLst/>
                          <a:latin typeface="Poppins"/>
                          <a:cs typeface="Poppins"/>
                        </a:rPr>
                        <a:t>Verify e-SIM Support - Ensure your specific phone model supports e-SIM.</a:t>
                      </a:r>
                      <a:endParaRPr lang="en-US" sz="1400">
                        <a:latin typeface="Poppins"/>
                        <a:cs typeface="Poppins"/>
                      </a:endParaRPr>
                    </a:p>
                    <a:p>
                      <a:pPr marL="342900" lvl="0" indent="-342900" algn="l">
                        <a:lnSpc>
                          <a:spcPct val="100000"/>
                        </a:lnSpc>
                        <a:spcBef>
                          <a:spcPts val="0"/>
                        </a:spcBef>
                        <a:spcAft>
                          <a:spcPts val="0"/>
                        </a:spcAft>
                        <a:buAutoNum type="arabicPeriod"/>
                      </a:pPr>
                      <a:r>
                        <a:rPr lang="en-US" sz="1400" b="0" i="0" u="none" strike="noStrike" noProof="0">
                          <a:effectLst/>
                          <a:latin typeface="Poppins"/>
                          <a:cs typeface="Poppins"/>
                        </a:rPr>
                        <a:t>While many modern rugged phones do, some regional variants may not.</a:t>
                      </a:r>
                      <a:endParaRPr lang="en-US" sz="1400">
                        <a:latin typeface="Poppins"/>
                        <a:cs typeface="Poppins"/>
                      </a:endParaRPr>
                    </a:p>
                    <a:p>
                      <a:pPr marL="342900" lvl="0" indent="-342900" algn="l">
                        <a:lnSpc>
                          <a:spcPct val="100000"/>
                        </a:lnSpc>
                        <a:spcBef>
                          <a:spcPts val="0"/>
                        </a:spcBef>
                        <a:spcAft>
                          <a:spcPts val="0"/>
                        </a:spcAft>
                        <a:buAutoNum type="arabicPeriod"/>
                      </a:pPr>
                      <a:r>
                        <a:rPr lang="en-US" sz="1400" b="0" i="0" u="none" strike="noStrike" noProof="0">
                          <a:effectLst/>
                          <a:latin typeface="Poppins"/>
                          <a:cs typeface="Poppins"/>
                        </a:rPr>
                        <a:t>Check by going to Settings &gt; About Phone and looking for an EID number.</a:t>
                      </a:r>
                      <a:endParaRPr lang="en-US" sz="1400">
                        <a:latin typeface="Poppins"/>
                        <a:cs typeface="Poppins"/>
                      </a:endParaRPr>
                    </a:p>
                    <a:p>
                      <a:pPr marL="342900" lvl="0" indent="-342900" algn="l">
                        <a:lnSpc>
                          <a:spcPct val="100000"/>
                        </a:lnSpc>
                        <a:spcBef>
                          <a:spcPts val="0"/>
                        </a:spcBef>
                        <a:spcAft>
                          <a:spcPts val="0"/>
                        </a:spcAft>
                        <a:buAutoNum type="arabicPeriod"/>
                      </a:pPr>
                      <a:r>
                        <a:rPr lang="en-US" sz="1400" b="0" i="0" u="none" strike="noStrike" noProof="0">
                          <a:effectLst/>
                          <a:latin typeface="Poppins"/>
                          <a:cs typeface="Poppins"/>
                        </a:rPr>
                        <a:t>Stable Internet: A strong WI-FI connection is required to download the e-SIM profile.</a:t>
                      </a:r>
                      <a:endParaRPr lang="en-US" sz="1400">
                        <a:latin typeface="Poppins"/>
                        <a:cs typeface="Poppins"/>
                      </a:endParaRPr>
                    </a:p>
                    <a:p>
                      <a:pPr marL="342900" lvl="0" indent="-342900" algn="l">
                        <a:lnSpc>
                          <a:spcPct val="100000"/>
                        </a:lnSpc>
                        <a:spcBef>
                          <a:spcPts val="0"/>
                        </a:spcBef>
                        <a:spcAft>
                          <a:spcPts val="0"/>
                        </a:spcAft>
                        <a:buAutoNum type="arabicPeriod"/>
                      </a:pPr>
                      <a:r>
                        <a:rPr lang="en-US" sz="1400" b="0" i="0" u="none" strike="noStrike" noProof="0">
                          <a:effectLst/>
                          <a:latin typeface="Poppins"/>
                          <a:cs typeface="Poppins"/>
                        </a:rPr>
                        <a:t>Switch off mobile data and ensure WI-FI is stable.</a:t>
                      </a:r>
                      <a:endParaRPr lang="en-US" sz="1400">
                        <a:latin typeface="Poppins"/>
                        <a:cs typeface="Poppins"/>
                      </a:endParaRPr>
                    </a:p>
                    <a:p>
                      <a:pPr marL="342900" lvl="0" indent="-342900" algn="l">
                        <a:lnSpc>
                          <a:spcPct val="100000"/>
                        </a:lnSpc>
                        <a:spcBef>
                          <a:spcPts val="0"/>
                        </a:spcBef>
                        <a:spcAft>
                          <a:spcPts val="0"/>
                        </a:spcAft>
                        <a:buAutoNum type="arabicPeriod"/>
                      </a:pPr>
                      <a:r>
                        <a:rPr lang="en-US" sz="1400" b="0" i="0" u="none" strike="noStrike" noProof="0">
                          <a:effectLst/>
                          <a:latin typeface="Poppins"/>
                          <a:cs typeface="Poppins"/>
                        </a:rPr>
                        <a:t>Remove VPNs: Disable any active VPNs, as they can block the activation server.</a:t>
                      </a:r>
                    </a:p>
                    <a:p>
                      <a:pPr marL="342900" lvl="0" indent="-342900" algn="l">
                        <a:lnSpc>
                          <a:spcPct val="100000"/>
                        </a:lnSpc>
                        <a:spcBef>
                          <a:spcPts val="0"/>
                        </a:spcBef>
                        <a:spcAft>
                          <a:spcPts val="0"/>
                        </a:spcAft>
                        <a:buAutoNum type="arabicPeriod"/>
                      </a:pPr>
                      <a:endParaRPr lang="en-US" sz="1400" b="0" i="0" u="none" strike="noStrike" noProof="0">
                        <a:effectLst/>
                        <a:latin typeface="Poppins"/>
                        <a:cs typeface="Poppins"/>
                      </a:endParaRPr>
                    </a:p>
                    <a:p>
                      <a:pPr lvl="0" algn="l">
                        <a:lnSpc>
                          <a:spcPct val="100000"/>
                        </a:lnSpc>
                        <a:spcBef>
                          <a:spcPts val="0"/>
                        </a:spcBef>
                        <a:spcAft>
                          <a:spcPts val="0"/>
                        </a:spcAft>
                        <a:buNone/>
                      </a:pPr>
                      <a:r>
                        <a:rPr lang="en-US" sz="1600" b="1" i="0" u="none" strike="noStrike" noProof="0">
                          <a:effectLst/>
                          <a:latin typeface="Poppins"/>
                          <a:cs typeface="Poppins"/>
                        </a:rPr>
                        <a:t>Troubleshooting Installation</a:t>
                      </a:r>
                      <a:endParaRPr lang="en-US" sz="1600" b="1">
                        <a:latin typeface="Poppins"/>
                        <a:cs typeface="Poppins"/>
                      </a:endParaRPr>
                    </a:p>
                    <a:p>
                      <a:pPr marL="342900" lvl="0" indent="-342900" algn="l">
                        <a:lnSpc>
                          <a:spcPct val="100000"/>
                        </a:lnSpc>
                        <a:spcBef>
                          <a:spcPts val="0"/>
                        </a:spcBef>
                        <a:spcAft>
                          <a:spcPts val="0"/>
                        </a:spcAft>
                        <a:buAutoNum type="arabicPeriod"/>
                      </a:pPr>
                      <a:r>
                        <a:rPr lang="en-US" sz="1400" b="0" i="0" u="none" strike="noStrike" noProof="0">
                          <a:effectLst/>
                          <a:latin typeface="Poppins"/>
                          <a:cs typeface="Poppins"/>
                        </a:rPr>
                        <a:t>Use Manual Entry: If the QR code fails, use the manual activation details(SM-DP+ Address or activation string, Activation Code) provided by your carrier.</a:t>
                      </a:r>
                      <a:endParaRPr lang="en-US" sz="1400">
                        <a:latin typeface="Poppins"/>
                        <a:cs typeface="Poppins"/>
                      </a:endParaRPr>
                    </a:p>
                    <a:p>
                      <a:pPr marL="342900" lvl="0" indent="-342900" algn="l">
                        <a:lnSpc>
                          <a:spcPct val="100000"/>
                        </a:lnSpc>
                        <a:spcBef>
                          <a:spcPts val="0"/>
                        </a:spcBef>
                        <a:spcAft>
                          <a:spcPts val="0"/>
                        </a:spcAft>
                        <a:buAutoNum type="arabicPeriod"/>
                      </a:pPr>
                      <a:r>
                        <a:rPr lang="en-US" sz="1400" b="0" i="0" u="none" strike="noStrike" noProof="0">
                          <a:effectLst/>
                          <a:latin typeface="Poppins"/>
                          <a:cs typeface="Poppins"/>
                        </a:rPr>
                        <a:t>Restart and Retry: A simple restart can fix stuck </a:t>
                      </a:r>
                      <a:r>
                        <a:rPr lang="en-US" sz="1400" b="0" i="0" u="none" strike="noStrike" noProof="0" err="1">
                          <a:effectLst/>
                          <a:latin typeface="Poppins"/>
                          <a:cs typeface="Poppins"/>
                        </a:rPr>
                        <a:t>Äctivating</a:t>
                      </a:r>
                      <a:r>
                        <a:rPr lang="en-US" sz="1400" b="0" i="0" u="none" strike="noStrike" noProof="0">
                          <a:effectLst/>
                          <a:latin typeface="Poppins"/>
                          <a:cs typeface="Poppins"/>
                        </a:rPr>
                        <a:t>...""prompts.</a:t>
                      </a:r>
                      <a:endParaRPr lang="en-US" sz="1400">
                        <a:latin typeface="Poppins"/>
                        <a:cs typeface="Poppins"/>
                      </a:endParaRPr>
                    </a:p>
                    <a:p>
                      <a:pPr marL="342900" lvl="0" indent="-342900" algn="l">
                        <a:lnSpc>
                          <a:spcPct val="100000"/>
                        </a:lnSpc>
                        <a:spcBef>
                          <a:spcPts val="0"/>
                        </a:spcBef>
                        <a:spcAft>
                          <a:spcPts val="0"/>
                        </a:spcAft>
                        <a:buAutoNum type="arabicPeriod"/>
                      </a:pPr>
                      <a:r>
                        <a:rPr lang="en-US" sz="1400" b="0" i="0" u="none" strike="noStrike" noProof="0">
                          <a:effectLst/>
                          <a:latin typeface="Poppins"/>
                          <a:cs typeface="Poppins"/>
                        </a:rPr>
                        <a:t>Check for Software updates: Go to Settings &gt; System &gt; System Update to ensure the phone has the latest software.</a:t>
                      </a:r>
                      <a:endParaRPr lang="en-US" sz="1400">
                        <a:latin typeface="Poppins"/>
                        <a:cs typeface="Poppins"/>
                      </a:endParaRPr>
                    </a:p>
                    <a:p>
                      <a:pPr marL="342900" lvl="0" indent="-342900" algn="l">
                        <a:lnSpc>
                          <a:spcPct val="100000"/>
                        </a:lnSpc>
                        <a:spcBef>
                          <a:spcPts val="0"/>
                        </a:spcBef>
                        <a:spcAft>
                          <a:spcPts val="0"/>
                        </a:spcAft>
                        <a:buAutoNum type="arabicPeriod"/>
                      </a:pPr>
                      <a:r>
                        <a:rPr lang="en-US" sz="1400" b="0" i="0" u="none" strike="noStrike" noProof="0">
                          <a:effectLst/>
                          <a:latin typeface="Poppins"/>
                          <a:cs typeface="Poppins"/>
                        </a:rPr>
                        <a:t>Reset Network Settings: Go to Settings &gt; System &gt; Reset options &gt; Reset WI-FI, mobile a&amp; Bluetooth. This can clear corrupted network data.</a:t>
                      </a:r>
                      <a:endParaRPr lang="en-US" sz="1400">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r h="839589">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spTree>
    <p:extLst>
      <p:ext uri="{BB962C8B-B14F-4D97-AF65-F5344CB8AC3E}">
        <p14:creationId xmlns:p14="http://schemas.microsoft.com/office/powerpoint/2010/main" val="29431632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21B3F-DF98-2BA6-F5AF-25AA92494E40}"/>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6C392BFA-0507-FE2D-2541-20FCD8E247C0}"/>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cs typeface="Poppins"/>
              </a:rPr>
              <a:t>Network</a:t>
            </a:r>
          </a:p>
          <a:p>
            <a:r>
              <a:rPr lang="en-GB" sz="2000" b="1">
                <a:latin typeface="Poppins"/>
                <a:ea typeface="+mn-lt"/>
                <a:cs typeface="Poppins"/>
              </a:rPr>
              <a:t>Sim Card Expired</a:t>
            </a:r>
            <a:endParaRPr lang="en-GB" b="1">
              <a:latin typeface="Poppins"/>
              <a:cs typeface="Poppins"/>
            </a:endParaRPr>
          </a:p>
          <a:p>
            <a:endParaRPr lang="en-GB" sz="2800" b="1">
              <a:latin typeface="Poppins"/>
              <a:cs typeface="Poppins"/>
            </a:endParaRPr>
          </a:p>
        </p:txBody>
      </p:sp>
      <p:graphicFrame>
        <p:nvGraphicFramePr>
          <p:cNvPr id="7" name="Table 6">
            <a:extLst>
              <a:ext uri="{FF2B5EF4-FFF2-40B4-BE49-F238E27FC236}">
                <a16:creationId xmlns:a16="http://schemas.microsoft.com/office/drawing/2014/main" id="{3C841F1A-E2BF-067E-9E2D-86B113DE177D}"/>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1DAFB810-3B24-D3DE-4B57-7A023DC3E14B}"/>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8AB1C8A4-9DCE-CDE4-B9A7-ADA89D2852D5}"/>
              </a:ext>
            </a:extLst>
          </p:cNvPr>
          <p:cNvGraphicFramePr>
            <a:graphicFrameLocks noGrp="1"/>
          </p:cNvGraphicFramePr>
          <p:nvPr>
            <p:extLst>
              <p:ext uri="{D42A27DB-BD31-4B8C-83A1-F6EECF244321}">
                <p14:modId xmlns:p14="http://schemas.microsoft.com/office/powerpoint/2010/main" val="4104699213"/>
              </p:ext>
            </p:extLst>
          </p:nvPr>
        </p:nvGraphicFramePr>
        <p:xfrm>
          <a:off x="789117" y="874015"/>
          <a:ext cx="6913143" cy="5176345"/>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2014241">
                <a:tc>
                  <a:txBody>
                    <a:bodyPr/>
                    <a:lstStyle/>
                    <a:p>
                      <a:pPr lvl="0" algn="l">
                        <a:lnSpc>
                          <a:spcPct val="100000"/>
                        </a:lnSpc>
                        <a:spcBef>
                          <a:spcPts val="0"/>
                        </a:spcBef>
                        <a:spcAft>
                          <a:spcPts val="0"/>
                        </a:spcAft>
                        <a:buNone/>
                      </a:pPr>
                      <a:r>
                        <a:rPr lang="en-US" sz="1600" b="1" i="0" u="none" strike="noStrike" noProof="0">
                          <a:effectLst/>
                          <a:latin typeface="Poppins"/>
                          <a:cs typeface="Poppins"/>
                        </a:rPr>
                        <a:t>Troubleshooting Installation</a:t>
                      </a:r>
                      <a:endParaRPr lang="en-US" sz="1600" b="1">
                        <a:latin typeface="Poppins"/>
                        <a:cs typeface="Poppins"/>
                      </a:endParaRPr>
                    </a:p>
                    <a:p>
                      <a:pPr lvl="0" algn="l">
                        <a:lnSpc>
                          <a:spcPct val="100000"/>
                        </a:lnSpc>
                        <a:spcBef>
                          <a:spcPts val="0"/>
                        </a:spcBef>
                        <a:spcAft>
                          <a:spcPts val="0"/>
                        </a:spcAft>
                        <a:buNone/>
                      </a:pPr>
                      <a:endParaRPr lang="en-US" sz="1600">
                        <a:latin typeface="Poppins"/>
                        <a:cs typeface="Poppins"/>
                      </a:endParaRPr>
                    </a:p>
                    <a:p>
                      <a:pPr lvl="0" algn="l">
                        <a:lnSpc>
                          <a:spcPct val="100000"/>
                        </a:lnSpc>
                        <a:spcBef>
                          <a:spcPts val="0"/>
                        </a:spcBef>
                        <a:spcAft>
                          <a:spcPts val="0"/>
                        </a:spcAft>
                        <a:buNone/>
                      </a:pPr>
                      <a:r>
                        <a:rPr lang="en-US" sz="1600" b="1" i="0" u="none" strike="noStrike" noProof="0">
                          <a:effectLst/>
                          <a:latin typeface="Poppins"/>
                          <a:cs typeface="Poppins"/>
                        </a:rPr>
                        <a:t>Activating the </a:t>
                      </a:r>
                      <a:r>
                        <a:rPr lang="en-US" sz="1600" b="1" i="0" u="none" strike="noStrike" noProof="0" err="1">
                          <a:effectLst/>
                          <a:latin typeface="Poppins"/>
                          <a:cs typeface="Poppins"/>
                        </a:rPr>
                        <a:t>eSIM</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effectLst/>
                          <a:latin typeface="Poppins"/>
                          <a:cs typeface="Poppins"/>
                        </a:rPr>
                        <a:t>Enable Data Roaming: If you are using a travel e-SIM, you must enable data roaming in the settings for that specific e-SIM profile.</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effectLst/>
                          <a:latin typeface="Poppins"/>
                          <a:cs typeface="Poppins"/>
                        </a:rPr>
                        <a:t>Toggle </a:t>
                      </a:r>
                      <a:r>
                        <a:rPr lang="en-US" sz="1600" b="1" i="0" u="none" strike="noStrike" noProof="0">
                          <a:effectLst/>
                          <a:latin typeface="Poppins"/>
                          <a:cs typeface="Poppins"/>
                        </a:rPr>
                        <a:t>Airplane Mode</a:t>
                      </a:r>
                      <a:r>
                        <a:rPr lang="en-US" sz="1600" b="0" i="0" u="none" strike="noStrike" noProof="0">
                          <a:effectLst/>
                          <a:latin typeface="Poppins"/>
                          <a:cs typeface="Poppins"/>
                        </a:rPr>
                        <a:t>: </a:t>
                      </a:r>
                      <a:endParaRPr lang="en-US" sz="1600">
                        <a:latin typeface="Poppins"/>
                        <a:cs typeface="Poppins"/>
                      </a:endParaRPr>
                    </a:p>
                    <a:p>
                      <a:pPr marL="800100" lvl="1" indent="-342900" algn="l">
                        <a:lnSpc>
                          <a:spcPct val="100000"/>
                        </a:lnSpc>
                        <a:spcBef>
                          <a:spcPts val="0"/>
                        </a:spcBef>
                        <a:spcAft>
                          <a:spcPts val="0"/>
                        </a:spcAft>
                        <a:buFont typeface="Courier New"/>
                        <a:buChar char="o"/>
                      </a:pPr>
                      <a:r>
                        <a:rPr lang="en-US" sz="1600" b="0" i="0" u="none" strike="noStrike" noProof="0">
                          <a:effectLst/>
                          <a:latin typeface="Poppins"/>
                          <a:cs typeface="Poppins"/>
                        </a:rPr>
                        <a:t>Turn on Airplane mode for 30s, then off to refresh connections. </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effectLst/>
                          <a:latin typeface="Poppins"/>
                          <a:cs typeface="Poppins"/>
                        </a:rPr>
                        <a:t>Select Network Manually: If it does not automatically connect, go to:</a:t>
                      </a:r>
                      <a:endParaRPr lang="en-US" sz="1600">
                        <a:latin typeface="Poppins"/>
                        <a:cs typeface="Poppins"/>
                      </a:endParaRPr>
                    </a:p>
                    <a:p>
                      <a:pPr marL="800100" lvl="1" indent="-342900" algn="l">
                        <a:lnSpc>
                          <a:spcPct val="100000"/>
                        </a:lnSpc>
                        <a:spcBef>
                          <a:spcPts val="0"/>
                        </a:spcBef>
                        <a:spcAft>
                          <a:spcPts val="0"/>
                        </a:spcAft>
                        <a:buFont typeface="Courier New"/>
                        <a:buChar char="o"/>
                      </a:pPr>
                      <a:r>
                        <a:rPr lang="en-US" sz="1600" b="0" i="0" u="none" strike="noStrike" noProof="0">
                          <a:effectLst/>
                          <a:latin typeface="Poppins"/>
                          <a:cs typeface="Poppins"/>
                        </a:rPr>
                        <a:t>Settings </a:t>
                      </a:r>
                      <a:endParaRPr lang="en-US" sz="1600">
                        <a:latin typeface="Poppins"/>
                        <a:cs typeface="Poppins"/>
                      </a:endParaRPr>
                    </a:p>
                    <a:p>
                      <a:pPr marL="800100" lvl="1" indent="-342900" algn="l">
                        <a:lnSpc>
                          <a:spcPct val="100000"/>
                        </a:lnSpc>
                        <a:spcBef>
                          <a:spcPts val="0"/>
                        </a:spcBef>
                        <a:spcAft>
                          <a:spcPts val="0"/>
                        </a:spcAft>
                        <a:buFont typeface="Courier New"/>
                        <a:buChar char="o"/>
                      </a:pPr>
                      <a:r>
                        <a:rPr lang="en-US" sz="1600" b="0" i="0" u="none" strike="noStrike" noProof="0">
                          <a:effectLst/>
                          <a:latin typeface="Poppins"/>
                          <a:cs typeface="Poppins"/>
                        </a:rPr>
                        <a:t>Network &amp; Internet </a:t>
                      </a:r>
                      <a:endParaRPr lang="en-US" sz="1600">
                        <a:latin typeface="Poppins"/>
                        <a:cs typeface="Poppins"/>
                      </a:endParaRPr>
                    </a:p>
                    <a:p>
                      <a:pPr marL="800100" lvl="1" indent="-342900" algn="l">
                        <a:lnSpc>
                          <a:spcPct val="100000"/>
                        </a:lnSpc>
                        <a:spcBef>
                          <a:spcPts val="0"/>
                        </a:spcBef>
                        <a:spcAft>
                          <a:spcPts val="0"/>
                        </a:spcAft>
                        <a:buFont typeface="Courier New"/>
                        <a:buChar char="o"/>
                      </a:pPr>
                      <a:r>
                        <a:rPr lang="en-US" sz="1600" b="0" i="0" u="none" strike="noStrike" noProof="0">
                          <a:effectLst/>
                          <a:latin typeface="Poppins"/>
                          <a:cs typeface="Poppins"/>
                        </a:rPr>
                        <a:t>SIMs </a:t>
                      </a:r>
                      <a:endParaRPr lang="en-US" sz="1600">
                        <a:latin typeface="Poppins"/>
                        <a:cs typeface="Poppins"/>
                      </a:endParaRPr>
                    </a:p>
                    <a:p>
                      <a:pPr marL="800100" lvl="1" indent="-342900" algn="l">
                        <a:lnSpc>
                          <a:spcPct val="100000"/>
                        </a:lnSpc>
                        <a:spcBef>
                          <a:spcPts val="0"/>
                        </a:spcBef>
                        <a:spcAft>
                          <a:spcPts val="0"/>
                        </a:spcAft>
                        <a:buFont typeface="Courier New"/>
                        <a:buChar char="o"/>
                      </a:pPr>
                      <a:r>
                        <a:rPr lang="en-US" sz="1600" b="0" i="0" u="none" strike="noStrike" noProof="0">
                          <a:effectLst/>
                          <a:latin typeface="Poppins"/>
                          <a:cs typeface="Poppins"/>
                        </a:rPr>
                        <a:t>[Your e-SIM] </a:t>
                      </a:r>
                      <a:endParaRPr lang="en-US" sz="1600">
                        <a:latin typeface="Poppins"/>
                        <a:cs typeface="Poppins"/>
                      </a:endParaRPr>
                    </a:p>
                    <a:p>
                      <a:pPr marL="800100" lvl="1" indent="-342900" algn="l">
                        <a:lnSpc>
                          <a:spcPct val="100000"/>
                        </a:lnSpc>
                        <a:spcBef>
                          <a:spcPts val="0"/>
                        </a:spcBef>
                        <a:spcAft>
                          <a:spcPts val="0"/>
                        </a:spcAft>
                        <a:buFont typeface="Courier New"/>
                        <a:buChar char="o"/>
                      </a:pPr>
                      <a:r>
                        <a:rPr lang="en-US" sz="1600" b="0" i="0" u="none" strike="noStrike" noProof="0">
                          <a:effectLst/>
                          <a:latin typeface="Poppins"/>
                          <a:cs typeface="Poppins"/>
                        </a:rPr>
                        <a:t>Network operators and choose the supported network</a:t>
                      </a:r>
                      <a:endParaRPr lang="en-US" sz="1600">
                        <a:latin typeface="Poppins"/>
                        <a:cs typeface="Poppins"/>
                      </a:endParaRPr>
                    </a:p>
                    <a:p>
                      <a:pPr marL="0" lvl="0" indent="0" algn="l">
                        <a:lnSpc>
                          <a:spcPct val="100000"/>
                        </a:lnSpc>
                        <a:spcBef>
                          <a:spcPts val="0"/>
                        </a:spcBef>
                        <a:spcAft>
                          <a:spcPts val="0"/>
                        </a:spcAft>
                        <a:buNone/>
                      </a:pPr>
                      <a:endParaRPr lang="en-US" sz="1500" b="0" i="0" u="none" strike="noStrike" noProof="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r h="954865">
                <a:tc>
                  <a:txBody>
                    <a:bodyPr/>
                    <a:lstStyle/>
                    <a:p>
                      <a:pPr marL="0" lvl="0" indent="0">
                        <a:buNone/>
                      </a:pPr>
                      <a:endParaRPr lang="en-US" sz="15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spTree>
    <p:extLst>
      <p:ext uri="{BB962C8B-B14F-4D97-AF65-F5344CB8AC3E}">
        <p14:creationId xmlns:p14="http://schemas.microsoft.com/office/powerpoint/2010/main" val="35931044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F82E7-873A-CE0F-7E1F-DA1BFC7E2E14}"/>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0EEAFFD9-D456-9F80-638A-9FC6048F9112}"/>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cs typeface="Poppins"/>
              </a:rPr>
              <a:t>Network</a:t>
            </a:r>
            <a:endParaRPr lang="en-US"/>
          </a:p>
          <a:p>
            <a:r>
              <a:rPr lang="en-GB" sz="2000" b="1">
                <a:latin typeface="Poppins"/>
                <a:ea typeface="+mn-lt"/>
                <a:cs typeface="Poppins"/>
              </a:rPr>
              <a:t>Using LSA String (manual)</a:t>
            </a:r>
            <a:endParaRPr lang="en-GB" b="1">
              <a:latin typeface="Poppins"/>
              <a:cs typeface="Poppins"/>
            </a:endParaRPr>
          </a:p>
          <a:p>
            <a:r>
              <a:rPr lang="en-GB" sz="2000" b="1">
                <a:latin typeface="Poppins"/>
                <a:ea typeface="+mn-lt"/>
                <a:cs typeface="Poppins"/>
              </a:rPr>
              <a:t>*** ON HOLD ***</a:t>
            </a:r>
            <a:endParaRPr lang="en-GB" b="1">
              <a:latin typeface="Poppins"/>
              <a:cs typeface="Poppins"/>
            </a:endParaRPr>
          </a:p>
          <a:p>
            <a:pPr marL="514350" indent="-514350">
              <a:buAutoNum type="arabicPeriod"/>
            </a:pPr>
            <a:endParaRPr lang="en-GB" sz="2800" b="1">
              <a:latin typeface="Poppins"/>
              <a:cs typeface="Poppins"/>
            </a:endParaRPr>
          </a:p>
        </p:txBody>
      </p:sp>
      <p:graphicFrame>
        <p:nvGraphicFramePr>
          <p:cNvPr id="7" name="Table 6">
            <a:extLst>
              <a:ext uri="{FF2B5EF4-FFF2-40B4-BE49-F238E27FC236}">
                <a16:creationId xmlns:a16="http://schemas.microsoft.com/office/drawing/2014/main" id="{7D04875E-0E31-712C-810F-D811A096D28F}"/>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C1BD776D-F947-6963-5CB2-D9F9BED0D3A1}"/>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E30C63FC-E4ED-CAF3-FB8B-4CF0DBC9D274}"/>
              </a:ext>
            </a:extLst>
          </p:cNvPr>
          <p:cNvGraphicFramePr>
            <a:graphicFrameLocks noGrp="1"/>
          </p:cNvGraphicFramePr>
          <p:nvPr>
            <p:extLst>
              <p:ext uri="{D42A27DB-BD31-4B8C-83A1-F6EECF244321}">
                <p14:modId xmlns:p14="http://schemas.microsoft.com/office/powerpoint/2010/main" val="4192582496"/>
              </p:ext>
            </p:extLst>
          </p:nvPr>
        </p:nvGraphicFramePr>
        <p:xfrm>
          <a:off x="769825" y="864370"/>
          <a:ext cx="6913143" cy="5572585"/>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2014241">
                <a:tc>
                  <a:txBody>
                    <a:bodyPr/>
                    <a:lstStyle/>
                    <a:p>
                      <a:pPr lvl="0">
                        <a:buNone/>
                      </a:pPr>
                      <a:r>
                        <a:rPr lang="en-US" sz="1600" b="1" i="0" u="none" strike="noStrike" noProof="0">
                          <a:solidFill>
                            <a:srgbClr val="000000"/>
                          </a:solidFill>
                          <a:effectLst/>
                          <a:latin typeface="Poppins"/>
                          <a:cs typeface="Poppins"/>
                        </a:rPr>
                        <a:t>Things we check </a:t>
                      </a:r>
                      <a:endParaRPr lang="en-US" sz="1600" b="0" i="0" u="none" strike="noStrike" noProof="0">
                        <a:solidFill>
                          <a:srgbClr val="000000"/>
                        </a:solidFill>
                        <a:effectLst/>
                        <a:latin typeface="Poppins"/>
                        <a:cs typeface="Poppins"/>
                      </a:endParaRPr>
                    </a:p>
                    <a:p>
                      <a:pPr lvl="0">
                        <a:buNone/>
                      </a:pPr>
                      <a:r>
                        <a:rPr lang="en-US" sz="1000" b="0" i="1" u="none" strike="noStrike" noProof="0">
                          <a:solidFill>
                            <a:srgbClr val="000000"/>
                          </a:solidFill>
                          <a:effectLst/>
                          <a:latin typeface="Poppins"/>
                          <a:cs typeface="Poppins"/>
                        </a:rPr>
                        <a:t>ask the customer, check in the station, etc.</a:t>
                      </a:r>
                      <a:endParaRPr lang="en-US" sz="1000">
                        <a:latin typeface="Poppins"/>
                        <a:cs typeface="Poppins"/>
                      </a:endParaRPr>
                    </a:p>
                    <a:p>
                      <a:pPr lvl="0" algn="l">
                        <a:lnSpc>
                          <a:spcPct val="100000"/>
                        </a:lnSpc>
                        <a:spcBef>
                          <a:spcPts val="0"/>
                        </a:spcBef>
                        <a:spcAft>
                          <a:spcPts val="0"/>
                        </a:spcAft>
                        <a:buNone/>
                      </a:pPr>
                      <a:endParaRPr lang="en-US" sz="1600">
                        <a:latin typeface="Poppins"/>
                        <a:cs typeface="Poppins"/>
                      </a:endParaRPr>
                    </a:p>
                    <a:p>
                      <a:pPr lvl="0" algn="l">
                        <a:lnSpc>
                          <a:spcPct val="100000"/>
                        </a:lnSpc>
                        <a:spcBef>
                          <a:spcPts val="0"/>
                        </a:spcBef>
                        <a:spcAft>
                          <a:spcPts val="0"/>
                        </a:spcAft>
                        <a:buNone/>
                      </a:pPr>
                      <a:endParaRPr lang="en-US" sz="1600" b="0" i="0" u="none" strike="noStrike" noProof="0">
                        <a:effectLst/>
                        <a:latin typeface="Poppins"/>
                        <a:cs typeface="Poppins"/>
                      </a:endParaRPr>
                    </a:p>
                    <a:p>
                      <a:pPr lvl="0" algn="l">
                        <a:lnSpc>
                          <a:spcPct val="100000"/>
                        </a:lnSpc>
                        <a:spcBef>
                          <a:spcPts val="0"/>
                        </a:spcBef>
                        <a:spcAft>
                          <a:spcPts val="0"/>
                        </a:spcAft>
                        <a:buNone/>
                      </a:pPr>
                      <a:endParaRPr lang="en-US" sz="1600" b="0" i="0" u="none" strike="noStrike" noProof="0">
                        <a:effectLst/>
                        <a:latin typeface="Poppins"/>
                        <a:cs typeface="Poppins"/>
                      </a:endParaRPr>
                    </a:p>
                    <a:p>
                      <a:pPr lvl="0" algn="l">
                        <a:lnSpc>
                          <a:spcPct val="100000"/>
                        </a:lnSpc>
                        <a:spcBef>
                          <a:spcPts val="0"/>
                        </a:spcBef>
                        <a:spcAft>
                          <a:spcPts val="0"/>
                        </a:spcAft>
                        <a:buNone/>
                      </a:pPr>
                      <a:endParaRPr lang="en-US" sz="1600" b="0" i="0" u="none" strike="noStrike" noProof="0">
                        <a:effectLst/>
                        <a:latin typeface="Poppins"/>
                        <a:cs typeface="Poppins"/>
                      </a:endParaRPr>
                    </a:p>
                    <a:p>
                      <a:pPr lvl="0" algn="l">
                        <a:lnSpc>
                          <a:spcPct val="100000"/>
                        </a:lnSpc>
                        <a:spcBef>
                          <a:spcPts val="0"/>
                        </a:spcBef>
                        <a:spcAft>
                          <a:spcPts val="0"/>
                        </a:spcAft>
                        <a:buNone/>
                      </a:pPr>
                      <a:r>
                        <a:rPr lang="en-US" sz="1600" b="0" i="0" u="none" strike="noStrike" noProof="0">
                          <a:effectLst/>
                          <a:latin typeface="Poppins"/>
                          <a:cs typeface="Poppins"/>
                        </a:rPr>
                        <a:t>Go to Settings</a:t>
                      </a:r>
                      <a:endParaRPr lang="en-US" sz="1600">
                        <a:latin typeface="Poppins"/>
                        <a:cs typeface="Poppins"/>
                      </a:endParaRPr>
                    </a:p>
                    <a:p>
                      <a:pPr lvl="0" algn="l">
                        <a:lnSpc>
                          <a:spcPct val="100000"/>
                        </a:lnSpc>
                        <a:spcBef>
                          <a:spcPts val="0"/>
                        </a:spcBef>
                        <a:spcAft>
                          <a:spcPts val="0"/>
                        </a:spcAft>
                        <a:buNone/>
                      </a:pPr>
                      <a:r>
                        <a:rPr lang="en-US" sz="1600" b="0" i="0" u="none" strike="noStrike" noProof="0">
                          <a:effectLst/>
                          <a:latin typeface="Poppins"/>
                          <a:cs typeface="Poppins"/>
                        </a:rPr>
                        <a:t>Tap Network &amp; internet</a:t>
                      </a:r>
                      <a:endParaRPr lang="en-US" sz="1600">
                        <a:latin typeface="Poppins"/>
                        <a:cs typeface="Poppins"/>
                      </a:endParaRPr>
                    </a:p>
                    <a:p>
                      <a:pPr lvl="0" algn="l">
                        <a:lnSpc>
                          <a:spcPct val="100000"/>
                        </a:lnSpc>
                        <a:spcBef>
                          <a:spcPts val="0"/>
                        </a:spcBef>
                        <a:spcAft>
                          <a:spcPts val="0"/>
                        </a:spcAft>
                        <a:buNone/>
                      </a:pPr>
                      <a:r>
                        <a:rPr lang="en-US" sz="1600" b="0" i="0" u="none" strike="noStrike" noProof="0">
                          <a:effectLst/>
                          <a:latin typeface="Poppins"/>
                          <a:cs typeface="Poppins"/>
                        </a:rPr>
                        <a:t>Tap SIMs</a:t>
                      </a:r>
                      <a:endParaRPr lang="en-US" sz="1600">
                        <a:latin typeface="Poppins"/>
                        <a:cs typeface="Poppins"/>
                      </a:endParaRPr>
                    </a:p>
                    <a:p>
                      <a:pPr lvl="0" algn="l">
                        <a:lnSpc>
                          <a:spcPct val="100000"/>
                        </a:lnSpc>
                        <a:spcBef>
                          <a:spcPts val="0"/>
                        </a:spcBef>
                        <a:spcAft>
                          <a:spcPts val="0"/>
                        </a:spcAft>
                        <a:buNone/>
                      </a:pPr>
                      <a:r>
                        <a:rPr lang="en-US" sz="1600" b="0" i="0" u="none" strike="noStrike" noProof="0">
                          <a:effectLst/>
                          <a:latin typeface="Poppins"/>
                          <a:cs typeface="Poppins"/>
                        </a:rPr>
                        <a:t>Tap + Add SIM</a:t>
                      </a:r>
                      <a:endParaRPr lang="en-US" sz="1600">
                        <a:latin typeface="Poppins"/>
                        <a:cs typeface="Poppins"/>
                      </a:endParaRPr>
                    </a:p>
                    <a:p>
                      <a:pPr lvl="0" algn="l">
                        <a:lnSpc>
                          <a:spcPct val="100000"/>
                        </a:lnSpc>
                        <a:spcBef>
                          <a:spcPts val="0"/>
                        </a:spcBef>
                        <a:spcAft>
                          <a:spcPts val="0"/>
                        </a:spcAft>
                        <a:buNone/>
                      </a:pPr>
                      <a:r>
                        <a:rPr lang="en-US" sz="1600" b="0" i="0" u="none" strike="noStrike" noProof="0">
                          <a:effectLst/>
                          <a:latin typeface="Poppins"/>
                          <a:cs typeface="Poppins"/>
                        </a:rPr>
                        <a:t>Tap Don't have a SIM card?</a:t>
                      </a:r>
                      <a:endParaRPr lang="en-US" sz="1600">
                        <a:latin typeface="Poppins"/>
                        <a:cs typeface="Poppins"/>
                      </a:endParaRPr>
                    </a:p>
                    <a:p>
                      <a:pPr lvl="0" algn="l">
                        <a:lnSpc>
                          <a:spcPct val="100000"/>
                        </a:lnSpc>
                        <a:spcBef>
                          <a:spcPts val="0"/>
                        </a:spcBef>
                        <a:spcAft>
                          <a:spcPts val="0"/>
                        </a:spcAft>
                        <a:buNone/>
                      </a:pPr>
                      <a:r>
                        <a:rPr lang="en-US" sz="1600" b="0" i="0" u="none" strike="noStrike" noProof="0">
                          <a:effectLst/>
                          <a:latin typeface="Poppins"/>
                          <a:cs typeface="Poppins"/>
                        </a:rPr>
                        <a:t>Tap Enter code manually </a:t>
                      </a:r>
                      <a:endParaRPr lang="en-US" sz="1600">
                        <a:latin typeface="Poppins"/>
                        <a:cs typeface="Poppins"/>
                      </a:endParaRPr>
                    </a:p>
                    <a:p>
                      <a:pPr lvl="0" algn="l">
                        <a:lnSpc>
                          <a:spcPct val="100000"/>
                        </a:lnSpc>
                        <a:spcBef>
                          <a:spcPts val="0"/>
                        </a:spcBef>
                        <a:spcAft>
                          <a:spcPts val="0"/>
                        </a:spcAft>
                        <a:buNone/>
                      </a:pPr>
                      <a:r>
                        <a:rPr lang="en-US" sz="1600" b="0" i="0" u="none" strike="noStrike" noProof="0">
                          <a:effectLst/>
                          <a:latin typeface="Poppins"/>
                          <a:cs typeface="Poppins"/>
                        </a:rPr>
                        <a:t>Paste or type your LSA string: </a:t>
                      </a:r>
                      <a:endParaRPr lang="en-US" sz="1600">
                        <a:latin typeface="Poppins"/>
                        <a:cs typeface="Poppins"/>
                      </a:endParaRPr>
                    </a:p>
                    <a:p>
                      <a:pPr lvl="0" algn="l">
                        <a:lnSpc>
                          <a:spcPct val="100000"/>
                        </a:lnSpc>
                        <a:spcBef>
                          <a:spcPts val="0"/>
                        </a:spcBef>
                        <a:spcAft>
                          <a:spcPts val="0"/>
                        </a:spcAft>
                        <a:buNone/>
                      </a:pPr>
                      <a:r>
                        <a:rPr lang="en-US" sz="1600" b="1" i="0" u="none" strike="noStrike" noProof="0">
                          <a:effectLst/>
                          <a:latin typeface="Poppins"/>
                          <a:cs typeface="Poppins"/>
                        </a:rPr>
                        <a:t>See activation string in Station</a:t>
                      </a:r>
                      <a:endParaRPr lang="en-US" sz="1600" b="1">
                        <a:latin typeface="Poppins"/>
                        <a:cs typeface="Poppins"/>
                      </a:endParaRPr>
                    </a:p>
                    <a:p>
                      <a:pPr lvl="0" algn="l">
                        <a:lnSpc>
                          <a:spcPct val="100000"/>
                        </a:lnSpc>
                        <a:spcBef>
                          <a:spcPts val="0"/>
                        </a:spcBef>
                        <a:spcAft>
                          <a:spcPts val="0"/>
                        </a:spcAft>
                        <a:buNone/>
                      </a:pPr>
                      <a:r>
                        <a:rPr lang="en-US" sz="1600" b="0" i="0" u="none" strike="noStrike" noProof="0">
                          <a:effectLst/>
                          <a:latin typeface="Poppins"/>
                          <a:cs typeface="Poppins"/>
                        </a:rPr>
                        <a:t>Tap Connect / Add</a:t>
                      </a:r>
                      <a:endParaRPr lang="en-US" sz="1600">
                        <a:latin typeface="Poppins"/>
                        <a:cs typeface="Poppins"/>
                      </a:endParaRPr>
                    </a:p>
                    <a:p>
                      <a:pPr lvl="0" algn="l">
                        <a:lnSpc>
                          <a:spcPct val="100000"/>
                        </a:lnSpc>
                        <a:spcBef>
                          <a:spcPts val="0"/>
                        </a:spcBef>
                        <a:spcAft>
                          <a:spcPts val="0"/>
                        </a:spcAft>
                        <a:buNone/>
                      </a:pPr>
                      <a:r>
                        <a:rPr lang="en-US" sz="1600" b="0" i="0" u="none" strike="noStrike" noProof="0">
                          <a:effectLst/>
                          <a:latin typeface="Poppins"/>
                          <a:cs typeface="Poppins"/>
                        </a:rPr>
                        <a:t>Wait for the profile to download</a:t>
                      </a:r>
                      <a:endParaRPr lang="en-US" sz="1600">
                        <a:latin typeface="Poppins"/>
                        <a:cs typeface="Poppins"/>
                      </a:endParaRPr>
                    </a:p>
                    <a:p>
                      <a:pPr lvl="0" algn="l">
                        <a:lnSpc>
                          <a:spcPct val="100000"/>
                        </a:lnSpc>
                        <a:spcBef>
                          <a:spcPts val="0"/>
                        </a:spcBef>
                        <a:spcAft>
                          <a:spcPts val="0"/>
                        </a:spcAft>
                        <a:buNone/>
                      </a:pPr>
                      <a:r>
                        <a:rPr lang="en-US" sz="1600" b="0" i="0" u="none" strike="noStrike" noProof="0">
                          <a:effectLst/>
                          <a:latin typeface="Poppins"/>
                          <a:cs typeface="Poppins"/>
                        </a:rPr>
                        <a:t>Tap Activate / Turn on</a:t>
                      </a:r>
                      <a:endParaRPr lang="en-US" sz="1600">
                        <a:latin typeface="Poppins"/>
                        <a:cs typeface="Poppins"/>
                      </a:endParaRPr>
                    </a:p>
                    <a:p>
                      <a:pPr lvl="0" algn="l">
                        <a:lnSpc>
                          <a:spcPct val="100000"/>
                        </a:lnSpc>
                        <a:spcBef>
                          <a:spcPts val="0"/>
                        </a:spcBef>
                        <a:spcAft>
                          <a:spcPts val="0"/>
                        </a:spcAft>
                        <a:buNone/>
                      </a:pPr>
                      <a:r>
                        <a:rPr lang="en-US" sz="1600" b="0" i="0" u="none" strike="noStrike" noProof="0">
                          <a:effectLst/>
                          <a:latin typeface="Poppins"/>
                          <a:cs typeface="Poppins"/>
                        </a:rPr>
                        <a:t>Restart your phone"</a:t>
                      </a:r>
                      <a:endParaRPr lang="en-US" sz="1600">
                        <a:latin typeface="Poppins"/>
                        <a:cs typeface="Poppins"/>
                      </a:endParaRPr>
                    </a:p>
                    <a:p>
                      <a:pPr marL="0" lvl="0" indent="0" algn="l">
                        <a:lnSpc>
                          <a:spcPct val="100000"/>
                        </a:lnSpc>
                        <a:spcBef>
                          <a:spcPts val="0"/>
                        </a:spcBef>
                        <a:spcAft>
                          <a:spcPts val="0"/>
                        </a:spcAft>
                        <a:buNone/>
                      </a:pPr>
                      <a:endParaRPr lang="en-US" sz="1500" b="0" i="0" u="none" strike="noStrike" noProof="0">
                        <a:effectLst/>
                      </a:endParaRPr>
                    </a:p>
                  </a:txBody>
                  <a:tcPr>
                    <a:lnL>
                      <a:noFill/>
                    </a:lnL>
                    <a:lnR>
                      <a:noFill/>
                    </a:lnR>
                    <a:lnT>
                      <a:noFill/>
                    </a:lnT>
                    <a:lnB>
                      <a:noFill/>
                    </a:lnB>
                    <a:noFill/>
                  </a:tcPr>
                </a:tc>
                <a:extLst>
                  <a:ext uri="{0D108BD9-81ED-4DB2-BD59-A6C34878D82A}">
                    <a16:rowId xmlns:a16="http://schemas.microsoft.com/office/drawing/2014/main" val="3604296047"/>
                  </a:ext>
                </a:extLst>
              </a:tr>
              <a:tr h="954865">
                <a:tc>
                  <a:txBody>
                    <a:bodyPr/>
                    <a:lstStyle/>
                    <a:p>
                      <a:pPr marL="0" lvl="0" indent="0">
                        <a:buNone/>
                      </a:pPr>
                      <a:endParaRPr lang="en-US" sz="15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sp>
        <p:nvSpPr>
          <p:cNvPr id="6" name="Shape 6">
            <a:extLst>
              <a:ext uri="{FF2B5EF4-FFF2-40B4-BE49-F238E27FC236}">
                <a16:creationId xmlns:a16="http://schemas.microsoft.com/office/drawing/2014/main" id="{9557D743-1CB0-3D69-F61E-F801BFA99121}"/>
              </a:ext>
            </a:extLst>
          </p:cNvPr>
          <p:cNvSpPr/>
          <p:nvPr/>
        </p:nvSpPr>
        <p:spPr>
          <a:xfrm>
            <a:off x="768587" y="1540620"/>
            <a:ext cx="6629401" cy="578660"/>
          </a:xfrm>
          <a:prstGeom prst="roundRect">
            <a:avLst>
              <a:gd name="adj" fmla="val 6522"/>
            </a:avLst>
          </a:prstGeom>
          <a:solidFill>
            <a:srgbClr val="EAD6CA"/>
          </a:solidFill>
          <a:ln w="12700">
            <a:solidFill>
              <a:srgbClr val="EAD6CA">
                <a:alpha val="0"/>
              </a:srgbClr>
            </a:solidFill>
            <a:prstDash val="solid"/>
          </a:ln>
        </p:spPr>
        <p:txBody>
          <a:bodyPr lIns="91440" tIns="45720" rIns="91440" bIns="45720" anchor="t"/>
          <a:lstStyle/>
          <a:p>
            <a:pPr marL="285750" indent="-285750">
              <a:buFont typeface="Arial"/>
              <a:buChar char="•"/>
            </a:pPr>
            <a:r>
              <a:rPr lang="en-GB" sz="1600" b="1">
                <a:latin typeface="Poppins"/>
                <a:ea typeface="+mn-lt"/>
                <a:cs typeface="Poppins"/>
              </a:rPr>
              <a:t>The process is currently on hold</a:t>
            </a:r>
          </a:p>
          <a:p>
            <a:pPr marL="285750" indent="-285750">
              <a:buFont typeface="Arial"/>
              <a:buChar char="•"/>
            </a:pPr>
            <a:r>
              <a:rPr lang="en-GB" sz="1600" b="1">
                <a:latin typeface="Poppins"/>
                <a:cs typeface="Poppins"/>
              </a:rPr>
              <a:t>Until further update is given, please refrain from using it.</a:t>
            </a:r>
          </a:p>
        </p:txBody>
      </p:sp>
    </p:spTree>
    <p:extLst>
      <p:ext uri="{BB962C8B-B14F-4D97-AF65-F5344CB8AC3E}">
        <p14:creationId xmlns:p14="http://schemas.microsoft.com/office/powerpoint/2010/main" val="3031361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423D4-444D-C323-6A70-304D2B1D0340}"/>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73931F1E-D249-CD2E-5288-F5C1549A6A78}"/>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cs typeface="Poppins"/>
              </a:rPr>
              <a:t>Network</a:t>
            </a:r>
          </a:p>
          <a:p>
            <a:r>
              <a:rPr lang="en-GB" sz="2000" b="1">
                <a:latin typeface="Poppins"/>
                <a:ea typeface="+mn-lt"/>
                <a:cs typeface="Poppins"/>
              </a:rPr>
              <a:t>Delete e-SIM (Android, Samsung)</a:t>
            </a:r>
            <a:endParaRPr lang="en-GB" b="1">
              <a:latin typeface="Poppins"/>
              <a:cs typeface="Poppins"/>
            </a:endParaRPr>
          </a:p>
          <a:p>
            <a:endParaRPr lang="en-GB" sz="2800" b="1">
              <a:latin typeface="Poppins"/>
              <a:cs typeface="Poppins"/>
            </a:endParaRPr>
          </a:p>
        </p:txBody>
      </p:sp>
      <p:graphicFrame>
        <p:nvGraphicFramePr>
          <p:cNvPr id="7" name="Table 6">
            <a:extLst>
              <a:ext uri="{FF2B5EF4-FFF2-40B4-BE49-F238E27FC236}">
                <a16:creationId xmlns:a16="http://schemas.microsoft.com/office/drawing/2014/main" id="{698C83F9-4D2A-F910-778C-244B228D3126}"/>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07A77E88-8ED2-2F5D-496B-F646D455867A}"/>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5C0BF25A-BA20-E8F3-7D4D-7A9B17254CA5}"/>
              </a:ext>
            </a:extLst>
          </p:cNvPr>
          <p:cNvGraphicFramePr>
            <a:graphicFrameLocks noGrp="1"/>
          </p:cNvGraphicFramePr>
          <p:nvPr>
            <p:extLst>
              <p:ext uri="{D42A27DB-BD31-4B8C-83A1-F6EECF244321}">
                <p14:modId xmlns:p14="http://schemas.microsoft.com/office/powerpoint/2010/main" val="1986516203"/>
              </p:ext>
            </p:extLst>
          </p:nvPr>
        </p:nvGraphicFramePr>
        <p:xfrm>
          <a:off x="1319623" y="1616724"/>
          <a:ext cx="6541873" cy="3629041"/>
        </p:xfrm>
        <a:graphic>
          <a:graphicData uri="http://schemas.openxmlformats.org/drawingml/2006/table">
            <a:tbl>
              <a:tblPr bandRow="1">
                <a:tableStyleId>{5C22544A-7EE6-4342-B048-85BDC9FD1C3A}</a:tableStyleId>
              </a:tblPr>
              <a:tblGrid>
                <a:gridCol w="6541873">
                  <a:extLst>
                    <a:ext uri="{9D8B030D-6E8A-4147-A177-3AD203B41FA5}">
                      <a16:colId xmlns:a16="http://schemas.microsoft.com/office/drawing/2014/main" val="1146741475"/>
                    </a:ext>
                  </a:extLst>
                </a:gridCol>
              </a:tblGrid>
              <a:tr h="3051694">
                <a:tc>
                  <a:txBody>
                    <a:bodyPr/>
                    <a:lstStyle/>
                    <a:p>
                      <a:pPr lvl="0">
                        <a:buNone/>
                      </a:pPr>
                      <a:r>
                        <a:rPr lang="en-US" sz="1600" b="1" i="0" u="none" strike="noStrike" noProof="0">
                          <a:solidFill>
                            <a:srgbClr val="000000"/>
                          </a:solidFill>
                          <a:effectLst/>
                          <a:latin typeface="Poppins"/>
                          <a:cs typeface="Poppins"/>
                        </a:rPr>
                        <a:t>Steps:</a:t>
                      </a:r>
                    </a:p>
                    <a:p>
                      <a:pPr lvl="0">
                        <a:buNone/>
                      </a:pPr>
                      <a:endParaRPr lang="en-US" sz="1600" b="1"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Go to settings</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Tap Connections</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Tap SIM manager</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Under e-SIMs, tap the e-SIM profile you want to delete</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Tap Remove and confirm</a:t>
                      </a:r>
                      <a:endParaRPr lang="en-US" sz="1600">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r h="577347">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spTree>
    <p:extLst>
      <p:ext uri="{BB962C8B-B14F-4D97-AF65-F5344CB8AC3E}">
        <p14:creationId xmlns:p14="http://schemas.microsoft.com/office/powerpoint/2010/main" val="36994991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5B104-3FD8-F32D-242B-C5308DF22B02}"/>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5C1DC787-DD68-A22C-AA9E-92BC4DE4C4EB}"/>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cs typeface="Poppins"/>
              </a:rPr>
              <a:t>Network</a:t>
            </a:r>
          </a:p>
          <a:p>
            <a:r>
              <a:rPr lang="en-GB" sz="2000" b="1">
                <a:latin typeface="Poppins"/>
                <a:ea typeface="+mn-lt"/>
                <a:cs typeface="Poppins"/>
              </a:rPr>
              <a:t>“Device Is Not e-SIM Compatible” (iOS)</a:t>
            </a:r>
            <a:endParaRPr lang="en-GB" b="1">
              <a:latin typeface="Poppins"/>
              <a:ea typeface="+mn-lt"/>
              <a:cs typeface="Poppins"/>
            </a:endParaRPr>
          </a:p>
          <a:p>
            <a:endParaRPr lang="en-GB" sz="2800" b="1">
              <a:latin typeface="Poppins"/>
              <a:cs typeface="Poppins"/>
            </a:endParaRPr>
          </a:p>
        </p:txBody>
      </p:sp>
      <p:graphicFrame>
        <p:nvGraphicFramePr>
          <p:cNvPr id="7" name="Table 6">
            <a:extLst>
              <a:ext uri="{FF2B5EF4-FFF2-40B4-BE49-F238E27FC236}">
                <a16:creationId xmlns:a16="http://schemas.microsoft.com/office/drawing/2014/main" id="{F55C8BB3-3E1E-7C44-5A61-AE03F2A04BF5}"/>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8C59A8D1-7B6E-12BB-49F4-4D8586708656}"/>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7EA0FD4B-09D2-C1CE-837D-C356A136DB99}"/>
              </a:ext>
            </a:extLst>
          </p:cNvPr>
          <p:cNvGraphicFramePr>
            <a:graphicFrameLocks noGrp="1"/>
          </p:cNvGraphicFramePr>
          <p:nvPr>
            <p:extLst>
              <p:ext uri="{D42A27DB-BD31-4B8C-83A1-F6EECF244321}">
                <p14:modId xmlns:p14="http://schemas.microsoft.com/office/powerpoint/2010/main" val="2084604796"/>
              </p:ext>
            </p:extLst>
          </p:nvPr>
        </p:nvGraphicFramePr>
        <p:xfrm>
          <a:off x="1049547" y="208471"/>
          <a:ext cx="6913143" cy="7179429"/>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4429343">
                <a:tc>
                  <a:txBody>
                    <a:bodyPr/>
                    <a:lstStyle/>
                    <a:p>
                      <a:pPr lvl="0">
                        <a:buNone/>
                      </a:pPr>
                      <a:r>
                        <a:rPr lang="en-US" sz="1600" b="1" i="0" u="none" strike="noStrike" noProof="0">
                          <a:solidFill>
                            <a:srgbClr val="000000"/>
                          </a:solidFill>
                          <a:effectLst/>
                          <a:latin typeface="Poppins"/>
                          <a:cs typeface="Poppins"/>
                        </a:rPr>
                        <a:t>Things we check </a:t>
                      </a:r>
                      <a:endParaRPr lang="en-US" sz="1600" b="0" i="0" u="none" strike="noStrike" noProof="0">
                        <a:solidFill>
                          <a:srgbClr val="000000"/>
                        </a:solidFill>
                        <a:effectLst/>
                        <a:latin typeface="Poppins"/>
                        <a:cs typeface="Poppins"/>
                      </a:endParaRPr>
                    </a:p>
                    <a:p>
                      <a:pPr lvl="0">
                        <a:buNone/>
                      </a:pPr>
                      <a:r>
                        <a:rPr lang="en-US" sz="1000" b="0" i="1" u="none" strike="noStrike" noProof="0">
                          <a:solidFill>
                            <a:srgbClr val="000000"/>
                          </a:solidFill>
                          <a:effectLst/>
                          <a:latin typeface="Poppins"/>
                          <a:cs typeface="Poppins"/>
                        </a:rPr>
                        <a:t>ask the customer, check in the station, etc.</a:t>
                      </a:r>
                      <a:endParaRPr lang="en-US" sz="1000" b="0" i="0" u="none" strike="noStrike" noProof="0">
                        <a:solidFill>
                          <a:srgbClr val="000000"/>
                        </a:solidFill>
                        <a:effectLst/>
                        <a:latin typeface="Poppins"/>
                        <a:cs typeface="Poppins"/>
                      </a:endParaRPr>
                    </a:p>
                    <a:p>
                      <a:pPr lvl="0" algn="l">
                        <a:lnSpc>
                          <a:spcPct val="100000"/>
                        </a:lnSpc>
                        <a:spcBef>
                          <a:spcPts val="0"/>
                        </a:spcBef>
                        <a:spcAft>
                          <a:spcPts val="0"/>
                        </a:spcAft>
                        <a:buNone/>
                      </a:pPr>
                      <a:r>
                        <a:rPr lang="en-US" sz="1600" b="0" i="0" u="none" strike="noStrike" noProof="0">
                          <a:solidFill>
                            <a:srgbClr val="000000"/>
                          </a:solidFill>
                          <a:effectLst/>
                          <a:latin typeface="Poppins"/>
                          <a:cs typeface="Poppins"/>
                        </a:rPr>
                        <a:t>Check the make and model is e-SIM compatible</a:t>
                      </a:r>
                      <a:endParaRPr lang="en-US" sz="1600">
                        <a:latin typeface="Poppins"/>
                        <a:cs typeface="Poppins"/>
                      </a:endParaRPr>
                    </a:p>
                    <a:p>
                      <a:pPr lvl="0" algn="l">
                        <a:lnSpc>
                          <a:spcPct val="100000"/>
                        </a:lnSpc>
                        <a:spcBef>
                          <a:spcPts val="0"/>
                        </a:spcBef>
                        <a:spcAft>
                          <a:spcPts val="0"/>
                        </a:spcAft>
                        <a:buNone/>
                      </a:pPr>
                      <a:r>
                        <a:rPr lang="en-US" sz="1600" b="0" i="0" u="none" strike="noStrike" noProof="0">
                          <a:solidFill>
                            <a:srgbClr val="000000"/>
                          </a:solidFill>
                          <a:effectLst/>
                          <a:latin typeface="Poppins"/>
                          <a:cs typeface="Poppins"/>
                        </a:rPr>
                        <a:t>Check if sim swap was made</a:t>
                      </a:r>
                      <a:endParaRPr lang="en-US" sz="1600">
                        <a:latin typeface="Poppins"/>
                        <a:cs typeface="Poppins"/>
                      </a:endParaRPr>
                    </a:p>
                    <a:p>
                      <a:pPr lvl="0">
                        <a:buNone/>
                      </a:pPr>
                      <a:endParaRPr lang="en-US" sz="1600" b="0" i="0" u="none" strike="noStrike" noProof="0">
                        <a:solidFill>
                          <a:srgbClr val="000000"/>
                        </a:solidFill>
                        <a:effectLst/>
                      </a:endParaRPr>
                    </a:p>
                    <a:p>
                      <a:pPr lvl="0">
                        <a:buNone/>
                      </a:pPr>
                      <a:r>
                        <a:rPr lang="en-US" sz="1600" b="1" i="0" u="none" strike="noStrike" noProof="0">
                          <a:solidFill>
                            <a:srgbClr val="000000"/>
                          </a:solidFill>
                          <a:effectLst/>
                          <a:latin typeface="Poppins"/>
                          <a:cs typeface="Poppins"/>
                        </a:rPr>
                        <a:t>Troubleshooting Steps:</a:t>
                      </a:r>
                    </a:p>
                    <a:p>
                      <a:pPr marL="0" lvl="0" indent="0" algn="l">
                        <a:lnSpc>
                          <a:spcPct val="100000"/>
                        </a:lnSpc>
                        <a:spcBef>
                          <a:spcPts val="0"/>
                        </a:spcBef>
                        <a:spcAft>
                          <a:spcPts val="0"/>
                        </a:spcAft>
                        <a:buNone/>
                      </a:pPr>
                      <a:r>
                        <a:rPr lang="en-US" sz="1600" b="0" i="0" u="none" strike="noStrike" noProof="0">
                          <a:solidFill>
                            <a:srgbClr val="000000"/>
                          </a:solidFill>
                          <a:effectLst/>
                          <a:latin typeface="Poppins"/>
                          <a:cs typeface="Poppins"/>
                        </a:rPr>
                        <a:t>Step 1: Remove existing </a:t>
                      </a:r>
                      <a:r>
                        <a:rPr lang="en-US" sz="1600" b="0" i="0" u="none" strike="noStrike" noProof="0" err="1">
                          <a:solidFill>
                            <a:srgbClr val="000000"/>
                          </a:solidFill>
                          <a:effectLst/>
                          <a:latin typeface="Poppins"/>
                          <a:cs typeface="Poppins"/>
                        </a:rPr>
                        <a:t>LoopDL</a:t>
                      </a:r>
                      <a:r>
                        <a:rPr lang="en-US" sz="1600" b="0" i="0" u="none" strike="noStrike" noProof="0">
                          <a:solidFill>
                            <a:srgbClr val="000000"/>
                          </a:solidFill>
                          <a:effectLst/>
                          <a:latin typeface="Poppins"/>
                          <a:cs typeface="Poppins"/>
                        </a:rPr>
                        <a:t> e-SIMs</a:t>
                      </a:r>
                      <a:endParaRPr lang="en-US" sz="1600">
                        <a:latin typeface="Poppins"/>
                        <a:cs typeface="Poppins"/>
                      </a:endParaRPr>
                    </a:p>
                    <a:p>
                      <a:pPr marL="285750" lvl="0" indent="-285750" algn="l">
                        <a:lnSpc>
                          <a:spcPct val="100000"/>
                        </a:lnSpc>
                        <a:spcBef>
                          <a:spcPts val="0"/>
                        </a:spcBef>
                        <a:spcAft>
                          <a:spcPts val="0"/>
                        </a:spcAft>
                        <a:buFont typeface="Arial"/>
                        <a:buChar char="•"/>
                      </a:pPr>
                      <a:r>
                        <a:rPr lang="en-US" sz="1600" b="0" i="0" u="none" strike="noStrike" noProof="0">
                          <a:solidFill>
                            <a:srgbClr val="000000"/>
                          </a:solidFill>
                          <a:effectLst/>
                          <a:latin typeface="Poppins"/>
                          <a:cs typeface="Poppins"/>
                        </a:rPr>
                        <a:t>Go to Settings</a:t>
                      </a:r>
                      <a:endParaRPr lang="en-US" sz="1600">
                        <a:latin typeface="Poppins"/>
                        <a:cs typeface="Poppins"/>
                      </a:endParaRPr>
                    </a:p>
                    <a:p>
                      <a:pPr marL="285750" lvl="0" indent="-285750" algn="l">
                        <a:lnSpc>
                          <a:spcPct val="100000"/>
                        </a:lnSpc>
                        <a:spcBef>
                          <a:spcPts val="0"/>
                        </a:spcBef>
                        <a:spcAft>
                          <a:spcPts val="0"/>
                        </a:spcAft>
                        <a:buFont typeface="Arial"/>
                        <a:buChar char="•"/>
                      </a:pPr>
                      <a:r>
                        <a:rPr lang="en-US" sz="1600" b="0" i="0" u="none" strike="noStrike" noProof="0">
                          <a:solidFill>
                            <a:srgbClr val="000000"/>
                          </a:solidFill>
                          <a:effectLst/>
                          <a:latin typeface="Poppins"/>
                          <a:cs typeface="Poppins"/>
                        </a:rPr>
                        <a:t>Tap Cellular / Mobile Data</a:t>
                      </a:r>
                      <a:endParaRPr lang="en-US" sz="1600">
                        <a:latin typeface="Poppins"/>
                        <a:cs typeface="Poppins"/>
                      </a:endParaRPr>
                    </a:p>
                    <a:p>
                      <a:pPr marL="285750" lvl="0" indent="-285750" algn="l">
                        <a:lnSpc>
                          <a:spcPct val="100000"/>
                        </a:lnSpc>
                        <a:spcBef>
                          <a:spcPts val="0"/>
                        </a:spcBef>
                        <a:spcAft>
                          <a:spcPts val="0"/>
                        </a:spcAft>
                        <a:buFont typeface="Arial"/>
                        <a:buChar char="•"/>
                      </a:pPr>
                      <a:r>
                        <a:rPr lang="en-US" sz="1600" b="0" i="0" u="none" strike="noStrike" noProof="0">
                          <a:solidFill>
                            <a:srgbClr val="000000"/>
                          </a:solidFill>
                          <a:effectLst/>
                          <a:latin typeface="Poppins"/>
                          <a:cs typeface="Poppins"/>
                        </a:rPr>
                        <a:t>Delete all </a:t>
                      </a:r>
                      <a:r>
                        <a:rPr lang="en-US" sz="1600" b="0" i="0" u="none" strike="noStrike" noProof="0" err="1">
                          <a:solidFill>
                            <a:srgbClr val="000000"/>
                          </a:solidFill>
                          <a:effectLst/>
                          <a:latin typeface="Poppins"/>
                          <a:cs typeface="Poppins"/>
                        </a:rPr>
                        <a:t>LoopDL</a:t>
                      </a:r>
                      <a:r>
                        <a:rPr lang="en-US" sz="1600" b="0" i="0" u="none" strike="noStrike" noProof="0">
                          <a:solidFill>
                            <a:srgbClr val="000000"/>
                          </a:solidFill>
                          <a:effectLst/>
                          <a:latin typeface="Poppins"/>
                          <a:cs typeface="Poppins"/>
                        </a:rPr>
                        <a:t> </a:t>
                      </a:r>
                      <a:r>
                        <a:rPr lang="en-US" sz="1600" b="0" i="0" u="none" strike="noStrike" noProof="0" err="1">
                          <a:solidFill>
                            <a:srgbClr val="000000"/>
                          </a:solidFill>
                          <a:effectLst/>
                          <a:latin typeface="Poppins"/>
                          <a:cs typeface="Poppins"/>
                        </a:rPr>
                        <a:t>eSIM</a:t>
                      </a:r>
                      <a:r>
                        <a:rPr lang="en-US" sz="1600" b="0" i="0" u="none" strike="noStrike" noProof="0">
                          <a:solidFill>
                            <a:srgbClr val="000000"/>
                          </a:solidFill>
                          <a:effectLst/>
                          <a:latin typeface="Poppins"/>
                          <a:cs typeface="Poppins"/>
                        </a:rPr>
                        <a:t> profiles</a:t>
                      </a:r>
                      <a:endParaRPr lang="en-US" sz="1600">
                        <a:latin typeface="Poppins"/>
                        <a:cs typeface="Poppins"/>
                      </a:endParaRPr>
                    </a:p>
                    <a:p>
                      <a:pPr marL="285750" lvl="0" indent="-285750" algn="l">
                        <a:lnSpc>
                          <a:spcPct val="100000"/>
                        </a:lnSpc>
                        <a:spcBef>
                          <a:spcPts val="0"/>
                        </a:spcBef>
                        <a:spcAft>
                          <a:spcPts val="0"/>
                        </a:spcAft>
                        <a:buFont typeface="Arial"/>
                        <a:buChar char="•"/>
                      </a:pPr>
                      <a:endParaRPr lang="en-US" sz="1600" b="0"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endParaRPr lang="en-US" sz="1600" b="0"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endParaRPr lang="en-US" sz="1600" b="0"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r>
                        <a:rPr lang="en-US" sz="1600" b="0" i="0" u="none" strike="noStrike" noProof="0">
                          <a:solidFill>
                            <a:srgbClr val="000000"/>
                          </a:solidFill>
                          <a:effectLst/>
                          <a:latin typeface="Poppins"/>
                          <a:cs typeface="Poppins"/>
                        </a:rPr>
                        <a:t>Step 2: Reinstall the app (max 2 attempts)</a:t>
                      </a:r>
                      <a:endParaRPr lang="en-US" sz="1600">
                        <a:latin typeface="Poppins"/>
                        <a:cs typeface="Poppins"/>
                      </a:endParaRPr>
                    </a:p>
                    <a:p>
                      <a:pPr marL="285750" lvl="0" indent="-285750" algn="l">
                        <a:lnSpc>
                          <a:spcPct val="100000"/>
                        </a:lnSpc>
                        <a:spcBef>
                          <a:spcPts val="0"/>
                        </a:spcBef>
                        <a:spcAft>
                          <a:spcPts val="0"/>
                        </a:spcAft>
                        <a:buFont typeface="Arial"/>
                        <a:buChar char="•"/>
                      </a:pPr>
                      <a:r>
                        <a:rPr lang="en-US" sz="1600" b="0" i="0" u="none" strike="noStrike" noProof="0">
                          <a:solidFill>
                            <a:srgbClr val="000000"/>
                          </a:solidFill>
                          <a:effectLst/>
                          <a:latin typeface="Poppins"/>
                          <a:cs typeface="Poppins"/>
                        </a:rPr>
                        <a:t>Install the app again</a:t>
                      </a:r>
                      <a:endParaRPr lang="en-US" sz="1600">
                        <a:latin typeface="Poppins"/>
                        <a:cs typeface="Poppins"/>
                      </a:endParaRPr>
                    </a:p>
                    <a:p>
                      <a:pPr marL="285750" lvl="0" indent="-285750" algn="l">
                        <a:lnSpc>
                          <a:spcPct val="100000"/>
                        </a:lnSpc>
                        <a:spcBef>
                          <a:spcPts val="0"/>
                        </a:spcBef>
                        <a:spcAft>
                          <a:spcPts val="0"/>
                        </a:spcAft>
                        <a:buFont typeface="Arial"/>
                        <a:buChar char="•"/>
                      </a:pPr>
                      <a:r>
                        <a:rPr lang="en-US" sz="1600" b="0" i="0" u="none" strike="noStrike" noProof="0">
                          <a:solidFill>
                            <a:srgbClr val="000000"/>
                          </a:solidFill>
                          <a:effectLst/>
                          <a:latin typeface="Poppins"/>
                          <a:cs typeface="Poppins"/>
                        </a:rPr>
                        <a:t>If successful, check:</a:t>
                      </a:r>
                      <a:endParaRPr lang="en-US" sz="1600">
                        <a:latin typeface="Poppins"/>
                        <a:cs typeface="Poppins"/>
                      </a:endParaRPr>
                    </a:p>
                    <a:p>
                      <a:pPr marL="285750" lvl="0" indent="-285750" algn="l">
                        <a:lnSpc>
                          <a:spcPct val="100000"/>
                        </a:lnSpc>
                        <a:spcBef>
                          <a:spcPts val="0"/>
                        </a:spcBef>
                        <a:spcAft>
                          <a:spcPts val="0"/>
                        </a:spcAft>
                        <a:buFont typeface="Arial"/>
                        <a:buChar char="•"/>
                      </a:pPr>
                      <a:r>
                        <a:rPr lang="en-US" sz="1600" b="0" i="0" u="none" strike="noStrike" noProof="0">
                          <a:solidFill>
                            <a:srgbClr val="000000"/>
                          </a:solidFill>
                          <a:effectLst/>
                          <a:latin typeface="Poppins"/>
                          <a:cs typeface="Poppins"/>
                        </a:rPr>
                        <a:t>Calls, Data &amp; Text/SMS</a:t>
                      </a:r>
                      <a:endParaRPr lang="en-US" sz="1600">
                        <a:latin typeface="Poppins"/>
                        <a:cs typeface="Poppins"/>
                      </a:endParaRPr>
                    </a:p>
                    <a:p>
                      <a:pPr marL="0" lvl="0" indent="0" algn="l">
                        <a:lnSpc>
                          <a:spcPct val="100000"/>
                        </a:lnSpc>
                        <a:spcBef>
                          <a:spcPts val="0"/>
                        </a:spcBef>
                        <a:spcAft>
                          <a:spcPts val="0"/>
                        </a:spcAft>
                        <a:buNone/>
                      </a:pPr>
                      <a:endParaRPr lang="en-US" sz="1600">
                        <a:latin typeface="Poppins"/>
                        <a:cs typeface="Poppins"/>
                      </a:endParaRPr>
                    </a:p>
                    <a:p>
                      <a:pPr marL="0" lvl="0" indent="0" algn="l">
                        <a:lnSpc>
                          <a:spcPct val="100000"/>
                        </a:lnSpc>
                        <a:spcBef>
                          <a:spcPts val="0"/>
                        </a:spcBef>
                        <a:spcAft>
                          <a:spcPts val="0"/>
                        </a:spcAft>
                        <a:buNone/>
                      </a:pPr>
                      <a:r>
                        <a:rPr lang="en-US" sz="1600" b="0" i="0" u="none" strike="noStrike" noProof="0">
                          <a:solidFill>
                            <a:srgbClr val="000000"/>
                          </a:solidFill>
                          <a:effectLst/>
                          <a:latin typeface="Poppins"/>
                          <a:cs typeface="Poppins"/>
                        </a:rPr>
                        <a:t>If issue persists:</a:t>
                      </a:r>
                      <a:endParaRPr lang="en-US" sz="1600">
                        <a:latin typeface="Poppins"/>
                        <a:cs typeface="Poppins"/>
                      </a:endParaRPr>
                    </a:p>
                    <a:p>
                      <a:pPr marL="285750" lvl="0" indent="-285750" algn="l">
                        <a:lnSpc>
                          <a:spcPct val="100000"/>
                        </a:lnSpc>
                        <a:spcBef>
                          <a:spcPts val="0"/>
                        </a:spcBef>
                        <a:spcAft>
                          <a:spcPts val="0"/>
                        </a:spcAft>
                        <a:buFont typeface="Arial"/>
                        <a:buChar char="•"/>
                      </a:pPr>
                      <a:r>
                        <a:rPr lang="en-US" sz="1600" b="0" i="0" u="none" strike="noStrike" noProof="0">
                          <a:solidFill>
                            <a:srgbClr val="000000"/>
                          </a:solidFill>
                          <a:effectLst/>
                          <a:latin typeface="Poppins"/>
                          <a:cs typeface="Poppins"/>
                        </a:rPr>
                        <a:t>Restart the iPhone</a:t>
                      </a:r>
                      <a:endParaRPr lang="en-US" sz="1600">
                        <a:latin typeface="Poppins"/>
                        <a:cs typeface="Poppins"/>
                      </a:endParaRPr>
                    </a:p>
                    <a:p>
                      <a:pPr marL="285750" lvl="0" indent="-285750" algn="l">
                        <a:lnSpc>
                          <a:spcPct val="100000"/>
                        </a:lnSpc>
                        <a:spcBef>
                          <a:spcPts val="0"/>
                        </a:spcBef>
                        <a:spcAft>
                          <a:spcPts val="0"/>
                        </a:spcAft>
                        <a:buFont typeface="Arial"/>
                        <a:buChar char="•"/>
                      </a:pPr>
                      <a:r>
                        <a:rPr lang="en-US" sz="1600" b="0" i="0" u="none" strike="noStrike" noProof="0">
                          <a:solidFill>
                            <a:srgbClr val="000000"/>
                          </a:solidFill>
                          <a:effectLst/>
                          <a:latin typeface="Poppins"/>
                          <a:cs typeface="Poppins"/>
                        </a:rPr>
                        <a:t>Try installing again</a:t>
                      </a:r>
                      <a:endParaRPr lang="en-US" sz="1600">
                        <a:latin typeface="Poppins"/>
                        <a:cs typeface="Poppins"/>
                      </a:endParaRPr>
                    </a:p>
                    <a:p>
                      <a:pPr marL="285750" lvl="0" indent="-285750" algn="l">
                        <a:lnSpc>
                          <a:spcPct val="100000"/>
                        </a:lnSpc>
                        <a:spcBef>
                          <a:spcPts val="0"/>
                        </a:spcBef>
                        <a:spcAft>
                          <a:spcPts val="0"/>
                        </a:spcAft>
                        <a:buFont typeface="Arial"/>
                        <a:buChar char="•"/>
                      </a:pPr>
                      <a:r>
                        <a:rPr lang="en-US" sz="1600" b="0" i="0" u="none" strike="noStrike" noProof="0">
                          <a:solidFill>
                            <a:srgbClr val="000000"/>
                          </a:solidFill>
                          <a:effectLst/>
                          <a:latin typeface="Poppins"/>
                          <a:cs typeface="Poppins"/>
                        </a:rPr>
                        <a:t>Restart the phone after the second attempt</a:t>
                      </a:r>
                      <a:endParaRPr lang="en-US" sz="1600">
                        <a:latin typeface="Poppins"/>
                        <a:cs typeface="Poppins"/>
                      </a:endParaRPr>
                    </a:p>
                    <a:p>
                      <a:pPr marL="285750" lvl="0" indent="-285750" algn="l">
                        <a:lnSpc>
                          <a:spcPct val="100000"/>
                        </a:lnSpc>
                        <a:spcBef>
                          <a:spcPts val="0"/>
                        </a:spcBef>
                        <a:spcAft>
                          <a:spcPts val="0"/>
                        </a:spcAft>
                        <a:buFont typeface="Arial"/>
                        <a:buChar char="•"/>
                      </a:pPr>
                      <a:r>
                        <a:rPr lang="en-US" sz="1600" b="0" i="0" u="none" strike="noStrike" noProof="0">
                          <a:solidFill>
                            <a:srgbClr val="000000"/>
                          </a:solidFill>
                          <a:effectLst/>
                          <a:latin typeface="Poppins"/>
                          <a:cs typeface="Poppins"/>
                        </a:rPr>
                        <a:t>🔁 Restarting helps refresh the network and complete e-SIM setup.</a:t>
                      </a:r>
                      <a:endParaRPr lang="en-US" sz="1600">
                        <a:latin typeface="Poppins"/>
                        <a:cs typeface="Poppins"/>
                      </a:endParaRPr>
                    </a:p>
                    <a:p>
                      <a:pPr marL="0" lvl="0" indent="0" algn="l">
                        <a:lnSpc>
                          <a:spcPct val="100000"/>
                        </a:lnSpc>
                        <a:spcBef>
                          <a:spcPts val="0"/>
                        </a:spcBef>
                        <a:spcAft>
                          <a:spcPts val="0"/>
                        </a:spcAft>
                        <a:buFont typeface="Arial"/>
                        <a:buChar char="•"/>
                      </a:pPr>
                      <a:endParaRPr lang="en-US" sz="1600">
                        <a:latin typeface="Poppins"/>
                        <a:cs typeface="Poppins"/>
                      </a:endParaRPr>
                    </a:p>
                    <a:p>
                      <a:pPr marL="0" lvl="0" indent="0" algn="l">
                        <a:lnSpc>
                          <a:spcPct val="100000"/>
                        </a:lnSpc>
                        <a:spcBef>
                          <a:spcPts val="0"/>
                        </a:spcBef>
                        <a:spcAft>
                          <a:spcPts val="0"/>
                        </a:spcAft>
                        <a:buNone/>
                      </a:pPr>
                      <a:r>
                        <a:rPr lang="en-US" sz="1600" b="1" i="0" u="none" strike="noStrike" noProof="0">
                          <a:solidFill>
                            <a:srgbClr val="000000"/>
                          </a:solidFill>
                          <a:effectLst/>
                          <a:latin typeface="Poppins"/>
                          <a:cs typeface="Poppins"/>
                        </a:rPr>
                        <a:t>If STILL not working after max 2 attempts, escalate.</a:t>
                      </a:r>
                      <a:endParaRPr lang="en-US" b="1">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r h="839589">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sp>
        <p:nvSpPr>
          <p:cNvPr id="4" name="Shape 6">
            <a:extLst>
              <a:ext uri="{FF2B5EF4-FFF2-40B4-BE49-F238E27FC236}">
                <a16:creationId xmlns:a16="http://schemas.microsoft.com/office/drawing/2014/main" id="{511A9D0C-58AC-BA55-CA55-8AF0FD8A1379}"/>
              </a:ext>
            </a:extLst>
          </p:cNvPr>
          <p:cNvSpPr/>
          <p:nvPr/>
        </p:nvSpPr>
        <p:spPr>
          <a:xfrm>
            <a:off x="1057954" y="2632015"/>
            <a:ext cx="4440383" cy="616564"/>
          </a:xfrm>
          <a:prstGeom prst="roundRect">
            <a:avLst>
              <a:gd name="adj" fmla="val 6522"/>
            </a:avLst>
          </a:prstGeom>
          <a:solidFill>
            <a:srgbClr val="EAD6CA"/>
          </a:solidFill>
          <a:ln w="12700">
            <a:solidFill>
              <a:srgbClr val="EAD6CA">
                <a:alpha val="0"/>
              </a:srgbClr>
            </a:solidFill>
            <a:prstDash val="solid"/>
          </a:ln>
        </p:spPr>
        <p:txBody>
          <a:bodyPr lIns="91440" tIns="45720" rIns="91440" bIns="45720" anchor="t"/>
          <a:lstStyle/>
          <a:p>
            <a:r>
              <a:rPr lang="en-US" sz="1600">
                <a:latin typeface="Poppins"/>
                <a:cs typeface="Poppins"/>
              </a:rPr>
              <a:t>⚠️Only remove </a:t>
            </a:r>
            <a:r>
              <a:rPr lang="en-US" sz="1600" err="1">
                <a:latin typeface="Poppins"/>
                <a:cs typeface="Poppins"/>
              </a:rPr>
              <a:t>LoopDL</a:t>
            </a:r>
            <a:r>
              <a:rPr lang="en-US" sz="1600">
                <a:latin typeface="Poppins"/>
                <a:cs typeface="Poppins"/>
              </a:rPr>
              <a:t> e-SIMs. </a:t>
            </a:r>
          </a:p>
          <a:p>
            <a:r>
              <a:rPr lang="en-US" sz="1600">
                <a:latin typeface="Poppins"/>
                <a:cs typeface="Poppins"/>
              </a:rPr>
              <a:t>Do not delete other SIMs unless advised</a:t>
            </a:r>
            <a:endParaRPr lang="en-GB"/>
          </a:p>
        </p:txBody>
      </p:sp>
    </p:spTree>
    <p:extLst>
      <p:ext uri="{BB962C8B-B14F-4D97-AF65-F5344CB8AC3E}">
        <p14:creationId xmlns:p14="http://schemas.microsoft.com/office/powerpoint/2010/main" val="33439337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8DAF1-EEFD-55A0-61D8-FECB0A98BFA3}"/>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9756B729-135A-23A8-B089-6DDE6E9A60C9}"/>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ea typeface="+mn-lt"/>
                <a:cs typeface="Poppins"/>
              </a:rPr>
              <a:t>New</a:t>
            </a:r>
            <a:endParaRPr lang="en-US" sz="6000" b="1">
              <a:solidFill>
                <a:srgbClr val="000000"/>
              </a:solidFill>
              <a:latin typeface="Poppins"/>
              <a:ea typeface="+mn-lt"/>
              <a:cs typeface="Poppins"/>
            </a:endParaRPr>
          </a:p>
          <a:p>
            <a:r>
              <a:rPr lang="en-GB" sz="2000" b="1">
                <a:latin typeface="Poppins"/>
                <a:ea typeface="+mn-lt"/>
                <a:cs typeface="Poppins"/>
              </a:rPr>
              <a:t>Onboarding process</a:t>
            </a:r>
            <a:endParaRPr lang="en-GB" b="1">
              <a:latin typeface="Poppins"/>
              <a:cs typeface="Poppins"/>
            </a:endParaRPr>
          </a:p>
          <a:p>
            <a:endParaRPr lang="en-GB" sz="2800" b="1">
              <a:latin typeface="Poppins"/>
              <a:cs typeface="Poppins"/>
            </a:endParaRPr>
          </a:p>
        </p:txBody>
      </p:sp>
      <p:graphicFrame>
        <p:nvGraphicFramePr>
          <p:cNvPr id="7" name="Table 6">
            <a:extLst>
              <a:ext uri="{FF2B5EF4-FFF2-40B4-BE49-F238E27FC236}">
                <a16:creationId xmlns:a16="http://schemas.microsoft.com/office/drawing/2014/main" id="{AD19536D-B6F3-9B59-3241-C15746A4209B}"/>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15B86FC5-6A1B-F01C-3586-1D3ACE4B7289}"/>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DBCB7FA5-7454-A195-511C-ED7736DC38C1}"/>
              </a:ext>
            </a:extLst>
          </p:cNvPr>
          <p:cNvGraphicFramePr>
            <a:graphicFrameLocks noGrp="1"/>
          </p:cNvGraphicFramePr>
          <p:nvPr>
            <p:extLst>
              <p:ext uri="{D42A27DB-BD31-4B8C-83A1-F6EECF244321}">
                <p14:modId xmlns:p14="http://schemas.microsoft.com/office/powerpoint/2010/main" val="2061521013"/>
              </p:ext>
            </p:extLst>
          </p:nvPr>
        </p:nvGraphicFramePr>
        <p:xfrm>
          <a:off x="1049547" y="2176167"/>
          <a:ext cx="6913143" cy="2950945"/>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2526634">
                <a:tc>
                  <a:txBody>
                    <a:bodyPr/>
                    <a:lstStyle/>
                    <a:p>
                      <a:pPr lvl="0">
                        <a:buNone/>
                      </a:pPr>
                      <a:r>
                        <a:rPr lang="en-US" sz="1600" b="1" i="0" u="none" strike="noStrike" noProof="0">
                          <a:solidFill>
                            <a:srgbClr val="000000"/>
                          </a:solidFill>
                          <a:effectLst/>
                          <a:latin typeface="Poppins"/>
                          <a:cs typeface="Poppins"/>
                        </a:rPr>
                        <a:t>Steps:</a:t>
                      </a:r>
                    </a:p>
                    <a:p>
                      <a:pPr marL="342900" lvl="0" indent="-342900" algn="l">
                        <a:lnSpc>
                          <a:spcPct val="100000"/>
                        </a:lnSpc>
                        <a:spcBef>
                          <a:spcPts val="0"/>
                        </a:spcBef>
                        <a:spcAft>
                          <a:spcPts val="0"/>
                        </a:spcAft>
                        <a:buAutoNum type="arabicPeriod"/>
                      </a:pPr>
                      <a:r>
                        <a:rPr lang="en-US" sz="1600" b="1" i="0" u="none" strike="noStrike" noProof="0">
                          <a:solidFill>
                            <a:srgbClr val="000000"/>
                          </a:solidFill>
                          <a:effectLst/>
                          <a:latin typeface="Poppins"/>
                          <a:cs typeface="Poppins"/>
                        </a:rPr>
                        <a:t>Onboarding new devices</a:t>
                      </a:r>
                      <a:endParaRPr lang="en-US" sz="1600" b="0" i="0" u="none" strike="noStrike" noProof="0">
                        <a:solidFill>
                          <a:srgbClr val="000000"/>
                        </a:solidFill>
                        <a:effectLst/>
                        <a:latin typeface="Poppins"/>
                        <a:cs typeface="Poppins"/>
                      </a:endParaRPr>
                    </a:p>
                    <a:p>
                      <a:pPr marL="800100" lvl="1" indent="-342900" algn="l">
                        <a:lnSpc>
                          <a:spcPct val="100000"/>
                        </a:lnSpc>
                        <a:spcBef>
                          <a:spcPts val="0"/>
                        </a:spcBef>
                        <a:spcAft>
                          <a:spcPts val="0"/>
                        </a:spcAft>
                        <a:buFont typeface="Arial"/>
                        <a:buChar char="•"/>
                      </a:pPr>
                      <a:r>
                        <a:rPr lang="en-US" sz="1600" b="0" i="0" u="none" strike="noStrike" noProof="0">
                          <a:solidFill>
                            <a:srgbClr val="000000"/>
                          </a:solidFill>
                          <a:effectLst/>
                          <a:latin typeface="Poppins"/>
                          <a:cs typeface="Poppins"/>
                        </a:rPr>
                        <a:t>Run speed test and optimization in </a:t>
                      </a:r>
                      <a:r>
                        <a:rPr lang="en-US" sz="1600" b="0" i="0" u="none" strike="noStrike" noProof="0" err="1">
                          <a:solidFill>
                            <a:srgbClr val="000000"/>
                          </a:solidFill>
                          <a:effectLst/>
                          <a:latin typeface="Poppins"/>
                          <a:cs typeface="Poppins"/>
                        </a:rPr>
                        <a:t>theStation</a:t>
                      </a: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r>
                        <a:rPr lang="en-US" sz="1600" b="1" i="0" u="none" strike="noStrike" noProof="0">
                          <a:solidFill>
                            <a:srgbClr val="000000"/>
                          </a:solidFill>
                          <a:effectLst/>
                          <a:latin typeface="Poppins"/>
                          <a:cs typeface="Poppins"/>
                        </a:rPr>
                        <a:t>Checking experience</a:t>
                      </a:r>
                    </a:p>
                    <a:p>
                      <a:pPr marL="800100" lvl="1" indent="-342900" algn="l">
                        <a:lnSpc>
                          <a:spcPct val="100000"/>
                        </a:lnSpc>
                        <a:spcBef>
                          <a:spcPts val="0"/>
                        </a:spcBef>
                        <a:spcAft>
                          <a:spcPts val="0"/>
                        </a:spcAft>
                        <a:buFont typeface="Arial"/>
                        <a:buChar char="•"/>
                      </a:pPr>
                      <a:r>
                        <a:rPr lang="en-US" sz="1600" b="0" i="0" u="none" strike="noStrike" noProof="0">
                          <a:solidFill>
                            <a:srgbClr val="000000"/>
                          </a:solidFill>
                          <a:effectLst/>
                          <a:latin typeface="Poppins"/>
                          <a:cs typeface="Poppins"/>
                        </a:rPr>
                        <a:t>Verify connection speed with the customer</a:t>
                      </a:r>
                      <a:endParaRPr lang="en-US" sz="1600" b="1"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r>
                        <a:rPr lang="en-US" sz="1600" b="1" i="0" u="none" strike="noStrike" noProof="0">
                          <a:solidFill>
                            <a:srgbClr val="000000"/>
                          </a:solidFill>
                          <a:effectLst/>
                          <a:latin typeface="Poppins"/>
                          <a:cs typeface="Poppins"/>
                        </a:rPr>
                        <a:t>Getting customer feedback</a:t>
                      </a:r>
                    </a:p>
                    <a:p>
                      <a:pPr marL="800100" lvl="1" indent="-342900" algn="l">
                        <a:lnSpc>
                          <a:spcPct val="100000"/>
                        </a:lnSpc>
                        <a:spcBef>
                          <a:spcPts val="0"/>
                        </a:spcBef>
                        <a:spcAft>
                          <a:spcPts val="0"/>
                        </a:spcAft>
                        <a:buFont typeface="Arial"/>
                        <a:buChar char="•"/>
                      </a:pPr>
                      <a:r>
                        <a:rPr lang="en-US" sz="1600" b="0" i="0" u="none" strike="noStrike" noProof="0">
                          <a:solidFill>
                            <a:srgbClr val="000000"/>
                          </a:solidFill>
                          <a:effectLst/>
                          <a:latin typeface="Poppins"/>
                          <a:cs typeface="Poppins"/>
                        </a:rPr>
                        <a:t>Confirm satisfaction and overall experience with the product and service </a:t>
                      </a:r>
                      <a:endParaRPr lang="en-US" sz="1600" b="1"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r>
                        <a:rPr lang="en-US" sz="1600" b="1" i="0" u="none" strike="noStrike" noProof="0">
                          <a:solidFill>
                            <a:srgbClr val="000000"/>
                          </a:solidFill>
                          <a:effectLst/>
                          <a:latin typeface="Poppins"/>
                          <a:cs typeface="Poppins"/>
                        </a:rPr>
                        <a:t>Move to healthy</a:t>
                      </a:r>
                    </a:p>
                    <a:p>
                      <a:pPr marL="0" lvl="0" indent="0" algn="l">
                        <a:lnSpc>
                          <a:spcPct val="100000"/>
                        </a:lnSpc>
                        <a:spcBef>
                          <a:spcPts val="0"/>
                        </a:spcBef>
                        <a:spcAft>
                          <a:spcPts val="0"/>
                        </a:spcAft>
                        <a:buNone/>
                      </a:pPr>
                      <a:endParaRPr lang="en-US" sz="1600" b="1" i="0" u="none" strike="noStrike" noProof="0">
                        <a:solidFill>
                          <a:srgbClr val="000000"/>
                        </a:solidFill>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r h="421105">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spTree>
    <p:extLst>
      <p:ext uri="{BB962C8B-B14F-4D97-AF65-F5344CB8AC3E}">
        <p14:creationId xmlns:p14="http://schemas.microsoft.com/office/powerpoint/2010/main" val="19935293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36BB2-5525-CCC1-8064-08AEFDCB5B80}"/>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001F7F38-5F0A-4E6D-8333-6BA484E41077}"/>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ea typeface="+mn-lt"/>
                <a:cs typeface="Poppins"/>
              </a:rPr>
              <a:t>Billing</a:t>
            </a:r>
          </a:p>
          <a:p>
            <a:r>
              <a:rPr lang="en-GB" sz="2000" b="1">
                <a:solidFill>
                  <a:srgbClr val="000000"/>
                </a:solidFill>
                <a:latin typeface="Poppins"/>
                <a:ea typeface="+mn-lt"/>
                <a:cs typeface="Poppins"/>
              </a:rPr>
              <a:t>Make Payment</a:t>
            </a:r>
            <a:endParaRPr lang="en-GB" b="1">
              <a:latin typeface="Poppins"/>
              <a:cs typeface="Poppins"/>
            </a:endParaRPr>
          </a:p>
          <a:p>
            <a:endParaRPr lang="en-GB" sz="2800" b="1">
              <a:solidFill>
                <a:srgbClr val="000000"/>
              </a:solidFill>
              <a:latin typeface="Poppins"/>
              <a:ea typeface="+mn-lt"/>
              <a:cs typeface="Poppins"/>
            </a:endParaRPr>
          </a:p>
        </p:txBody>
      </p:sp>
      <p:graphicFrame>
        <p:nvGraphicFramePr>
          <p:cNvPr id="7" name="Table 6">
            <a:extLst>
              <a:ext uri="{FF2B5EF4-FFF2-40B4-BE49-F238E27FC236}">
                <a16:creationId xmlns:a16="http://schemas.microsoft.com/office/drawing/2014/main" id="{A59F1A4C-D34D-B3A1-5069-D7A6DC5E2F77}"/>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9D8AB631-90A0-697B-BD8C-89D364D70008}"/>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697B5C4D-950F-F25D-16E4-1742372DFCE8}"/>
              </a:ext>
            </a:extLst>
          </p:cNvPr>
          <p:cNvGraphicFramePr>
            <a:graphicFrameLocks noGrp="1"/>
          </p:cNvGraphicFramePr>
          <p:nvPr>
            <p:extLst>
              <p:ext uri="{D42A27DB-BD31-4B8C-83A1-F6EECF244321}">
                <p14:modId xmlns:p14="http://schemas.microsoft.com/office/powerpoint/2010/main" val="2409948766"/>
              </p:ext>
            </p:extLst>
          </p:nvPr>
        </p:nvGraphicFramePr>
        <p:xfrm>
          <a:off x="683015" y="1713180"/>
          <a:ext cx="6913143" cy="5868789"/>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5029200">
                <a:tc>
                  <a:txBody>
                    <a:bodyPr/>
                    <a:lstStyle/>
                    <a:p>
                      <a:pPr lvl="0">
                        <a:buNone/>
                      </a:pPr>
                      <a:r>
                        <a:rPr lang="en-US" sz="1600" b="1" i="0" u="none" strike="noStrike" noProof="0">
                          <a:solidFill>
                            <a:srgbClr val="000000"/>
                          </a:solidFill>
                          <a:effectLst/>
                          <a:latin typeface="Poppins"/>
                          <a:cs typeface="Poppins"/>
                        </a:rPr>
                        <a:t>Things we check </a:t>
                      </a:r>
                      <a:endParaRPr lang="en-US" sz="1600" b="0" i="0" u="none" strike="noStrike" noProof="0">
                        <a:solidFill>
                          <a:srgbClr val="000000"/>
                        </a:solidFill>
                        <a:effectLst/>
                        <a:latin typeface="Poppins"/>
                        <a:cs typeface="Poppins"/>
                      </a:endParaRPr>
                    </a:p>
                    <a:p>
                      <a:pPr lvl="0">
                        <a:buNone/>
                      </a:pPr>
                      <a:r>
                        <a:rPr lang="en-US" sz="1000" b="0" i="1" u="none" strike="noStrike" noProof="0">
                          <a:solidFill>
                            <a:srgbClr val="000000"/>
                          </a:solidFill>
                          <a:effectLst/>
                          <a:latin typeface="Poppins"/>
                          <a:cs typeface="Poppins"/>
                        </a:rPr>
                        <a:t>ask the customer, check in the station, etc.</a:t>
                      </a:r>
                      <a:endParaRPr lang="en-US" sz="1600" b="1"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Check the expiration date of the card on file</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Verify the last four digits of the card</a:t>
                      </a:r>
                      <a:endParaRPr lang="en-US">
                        <a:latin typeface="Poppins"/>
                        <a:cs typeface="Poppins"/>
                      </a:endParaRPr>
                    </a:p>
                    <a:p>
                      <a:pPr marL="0" lvl="0" indent="0" algn="l">
                        <a:lnSpc>
                          <a:spcPct val="100000"/>
                        </a:lnSpc>
                        <a:spcBef>
                          <a:spcPts val="0"/>
                        </a:spcBef>
                        <a:spcAft>
                          <a:spcPts val="0"/>
                        </a:spcAft>
                        <a:buNone/>
                      </a:pPr>
                      <a:endParaRPr lang="en-US" sz="1600" b="1"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r>
                        <a:rPr lang="en-US" sz="1600" b="1" i="0" u="none" strike="noStrike" noProof="0">
                          <a:solidFill>
                            <a:srgbClr val="000000"/>
                          </a:solidFill>
                          <a:effectLst/>
                          <a:latin typeface="Poppins"/>
                          <a:cs typeface="Poppins"/>
                        </a:rPr>
                        <a:t>What to do next:</a:t>
                      </a: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Tell the customer that the payments are processed via saved card details or by entering new payment information at checkout.</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If the customer has an active subscription, payments are charged automatically monthly</a:t>
                      </a:r>
                      <a:endParaRPr lang="en-US">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r h="839589">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spTree>
    <p:extLst>
      <p:ext uri="{BB962C8B-B14F-4D97-AF65-F5344CB8AC3E}">
        <p14:creationId xmlns:p14="http://schemas.microsoft.com/office/powerpoint/2010/main" val="41171705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6B4EB-F7A2-BE25-D063-16736952E38A}"/>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77814AA5-9C66-FFE3-7918-E123D7F74F40}"/>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ea typeface="+mn-lt"/>
                <a:cs typeface="Poppins"/>
              </a:rPr>
              <a:t>Billing</a:t>
            </a:r>
          </a:p>
          <a:p>
            <a:r>
              <a:rPr lang="en-GB" sz="2000" b="1">
                <a:solidFill>
                  <a:srgbClr val="000000"/>
                </a:solidFill>
                <a:latin typeface="Poppins"/>
                <a:ea typeface="+mn-lt"/>
                <a:cs typeface="Poppins"/>
              </a:rPr>
              <a:t>Customer can't pay</a:t>
            </a:r>
            <a:endParaRPr lang="en-GB"/>
          </a:p>
          <a:p>
            <a:endParaRPr lang="en-GB" sz="2800" b="1">
              <a:solidFill>
                <a:srgbClr val="000000"/>
              </a:solidFill>
              <a:latin typeface="Poppins"/>
              <a:ea typeface="+mn-lt"/>
              <a:cs typeface="Poppins"/>
            </a:endParaRPr>
          </a:p>
        </p:txBody>
      </p:sp>
      <p:graphicFrame>
        <p:nvGraphicFramePr>
          <p:cNvPr id="7" name="Table 6">
            <a:extLst>
              <a:ext uri="{FF2B5EF4-FFF2-40B4-BE49-F238E27FC236}">
                <a16:creationId xmlns:a16="http://schemas.microsoft.com/office/drawing/2014/main" id="{E1E466BA-8F86-6868-AEDA-1E299CDECD7F}"/>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794E2E65-0B60-8C9E-8EDD-FF9A7203BA52}"/>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4AA9588C-BD71-7401-4AA3-1132FA6B8D3B}"/>
              </a:ext>
            </a:extLst>
          </p:cNvPr>
          <p:cNvGraphicFramePr>
            <a:graphicFrameLocks noGrp="1"/>
          </p:cNvGraphicFramePr>
          <p:nvPr>
            <p:extLst>
              <p:ext uri="{D42A27DB-BD31-4B8C-83A1-F6EECF244321}">
                <p14:modId xmlns:p14="http://schemas.microsoft.com/office/powerpoint/2010/main" val="3356360611"/>
              </p:ext>
            </p:extLst>
          </p:nvPr>
        </p:nvGraphicFramePr>
        <p:xfrm>
          <a:off x="914509" y="1259838"/>
          <a:ext cx="6913143" cy="5868789"/>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5029200">
                <a:tc>
                  <a:txBody>
                    <a:bodyPr/>
                    <a:lstStyle/>
                    <a:p>
                      <a:pPr lvl="0">
                        <a:buNone/>
                      </a:pPr>
                      <a:r>
                        <a:rPr lang="en-US" sz="1600" b="1" i="0" u="none" strike="noStrike" noProof="0">
                          <a:solidFill>
                            <a:srgbClr val="000000"/>
                          </a:solidFill>
                          <a:effectLst/>
                          <a:latin typeface="Poppins"/>
                          <a:cs typeface="Poppins"/>
                        </a:rPr>
                        <a:t>Things we check </a:t>
                      </a:r>
                      <a:endParaRPr lang="en-US" sz="1600" b="0" i="0" u="none" strike="noStrike" noProof="0">
                        <a:solidFill>
                          <a:srgbClr val="000000"/>
                        </a:solidFill>
                        <a:effectLst/>
                        <a:latin typeface="Poppins"/>
                        <a:cs typeface="Poppins"/>
                      </a:endParaRPr>
                    </a:p>
                    <a:p>
                      <a:pPr lvl="0">
                        <a:buNone/>
                      </a:pPr>
                      <a:r>
                        <a:rPr lang="en-US" sz="1000" b="0" i="1" u="none" strike="noStrike" noProof="0">
                          <a:solidFill>
                            <a:srgbClr val="000000"/>
                          </a:solidFill>
                          <a:effectLst/>
                          <a:latin typeface="Poppins"/>
                          <a:cs typeface="Poppins"/>
                        </a:rPr>
                        <a:t>ask the customer, check in the station, etc.</a:t>
                      </a:r>
                      <a:endParaRPr lang="en-US" sz="1000" b="1"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Check the card expiration date.</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Review the error message.</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Check the transaction history</a:t>
                      </a:r>
                      <a:endParaRPr lang="en-US" sz="1600">
                        <a:latin typeface="Poppins"/>
                        <a:cs typeface="Poppins"/>
                      </a:endParaRPr>
                    </a:p>
                    <a:p>
                      <a:pPr marL="0" lvl="0" indent="0" algn="l">
                        <a:lnSpc>
                          <a:spcPct val="100000"/>
                        </a:lnSpc>
                        <a:spcBef>
                          <a:spcPts val="0"/>
                        </a:spcBef>
                        <a:spcAft>
                          <a:spcPts val="0"/>
                        </a:spcAft>
                        <a:buNone/>
                      </a:pPr>
                      <a:endParaRPr lang="en-US" sz="1600" b="1"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r>
                        <a:rPr lang="en-US" sz="1600" b="1" i="0" u="none" strike="noStrike" noProof="0">
                          <a:solidFill>
                            <a:srgbClr val="000000"/>
                          </a:solidFill>
                          <a:effectLst/>
                          <a:latin typeface="Poppins"/>
                          <a:cs typeface="Poppins"/>
                        </a:rPr>
                        <a:t>What to do next:</a:t>
                      </a: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Tell the customer that the payments are processed via saved card details or by entering new payment information at checkout.</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If the customer has an active subscription, payments are charged automatically monthly</a:t>
                      </a:r>
                      <a:endParaRPr lang="en-US" sz="1600">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r h="839589">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sp>
        <p:nvSpPr>
          <p:cNvPr id="3" name="Shape 6">
            <a:extLst>
              <a:ext uri="{FF2B5EF4-FFF2-40B4-BE49-F238E27FC236}">
                <a16:creationId xmlns:a16="http://schemas.microsoft.com/office/drawing/2014/main" id="{DC872344-E996-D3AB-4FB7-3FAA0B1A8DF9}"/>
              </a:ext>
            </a:extLst>
          </p:cNvPr>
          <p:cNvSpPr/>
          <p:nvPr/>
        </p:nvSpPr>
        <p:spPr>
          <a:xfrm>
            <a:off x="1057954" y="4570511"/>
            <a:ext cx="6629401" cy="859018"/>
          </a:xfrm>
          <a:prstGeom prst="roundRect">
            <a:avLst>
              <a:gd name="adj" fmla="val 6522"/>
            </a:avLst>
          </a:prstGeom>
          <a:solidFill>
            <a:srgbClr val="EAD6CA"/>
          </a:solidFill>
          <a:ln w="12700">
            <a:solidFill>
              <a:srgbClr val="EAD6CA">
                <a:alpha val="0"/>
              </a:srgbClr>
            </a:solidFill>
            <a:prstDash val="solid"/>
          </a:ln>
        </p:spPr>
        <p:txBody>
          <a:bodyPr lIns="91440" tIns="45720" rIns="91440" bIns="45720" anchor="t"/>
          <a:lstStyle/>
          <a:p>
            <a:pPr marL="285750" indent="-285750">
              <a:buFont typeface="Arial"/>
              <a:buChar char="•"/>
            </a:pPr>
            <a:r>
              <a:rPr lang="en-GB" sz="1600" b="1">
                <a:latin typeface="Poppins"/>
                <a:ea typeface="+mn-lt"/>
                <a:cs typeface="Poppins"/>
              </a:rPr>
              <a:t>If the customer wants PTP, let them know that it is a great idea, treat it as a feedback which we will send to our team.</a:t>
            </a:r>
            <a:endParaRPr lang="en-US"/>
          </a:p>
          <a:p>
            <a:pPr marL="285750" indent="-285750">
              <a:buFont typeface="Arial"/>
              <a:buChar char="•"/>
            </a:pPr>
            <a:r>
              <a:rPr lang="en-GB" sz="1600" b="1">
                <a:latin typeface="Poppins"/>
                <a:cs typeface="Poppins"/>
              </a:rPr>
              <a:t>This will otherwise be edited if PTP process is implemented</a:t>
            </a:r>
          </a:p>
        </p:txBody>
      </p:sp>
    </p:spTree>
    <p:extLst>
      <p:ext uri="{BB962C8B-B14F-4D97-AF65-F5344CB8AC3E}">
        <p14:creationId xmlns:p14="http://schemas.microsoft.com/office/powerpoint/2010/main" val="32774920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A6890-1614-B1C7-861E-C96E466B1241}"/>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F407C06B-8D67-C00F-B272-C97C9E0D73FC}"/>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ea typeface="+mn-lt"/>
                <a:cs typeface="Poppins"/>
              </a:rPr>
              <a:t>Billing</a:t>
            </a:r>
          </a:p>
          <a:p>
            <a:r>
              <a:rPr lang="en-GB" sz="2000" b="1">
                <a:solidFill>
                  <a:srgbClr val="000000"/>
                </a:solidFill>
                <a:latin typeface="Poppins"/>
                <a:ea typeface="+mn-lt"/>
                <a:cs typeface="Poppins"/>
              </a:rPr>
              <a:t>Amount check</a:t>
            </a:r>
            <a:endParaRPr lang="en-GB" b="1">
              <a:latin typeface="Poppins"/>
              <a:cs typeface="Poppins"/>
            </a:endParaRPr>
          </a:p>
          <a:p>
            <a:endParaRPr lang="en-GB" sz="2800" b="1">
              <a:solidFill>
                <a:srgbClr val="000000"/>
              </a:solidFill>
              <a:latin typeface="Poppins"/>
              <a:ea typeface="+mn-lt"/>
              <a:cs typeface="Poppins"/>
            </a:endParaRPr>
          </a:p>
        </p:txBody>
      </p:sp>
      <p:graphicFrame>
        <p:nvGraphicFramePr>
          <p:cNvPr id="7" name="Table 6">
            <a:extLst>
              <a:ext uri="{FF2B5EF4-FFF2-40B4-BE49-F238E27FC236}">
                <a16:creationId xmlns:a16="http://schemas.microsoft.com/office/drawing/2014/main" id="{33417B3D-062F-E2A0-6E09-7A02E470B2AC}"/>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6565F743-9E6E-1788-B575-CE756F6AB2A7}"/>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0730D9E5-DE44-693E-ECC5-2230BCBA2816}"/>
              </a:ext>
            </a:extLst>
          </p:cNvPr>
          <p:cNvGraphicFramePr>
            <a:graphicFrameLocks noGrp="1"/>
          </p:cNvGraphicFramePr>
          <p:nvPr>
            <p:extLst>
              <p:ext uri="{D42A27DB-BD31-4B8C-83A1-F6EECF244321}">
                <p14:modId xmlns:p14="http://schemas.microsoft.com/office/powerpoint/2010/main" val="2596312878"/>
              </p:ext>
            </p:extLst>
          </p:nvPr>
        </p:nvGraphicFramePr>
        <p:xfrm>
          <a:off x="769825" y="1935028"/>
          <a:ext cx="6913143" cy="2983642"/>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2557408">
                <a:tc>
                  <a:txBody>
                    <a:bodyPr/>
                    <a:lstStyle/>
                    <a:p>
                      <a:pPr lvl="0">
                        <a:buNone/>
                      </a:pPr>
                      <a:r>
                        <a:rPr lang="en-US" sz="1600" b="1" i="0" u="none" strike="noStrike" noProof="0">
                          <a:solidFill>
                            <a:srgbClr val="000000"/>
                          </a:solidFill>
                          <a:effectLst/>
                          <a:latin typeface="Poppins"/>
                          <a:cs typeface="Poppins"/>
                        </a:rPr>
                        <a:t>Things we check </a:t>
                      </a:r>
                      <a:endParaRPr lang="en-US" sz="1600" b="0" i="0" u="none" strike="noStrike" noProof="0">
                        <a:solidFill>
                          <a:srgbClr val="000000"/>
                        </a:solidFill>
                        <a:effectLst/>
                        <a:latin typeface="Poppins"/>
                        <a:cs typeface="Poppins"/>
                      </a:endParaRPr>
                    </a:p>
                    <a:p>
                      <a:pPr lvl="0">
                        <a:buNone/>
                      </a:pPr>
                      <a:r>
                        <a:rPr lang="en-US" sz="1000" b="0" i="1" u="none" strike="noStrike" noProof="0">
                          <a:solidFill>
                            <a:srgbClr val="000000"/>
                          </a:solidFill>
                          <a:effectLst/>
                          <a:latin typeface="Poppins"/>
                          <a:cs typeface="Poppins"/>
                        </a:rPr>
                        <a:t>ask the customer, check in the station, etc.</a:t>
                      </a:r>
                      <a:endParaRPr lang="en-US" sz="1600" b="1" i="0" u="none" strike="noStrike" noProof="0">
                        <a:solidFill>
                          <a:srgbClr val="000000"/>
                        </a:solidFill>
                        <a:effectLst/>
                        <a:latin typeface="Poppins"/>
                        <a:cs typeface="Poppins"/>
                      </a:endParaRPr>
                    </a:p>
                    <a:p>
                      <a:pPr lvl="0">
                        <a:buNone/>
                      </a:pPr>
                      <a:endParaRPr lang="en-US" sz="1000" b="0" i="1" u="none" strike="noStrike" noProof="0">
                        <a:solidFill>
                          <a:srgbClr val="000000"/>
                        </a:solidFill>
                        <a:effectLst/>
                        <a:latin typeface="Poppins"/>
                        <a:cs typeface="Poppins"/>
                      </a:endParaRPr>
                    </a:p>
                    <a:p>
                      <a:pPr marL="0" lvl="0" indent="0" algn="l">
                        <a:lnSpc>
                          <a:spcPct val="100000"/>
                        </a:lnSpc>
                        <a:spcBef>
                          <a:spcPts val="0"/>
                        </a:spcBef>
                        <a:spcAft>
                          <a:spcPts val="0"/>
                        </a:spcAft>
                        <a:buNone/>
                      </a:pPr>
                      <a:r>
                        <a:rPr lang="en-US" sz="1600" b="0" i="0" u="none" strike="noStrike" noProof="0">
                          <a:solidFill>
                            <a:srgbClr val="000000"/>
                          </a:solidFill>
                          <a:effectLst/>
                          <a:latin typeface="Poppins"/>
                          <a:cs typeface="Poppins"/>
                        </a:rPr>
                        <a:t>Check the total amount to be paid on the invoice or on the station</a:t>
                      </a:r>
                    </a:p>
                    <a:p>
                      <a:pPr marL="0" lvl="0" indent="0" algn="l">
                        <a:lnSpc>
                          <a:spcPct val="100000"/>
                        </a:lnSpc>
                        <a:spcBef>
                          <a:spcPts val="0"/>
                        </a:spcBef>
                        <a:spcAft>
                          <a:spcPts val="0"/>
                        </a:spcAft>
                        <a:buNone/>
                      </a:pPr>
                      <a:r>
                        <a:rPr lang="en-US" sz="1600" b="1" i="0" u="none" strike="noStrike" noProof="0">
                          <a:solidFill>
                            <a:srgbClr val="000000"/>
                          </a:solidFill>
                          <a:effectLst/>
                          <a:latin typeface="Poppins"/>
                          <a:cs typeface="Poppins"/>
                        </a:rPr>
                        <a:t>&gt;&gt; </a:t>
                      </a:r>
                      <a:r>
                        <a:rPr lang="en-US" sz="1600" b="0" i="0" u="none" strike="noStrike" noProof="0">
                          <a:solidFill>
                            <a:srgbClr val="000000"/>
                          </a:solidFill>
                          <a:effectLst/>
                          <a:latin typeface="Poppins"/>
                          <a:cs typeface="Poppins"/>
                        </a:rPr>
                        <a:t>Check the station for invoice</a:t>
                      </a:r>
                    </a:p>
                    <a:p>
                      <a:pPr marL="0" lvl="0" indent="0" algn="l">
                        <a:lnSpc>
                          <a:spcPct val="100000"/>
                        </a:lnSpc>
                        <a:spcBef>
                          <a:spcPts val="0"/>
                        </a:spcBef>
                        <a:spcAft>
                          <a:spcPts val="0"/>
                        </a:spcAft>
                        <a:buNone/>
                      </a:pPr>
                      <a:endParaRPr lang="en-US" sz="1600" b="1"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r>
                        <a:rPr lang="en-US" sz="1600" b="1" i="0" u="none" strike="noStrike" noProof="0">
                          <a:solidFill>
                            <a:srgbClr val="000000"/>
                          </a:solidFill>
                          <a:effectLst/>
                          <a:latin typeface="Poppins"/>
                          <a:cs typeface="Poppins"/>
                        </a:rPr>
                        <a:t>What to do next:</a:t>
                      </a: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Tell the customer to visit the </a:t>
                      </a:r>
                      <a:r>
                        <a:rPr lang="en-US" sz="1600" b="0" i="0" u="none" strike="noStrike" noProof="0" err="1">
                          <a:solidFill>
                            <a:srgbClr val="000000"/>
                          </a:solidFill>
                          <a:effectLst/>
                          <a:latin typeface="Poppins"/>
                          <a:cs typeface="Poppins"/>
                        </a:rPr>
                        <a:t>LoopDL</a:t>
                      </a:r>
                      <a:r>
                        <a:rPr lang="en-US" sz="1600" b="0" i="0" u="none" strike="noStrike" noProof="0">
                          <a:solidFill>
                            <a:srgbClr val="000000"/>
                          </a:solidFill>
                          <a:effectLst/>
                          <a:latin typeface="Poppins"/>
                          <a:cs typeface="Poppins"/>
                        </a:rPr>
                        <a:t> website.</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Inform to check the invoice and that payments are always upfront.</a:t>
                      </a:r>
                      <a:endParaRPr lang="en-US">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r h="426234">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spTree>
    <p:extLst>
      <p:ext uri="{BB962C8B-B14F-4D97-AF65-F5344CB8AC3E}">
        <p14:creationId xmlns:p14="http://schemas.microsoft.com/office/powerpoint/2010/main" val="730007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8B457-FD18-0930-C6CD-FC156B039657}"/>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3D46C69D-E258-0CF6-339A-871BCCA48EB0}"/>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ea typeface="+mn-lt"/>
                <a:cs typeface="Poppins"/>
              </a:rPr>
              <a:t>Billing</a:t>
            </a:r>
          </a:p>
          <a:p>
            <a:r>
              <a:rPr lang="en-GB" sz="2000" b="1">
                <a:solidFill>
                  <a:srgbClr val="000000"/>
                </a:solidFill>
                <a:latin typeface="Poppins"/>
                <a:ea typeface="+mn-lt"/>
                <a:cs typeface="Poppins"/>
              </a:rPr>
              <a:t>Amount check</a:t>
            </a:r>
            <a:endParaRPr lang="en-GB" b="1">
              <a:latin typeface="Poppins"/>
              <a:cs typeface="Poppins"/>
            </a:endParaRPr>
          </a:p>
          <a:p>
            <a:endParaRPr lang="en-GB" sz="2800" b="1">
              <a:solidFill>
                <a:srgbClr val="000000"/>
              </a:solidFill>
              <a:latin typeface="Poppins"/>
              <a:ea typeface="+mn-lt"/>
              <a:cs typeface="Poppins"/>
            </a:endParaRPr>
          </a:p>
        </p:txBody>
      </p:sp>
      <p:graphicFrame>
        <p:nvGraphicFramePr>
          <p:cNvPr id="7" name="Table 6">
            <a:extLst>
              <a:ext uri="{FF2B5EF4-FFF2-40B4-BE49-F238E27FC236}">
                <a16:creationId xmlns:a16="http://schemas.microsoft.com/office/drawing/2014/main" id="{0960A998-B502-FCE2-BB6B-89EB5B1D527D}"/>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E827C751-B18D-371E-AA88-ECED06E16CBB}"/>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2C69C40A-F6C5-0C14-9496-3F609C037999}"/>
              </a:ext>
            </a:extLst>
          </p:cNvPr>
          <p:cNvGraphicFramePr>
            <a:graphicFrameLocks noGrp="1"/>
          </p:cNvGraphicFramePr>
          <p:nvPr>
            <p:extLst>
              <p:ext uri="{D42A27DB-BD31-4B8C-83A1-F6EECF244321}">
                <p14:modId xmlns:p14="http://schemas.microsoft.com/office/powerpoint/2010/main" val="871141236"/>
              </p:ext>
            </p:extLst>
          </p:nvPr>
        </p:nvGraphicFramePr>
        <p:xfrm>
          <a:off x="769825" y="1558851"/>
          <a:ext cx="6913143" cy="3737490"/>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3203564">
                <a:tc>
                  <a:txBody>
                    <a:bodyPr/>
                    <a:lstStyle/>
                    <a:p>
                      <a:pPr lvl="0">
                        <a:buNone/>
                      </a:pPr>
                      <a:r>
                        <a:rPr lang="en-US" sz="1600" b="1" i="0" u="none" strike="noStrike" noProof="0">
                          <a:solidFill>
                            <a:srgbClr val="000000"/>
                          </a:solidFill>
                          <a:effectLst/>
                          <a:latin typeface="Poppins"/>
                          <a:cs typeface="Poppins"/>
                        </a:rPr>
                        <a:t>Things we check </a:t>
                      </a:r>
                      <a:endParaRPr lang="en-US" sz="1600" b="0" i="0" u="none" strike="noStrike" noProof="0">
                        <a:solidFill>
                          <a:srgbClr val="000000"/>
                        </a:solidFill>
                        <a:effectLst/>
                        <a:latin typeface="Poppins"/>
                        <a:cs typeface="Poppins"/>
                      </a:endParaRPr>
                    </a:p>
                    <a:p>
                      <a:pPr lvl="0">
                        <a:buNone/>
                      </a:pPr>
                      <a:r>
                        <a:rPr lang="en-US" sz="1000" b="0" i="1" u="none" strike="noStrike" noProof="0">
                          <a:solidFill>
                            <a:srgbClr val="000000"/>
                          </a:solidFill>
                          <a:effectLst/>
                          <a:latin typeface="Poppins"/>
                          <a:cs typeface="Poppins"/>
                        </a:rPr>
                        <a:t>ask the customer, check in the station, etc.</a:t>
                      </a:r>
                      <a:endParaRPr lang="en-US" sz="1600" b="1" i="0" u="none" strike="noStrike" noProof="0">
                        <a:solidFill>
                          <a:srgbClr val="000000"/>
                        </a:solidFill>
                        <a:effectLst/>
                        <a:latin typeface="Poppins"/>
                        <a:cs typeface="Poppins"/>
                      </a:endParaRPr>
                    </a:p>
                    <a:p>
                      <a:pPr lvl="0">
                        <a:buNone/>
                      </a:pPr>
                      <a:endParaRPr lang="en-US" sz="1000" b="0" i="1"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Check the expiration date of the card on file</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Verify the last four digits of the card</a:t>
                      </a:r>
                      <a:endParaRPr lang="en-US">
                        <a:latin typeface="Poppins"/>
                        <a:cs typeface="Poppins"/>
                      </a:endParaRPr>
                    </a:p>
                    <a:p>
                      <a:pPr marL="0" lvl="0" indent="0" algn="l">
                        <a:lnSpc>
                          <a:spcPct val="100000"/>
                        </a:lnSpc>
                        <a:spcBef>
                          <a:spcPts val="0"/>
                        </a:spcBef>
                        <a:spcAft>
                          <a:spcPts val="0"/>
                        </a:spcAft>
                        <a:buNone/>
                      </a:pPr>
                      <a:endParaRPr lang="en-US" sz="1600" b="1"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r>
                        <a:rPr lang="en-US" sz="1600" b="1" i="0" u="none" strike="noStrike" noProof="0">
                          <a:solidFill>
                            <a:srgbClr val="000000"/>
                          </a:solidFill>
                          <a:effectLst/>
                          <a:latin typeface="Poppins"/>
                          <a:cs typeface="Poppins"/>
                        </a:rPr>
                        <a:t>What to do next:</a:t>
                      </a:r>
                    </a:p>
                    <a:p>
                      <a:pPr marL="0" lvl="0" indent="0" algn="l">
                        <a:lnSpc>
                          <a:spcPct val="100000"/>
                        </a:lnSpc>
                        <a:spcBef>
                          <a:spcPts val="0"/>
                        </a:spcBef>
                        <a:spcAft>
                          <a:spcPts val="0"/>
                        </a:spcAft>
                        <a:buNone/>
                      </a:pPr>
                      <a:endParaRPr lang="en-US" sz="1600" b="1"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Tell the customer that the payments are processed via saved card details or by entering new payment information at checkout.</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If the customer has an active subscription, payments are charged automatically monthly</a:t>
                      </a:r>
                      <a:endParaRPr lang="en-US">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r h="533926">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spTree>
    <p:extLst>
      <p:ext uri="{BB962C8B-B14F-4D97-AF65-F5344CB8AC3E}">
        <p14:creationId xmlns:p14="http://schemas.microsoft.com/office/powerpoint/2010/main" val="9245807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E21E8-2E2E-0671-05ED-C0BE4AB26B8A}"/>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DBC896DA-D204-D55F-E26D-CEEAA9837373}"/>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ea typeface="+mn-lt"/>
                <a:cs typeface="Poppins"/>
              </a:rPr>
              <a:t>Billing</a:t>
            </a:r>
          </a:p>
          <a:p>
            <a:r>
              <a:rPr lang="en-GB" sz="2000" b="1">
                <a:solidFill>
                  <a:srgbClr val="000000"/>
                </a:solidFill>
                <a:ea typeface="+mn-lt"/>
                <a:cs typeface="+mn-lt"/>
              </a:rPr>
              <a:t>Update Card Details</a:t>
            </a:r>
            <a:endParaRPr lang="en-GB" b="1"/>
          </a:p>
          <a:p>
            <a:endParaRPr lang="en-GB" sz="2800" b="1">
              <a:solidFill>
                <a:srgbClr val="000000"/>
              </a:solidFill>
              <a:latin typeface="Poppins"/>
              <a:ea typeface="+mn-lt"/>
              <a:cs typeface="Poppins"/>
            </a:endParaRPr>
          </a:p>
        </p:txBody>
      </p:sp>
      <p:graphicFrame>
        <p:nvGraphicFramePr>
          <p:cNvPr id="7" name="Table 6">
            <a:extLst>
              <a:ext uri="{FF2B5EF4-FFF2-40B4-BE49-F238E27FC236}">
                <a16:creationId xmlns:a16="http://schemas.microsoft.com/office/drawing/2014/main" id="{E6D49B7C-320A-1E58-4ACD-F60A57047D2C}"/>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C9502E54-E31E-2958-4D9E-A29A2B6117B2}"/>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23CD8494-D141-0DF7-44D0-E81C61167624}"/>
              </a:ext>
            </a:extLst>
          </p:cNvPr>
          <p:cNvGraphicFramePr>
            <a:graphicFrameLocks noGrp="1"/>
          </p:cNvGraphicFramePr>
          <p:nvPr>
            <p:extLst>
              <p:ext uri="{D42A27DB-BD31-4B8C-83A1-F6EECF244321}">
                <p14:modId xmlns:p14="http://schemas.microsoft.com/office/powerpoint/2010/main" val="300422390"/>
              </p:ext>
            </p:extLst>
          </p:nvPr>
        </p:nvGraphicFramePr>
        <p:xfrm>
          <a:off x="1049547" y="208471"/>
          <a:ext cx="6913143" cy="6539349"/>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5029200">
                <a:tc>
                  <a:txBody>
                    <a:bodyPr/>
                    <a:lstStyle/>
                    <a:p>
                      <a:pPr marL="0" lvl="0" indent="0" algn="l">
                        <a:lnSpc>
                          <a:spcPct val="100000"/>
                        </a:lnSpc>
                        <a:spcBef>
                          <a:spcPts val="0"/>
                        </a:spcBef>
                        <a:spcAft>
                          <a:spcPts val="0"/>
                        </a:spcAft>
                        <a:buNone/>
                      </a:pPr>
                      <a:r>
                        <a:rPr lang="en-US" sz="1600" b="1" i="0" u="none" strike="noStrike" noProof="0">
                          <a:solidFill>
                            <a:srgbClr val="000000"/>
                          </a:solidFill>
                          <a:effectLst/>
                          <a:latin typeface="Poppins"/>
                          <a:cs typeface="Poppins"/>
                        </a:rPr>
                        <a:t>What to do next:</a:t>
                      </a:r>
                      <a:endParaRPr lang="en-US" sz="1600">
                        <a:latin typeface="Poppins"/>
                        <a:cs typeface="Poppins"/>
                      </a:endParaRPr>
                    </a:p>
                    <a:p>
                      <a:pPr marL="0" lvl="0" indent="0" algn="l">
                        <a:lnSpc>
                          <a:spcPct val="100000"/>
                        </a:lnSpc>
                        <a:spcBef>
                          <a:spcPts val="0"/>
                        </a:spcBef>
                        <a:spcAft>
                          <a:spcPts val="0"/>
                        </a:spcAft>
                        <a:buNone/>
                      </a:pPr>
                      <a:r>
                        <a:rPr lang="en-US" sz="1600" b="0" i="0" u="none" strike="noStrike" noProof="0">
                          <a:solidFill>
                            <a:srgbClr val="000000"/>
                          </a:solidFill>
                          <a:effectLst/>
                          <a:latin typeface="Poppins"/>
                          <a:cs typeface="Poppins"/>
                        </a:rPr>
                        <a:t>Customers can update their card details by logging into their account on loopdl.co.uk. </a:t>
                      </a:r>
                      <a:endParaRPr lang="en-US" sz="1600">
                        <a:latin typeface="Poppins"/>
                        <a:cs typeface="Poppins"/>
                      </a:endParaRPr>
                    </a:p>
                    <a:p>
                      <a:pPr marL="0" lvl="0" indent="0" algn="l">
                        <a:lnSpc>
                          <a:spcPct val="100000"/>
                        </a:lnSpc>
                        <a:spcBef>
                          <a:spcPts val="0"/>
                        </a:spcBef>
                        <a:spcAft>
                          <a:spcPts val="0"/>
                        </a:spcAft>
                        <a:buNone/>
                      </a:pPr>
                      <a:endParaRPr lang="en-US" sz="1600" b="0"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endParaRPr lang="en-US" sz="1600" b="0"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endParaRPr lang="en-US" sz="1600" b="0"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endParaRPr lang="en-US" sz="1600" b="0"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endParaRPr lang="en-US" sz="1600" b="0"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endParaRPr lang="en-US" sz="1600" b="0"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endParaRPr lang="en-US" sz="1600" b="0"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endParaRPr lang="en-US" sz="1600" b="0"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endParaRPr lang="en-US" sz="1600" b="0"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endParaRPr lang="en-US" sz="1600" b="0"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endParaRPr lang="en-US" sz="1600" b="0"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endParaRPr lang="en-US" sz="1600" b="0"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endParaRPr lang="en-US" sz="1600" b="0"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endParaRPr lang="en-US" sz="1600" b="0"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r>
                        <a:rPr lang="en-US" sz="1600" b="0" i="0" u="none" strike="noStrike" noProof="0">
                          <a:solidFill>
                            <a:srgbClr val="000000"/>
                          </a:solidFill>
                          <a:effectLst/>
                          <a:latin typeface="Poppins"/>
                          <a:cs typeface="Poppins"/>
                        </a:rPr>
                        <a:t>Go to: </a:t>
                      </a:r>
                      <a:endParaRPr lang="en-US" sz="1600">
                        <a:latin typeface="Poppins"/>
                        <a:cs typeface="Poppins"/>
                      </a:endParaRPr>
                    </a:p>
                    <a:p>
                      <a:pPr marL="285750" lvl="0" indent="-285750" algn="l">
                        <a:lnSpc>
                          <a:spcPct val="100000"/>
                        </a:lnSpc>
                        <a:spcBef>
                          <a:spcPts val="0"/>
                        </a:spcBef>
                        <a:spcAft>
                          <a:spcPts val="0"/>
                        </a:spcAft>
                        <a:buFont typeface="Arial"/>
                        <a:buChar char="•"/>
                      </a:pPr>
                      <a:r>
                        <a:rPr lang="en-US" sz="1600" b="0" i="0" u="none" strike="noStrike" noProof="0">
                          <a:solidFill>
                            <a:srgbClr val="000000"/>
                          </a:solidFill>
                          <a:effectLst/>
                          <a:latin typeface="Poppins"/>
                          <a:cs typeface="Poppins"/>
                        </a:rPr>
                        <a:t>My Account </a:t>
                      </a:r>
                      <a:endParaRPr lang="en-US" sz="1600">
                        <a:latin typeface="Poppins"/>
                        <a:cs typeface="Poppins"/>
                      </a:endParaRPr>
                    </a:p>
                    <a:p>
                      <a:pPr marL="285750" lvl="0" indent="-285750" algn="l">
                        <a:lnSpc>
                          <a:spcPct val="100000"/>
                        </a:lnSpc>
                        <a:spcBef>
                          <a:spcPts val="0"/>
                        </a:spcBef>
                        <a:spcAft>
                          <a:spcPts val="0"/>
                        </a:spcAft>
                        <a:buFont typeface="Arial"/>
                        <a:buChar char="•"/>
                      </a:pPr>
                      <a:r>
                        <a:rPr lang="en-US" sz="1600" b="0" i="0" u="none" strike="noStrike" noProof="0">
                          <a:solidFill>
                            <a:srgbClr val="000000"/>
                          </a:solidFill>
                          <a:effectLst/>
                          <a:latin typeface="Poppins"/>
                          <a:cs typeface="Poppins"/>
                        </a:rPr>
                        <a:t>Billing &amp; Payments</a:t>
                      </a:r>
                    </a:p>
                    <a:p>
                      <a:pPr marL="285750" lvl="0" indent="-285750" algn="l">
                        <a:lnSpc>
                          <a:spcPct val="100000"/>
                        </a:lnSpc>
                        <a:spcBef>
                          <a:spcPts val="0"/>
                        </a:spcBef>
                        <a:spcAft>
                          <a:spcPts val="0"/>
                        </a:spcAft>
                        <a:buFont typeface="Arial"/>
                        <a:buChar char="•"/>
                      </a:pPr>
                      <a:r>
                        <a:rPr lang="en-US" sz="1600" b="0" i="0" u="none" strike="noStrike" noProof="0">
                          <a:solidFill>
                            <a:srgbClr val="000000"/>
                          </a:solidFill>
                          <a:effectLst/>
                          <a:latin typeface="Poppins"/>
                          <a:cs typeface="Poppins"/>
                        </a:rPr>
                        <a:t>Click on the card</a:t>
                      </a:r>
                    </a:p>
                    <a:p>
                      <a:pPr marL="285750" lvl="0" indent="-285750" algn="l">
                        <a:lnSpc>
                          <a:spcPct val="100000"/>
                        </a:lnSpc>
                        <a:spcBef>
                          <a:spcPts val="0"/>
                        </a:spcBef>
                        <a:spcAft>
                          <a:spcPts val="0"/>
                        </a:spcAft>
                        <a:buFont typeface="Arial"/>
                        <a:buChar char="•"/>
                      </a:pPr>
                      <a:r>
                        <a:rPr lang="en-US" sz="1600" b="0" i="0" u="none" strike="noStrike" noProof="0">
                          <a:solidFill>
                            <a:srgbClr val="000000"/>
                          </a:solidFill>
                          <a:effectLst/>
                          <a:latin typeface="Poppins"/>
                          <a:cs typeface="Poppins"/>
                        </a:rPr>
                        <a:t>You will be asked "Do you want to update your card details?"</a:t>
                      </a:r>
                    </a:p>
                    <a:p>
                      <a:pPr marL="285750" lvl="0" indent="-285750" algn="l">
                        <a:lnSpc>
                          <a:spcPct val="100000"/>
                        </a:lnSpc>
                        <a:spcBef>
                          <a:spcPts val="0"/>
                        </a:spcBef>
                        <a:spcAft>
                          <a:spcPts val="0"/>
                        </a:spcAft>
                        <a:buFont typeface="Arial"/>
                        <a:buChar char="•"/>
                      </a:pPr>
                      <a:r>
                        <a:rPr lang="en-US" sz="1600" b="0" i="0" u="none" strike="noStrike" noProof="0">
                          <a:solidFill>
                            <a:srgbClr val="000000"/>
                          </a:solidFill>
                          <a:effectLst/>
                          <a:latin typeface="Poppins"/>
                          <a:cs typeface="Poppins"/>
                        </a:rPr>
                        <a:t>Process the edit and confirm</a:t>
                      </a:r>
                    </a:p>
                  </a:txBody>
                  <a:tcPr>
                    <a:lnL>
                      <a:noFill/>
                    </a:lnL>
                    <a:lnR>
                      <a:noFill/>
                    </a:lnR>
                    <a:lnT>
                      <a:noFill/>
                    </a:lnT>
                    <a:lnB>
                      <a:noFill/>
                    </a:lnB>
                    <a:noFill/>
                  </a:tcPr>
                </a:tc>
                <a:extLst>
                  <a:ext uri="{0D108BD9-81ED-4DB2-BD59-A6C34878D82A}">
                    <a16:rowId xmlns:a16="http://schemas.microsoft.com/office/drawing/2014/main" val="3604296047"/>
                  </a:ext>
                </a:extLst>
              </a:tr>
              <a:tr h="839589">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pic>
        <p:nvPicPr>
          <p:cNvPr id="2" name="Picture 1" descr="A screenshot of a computer&#10;&#10;AI-generated content may be incorrect.">
            <a:extLst>
              <a:ext uri="{FF2B5EF4-FFF2-40B4-BE49-F238E27FC236}">
                <a16:creationId xmlns:a16="http://schemas.microsoft.com/office/drawing/2014/main" id="{095425B0-D2C4-0F3E-E7CA-61E9F36E8310}"/>
              </a:ext>
            </a:extLst>
          </p:cNvPr>
          <p:cNvPicPr>
            <a:picLocks noChangeAspect="1"/>
          </p:cNvPicPr>
          <p:nvPr/>
        </p:nvPicPr>
        <p:blipFill>
          <a:blip r:embed="rId2"/>
          <a:stretch>
            <a:fillRect/>
          </a:stretch>
        </p:blipFill>
        <p:spPr>
          <a:xfrm>
            <a:off x="1041977" y="1318219"/>
            <a:ext cx="6917749" cy="2566666"/>
          </a:xfrm>
          <a:prstGeom prst="rect">
            <a:avLst/>
          </a:prstGeom>
        </p:spPr>
      </p:pic>
    </p:spTree>
    <p:extLst>
      <p:ext uri="{BB962C8B-B14F-4D97-AF65-F5344CB8AC3E}">
        <p14:creationId xmlns:p14="http://schemas.microsoft.com/office/powerpoint/2010/main" val="38856001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553D1-20B9-C05E-690F-18A6C79B970F}"/>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6984E3D1-66BA-DC59-73F1-F3379698B76E}"/>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ea typeface="+mn-lt"/>
                <a:cs typeface="Poppins"/>
              </a:rPr>
              <a:t>Billing</a:t>
            </a:r>
          </a:p>
          <a:p>
            <a:r>
              <a:rPr lang="en-GB" sz="2000" b="1">
                <a:solidFill>
                  <a:srgbClr val="000000"/>
                </a:solidFill>
                <a:latin typeface="Poppins"/>
                <a:ea typeface="+mn-lt"/>
                <a:cs typeface="Poppins"/>
              </a:rPr>
              <a:t>Refund</a:t>
            </a:r>
            <a:endParaRPr lang="en-GB" b="1">
              <a:latin typeface="Poppins"/>
              <a:cs typeface="Poppins"/>
            </a:endParaRPr>
          </a:p>
          <a:p>
            <a:endParaRPr lang="en-GB" sz="2800" b="1">
              <a:solidFill>
                <a:srgbClr val="000000"/>
              </a:solidFill>
              <a:latin typeface="Poppins"/>
              <a:ea typeface="+mn-lt"/>
              <a:cs typeface="Poppins"/>
            </a:endParaRPr>
          </a:p>
        </p:txBody>
      </p:sp>
      <p:graphicFrame>
        <p:nvGraphicFramePr>
          <p:cNvPr id="7" name="Table 6">
            <a:extLst>
              <a:ext uri="{FF2B5EF4-FFF2-40B4-BE49-F238E27FC236}">
                <a16:creationId xmlns:a16="http://schemas.microsoft.com/office/drawing/2014/main" id="{8DA38C80-E33C-FCFD-56FF-0E34600584F9}"/>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E73C768E-6F2F-E78C-EE34-F2415D4487E6}"/>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7C33AF1C-5542-CA78-DC0B-741B9FB805E4}"/>
              </a:ext>
            </a:extLst>
          </p:cNvPr>
          <p:cNvGraphicFramePr>
            <a:graphicFrameLocks noGrp="1"/>
          </p:cNvGraphicFramePr>
          <p:nvPr>
            <p:extLst>
              <p:ext uri="{D42A27DB-BD31-4B8C-83A1-F6EECF244321}">
                <p14:modId xmlns:p14="http://schemas.microsoft.com/office/powerpoint/2010/main" val="1900162008"/>
              </p:ext>
            </p:extLst>
          </p:nvPr>
        </p:nvGraphicFramePr>
        <p:xfrm>
          <a:off x="1049547" y="208471"/>
          <a:ext cx="6913143" cy="6600309"/>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5029200">
                <a:tc>
                  <a:txBody>
                    <a:bodyPr/>
                    <a:lstStyle/>
                    <a:p>
                      <a:pPr lvl="0">
                        <a:buNone/>
                      </a:pPr>
                      <a:r>
                        <a:rPr lang="en-US" sz="1600" b="1" i="0" u="none" strike="noStrike" noProof="0">
                          <a:solidFill>
                            <a:srgbClr val="000000"/>
                          </a:solidFill>
                          <a:effectLst/>
                          <a:latin typeface="Poppins"/>
                          <a:cs typeface="Poppins"/>
                        </a:rPr>
                        <a:t>Things we check </a:t>
                      </a:r>
                      <a:endParaRPr lang="en-US" sz="1600" b="0" i="0" u="none" strike="noStrike" noProof="0">
                        <a:solidFill>
                          <a:srgbClr val="000000"/>
                        </a:solidFill>
                        <a:effectLst/>
                        <a:latin typeface="Poppins"/>
                        <a:cs typeface="Poppins"/>
                      </a:endParaRPr>
                    </a:p>
                    <a:p>
                      <a:pPr lvl="0">
                        <a:buNone/>
                      </a:pPr>
                      <a:r>
                        <a:rPr lang="en-US" sz="1000" b="0" i="1" u="none" strike="noStrike" noProof="0">
                          <a:solidFill>
                            <a:srgbClr val="000000"/>
                          </a:solidFill>
                          <a:effectLst/>
                          <a:latin typeface="Poppins"/>
                          <a:cs typeface="Poppins"/>
                        </a:rPr>
                        <a:t>ask the customer, check in the station, etc.</a:t>
                      </a:r>
                      <a:endParaRPr lang="en-US" sz="1600" b="1" i="0" u="none" strike="noStrike" noProof="0">
                        <a:solidFill>
                          <a:srgbClr val="000000"/>
                        </a:solidFill>
                        <a:effectLst/>
                        <a:latin typeface="Poppins"/>
                        <a:cs typeface="Poppins"/>
                      </a:endParaRPr>
                    </a:p>
                    <a:p>
                      <a:pPr lvl="0">
                        <a:buNone/>
                      </a:pPr>
                      <a:endParaRPr lang="en-US" sz="1000" b="0" i="1" u="none" strike="noStrike" noProof="0">
                        <a:solidFill>
                          <a:srgbClr val="000000"/>
                        </a:solidFill>
                        <a:effectLst/>
                        <a:latin typeface="Poppins"/>
                        <a:cs typeface="Poppins"/>
                      </a:endParaRPr>
                    </a:p>
                    <a:p>
                      <a:pPr marL="0" lvl="0" indent="0" algn="l">
                        <a:lnSpc>
                          <a:spcPct val="100000"/>
                        </a:lnSpc>
                        <a:spcBef>
                          <a:spcPts val="0"/>
                        </a:spcBef>
                        <a:spcAft>
                          <a:spcPts val="0"/>
                        </a:spcAft>
                        <a:buNone/>
                      </a:pPr>
                      <a:r>
                        <a:rPr lang="en-US" sz="1600" b="0" i="0" u="none" strike="noStrike" noProof="0">
                          <a:solidFill>
                            <a:srgbClr val="000000"/>
                          </a:solidFill>
                          <a:effectLst/>
                          <a:latin typeface="Poppins"/>
                          <a:cs typeface="Poppins"/>
                        </a:rPr>
                        <a:t>Check if the refund is valid</a:t>
                      </a:r>
                      <a:endParaRPr lang="en-US" sz="1600">
                        <a:latin typeface="Poppins"/>
                        <a:cs typeface="Poppins"/>
                      </a:endParaRPr>
                    </a:p>
                    <a:p>
                      <a:pPr marL="800100" lvl="1" indent="-342900" algn="l">
                        <a:lnSpc>
                          <a:spcPct val="100000"/>
                        </a:lnSpc>
                        <a:spcBef>
                          <a:spcPts val="0"/>
                        </a:spcBef>
                        <a:spcAft>
                          <a:spcPts val="0"/>
                        </a:spcAft>
                        <a:buFont typeface="Courier New"/>
                        <a:buChar char="o"/>
                      </a:pPr>
                      <a:r>
                        <a:rPr lang="en-US" sz="1600" b="0" i="0" u="none" strike="noStrike" noProof="0">
                          <a:solidFill>
                            <a:srgbClr val="000000"/>
                          </a:solidFill>
                          <a:effectLst/>
                          <a:latin typeface="Poppins"/>
                          <a:cs typeface="Poppins"/>
                        </a:rPr>
                        <a:t>Check timestamps </a:t>
                      </a:r>
                    </a:p>
                    <a:p>
                      <a:pPr marL="800100" lvl="1" indent="-342900" algn="l">
                        <a:lnSpc>
                          <a:spcPct val="100000"/>
                        </a:lnSpc>
                        <a:spcBef>
                          <a:spcPts val="0"/>
                        </a:spcBef>
                        <a:spcAft>
                          <a:spcPts val="0"/>
                        </a:spcAft>
                        <a:buFont typeface="Courier New"/>
                        <a:buChar char="o"/>
                      </a:pPr>
                      <a:r>
                        <a:rPr lang="en-US" sz="1600" b="0" i="0" u="none" strike="noStrike" noProof="0">
                          <a:solidFill>
                            <a:srgbClr val="000000"/>
                          </a:solidFill>
                          <a:effectLst/>
                          <a:latin typeface="Poppins"/>
                          <a:cs typeface="Poppins"/>
                        </a:rPr>
                        <a:t>Reason(s) as to why the refund is necessary</a:t>
                      </a: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r>
                        <a:rPr lang="en-US" sz="1600" b="1" i="0" u="none" strike="noStrike" noProof="0">
                          <a:solidFill>
                            <a:srgbClr val="000000"/>
                          </a:solidFill>
                          <a:effectLst/>
                          <a:latin typeface="Poppins"/>
                          <a:cs typeface="Poppins"/>
                        </a:rPr>
                        <a:t>What to do next:</a:t>
                      </a:r>
                    </a:p>
                    <a:p>
                      <a:pPr marL="342900" lvl="0" indent="-342900" algn="l">
                        <a:lnSpc>
                          <a:spcPct val="100000"/>
                        </a:lnSpc>
                        <a:spcBef>
                          <a:spcPts val="0"/>
                        </a:spcBef>
                        <a:spcAft>
                          <a:spcPts val="0"/>
                        </a:spcAft>
                        <a:buClr>
                          <a:srgbClr val="000000"/>
                        </a:buClr>
                        <a:buAutoNum type="arabicPeriod"/>
                      </a:pPr>
                      <a:r>
                        <a:rPr lang="en-US" sz="1600" b="0" i="0" u="none" strike="noStrike" noProof="0">
                          <a:solidFill>
                            <a:srgbClr val="000000"/>
                          </a:solidFill>
                          <a:effectLst/>
                          <a:latin typeface="Poppins"/>
                          <a:cs typeface="Poppins"/>
                        </a:rPr>
                        <a:t>Ask support for permission to refund (£1 is not refundable) </a:t>
                      </a: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If approved, process refund </a:t>
                      </a: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r>
                        <a:rPr lang="en-US" sz="1600" b="1" i="0" u="none" strike="noStrike" noProof="0">
                          <a:solidFill>
                            <a:srgbClr val="000000"/>
                          </a:solidFill>
                          <a:effectLst/>
                          <a:latin typeface="Poppins"/>
                          <a:cs typeface="Poppins"/>
                        </a:rPr>
                        <a:t>Disclosure: </a:t>
                      </a:r>
                      <a:r>
                        <a:rPr lang="en-US" sz="1600" b="0" i="0" u="none" strike="noStrike" noProof="0">
                          <a:solidFill>
                            <a:srgbClr val="000000"/>
                          </a:solidFill>
                          <a:effectLst/>
                          <a:latin typeface="Poppins"/>
                          <a:cs typeface="Poppins"/>
                        </a:rPr>
                        <a:t>Advise the customer that after we process the refund on our end, it takes 7-10 business days for them to receive the refunded amount. This depends on their bank.</a:t>
                      </a:r>
                    </a:p>
                  </a:txBody>
                  <a:tcPr>
                    <a:lnL>
                      <a:noFill/>
                    </a:lnL>
                    <a:lnR>
                      <a:noFill/>
                    </a:lnR>
                    <a:lnT>
                      <a:noFill/>
                    </a:lnT>
                    <a:lnB>
                      <a:noFill/>
                    </a:lnB>
                    <a:noFill/>
                  </a:tcPr>
                </a:tc>
                <a:extLst>
                  <a:ext uri="{0D108BD9-81ED-4DB2-BD59-A6C34878D82A}">
                    <a16:rowId xmlns:a16="http://schemas.microsoft.com/office/drawing/2014/main" val="3604296047"/>
                  </a:ext>
                </a:extLst>
              </a:tr>
              <a:tr h="839589">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pic>
        <p:nvPicPr>
          <p:cNvPr id="2" name="Picture 1" descr="A screenshot of a computer">
            <a:extLst>
              <a:ext uri="{FF2B5EF4-FFF2-40B4-BE49-F238E27FC236}">
                <a16:creationId xmlns:a16="http://schemas.microsoft.com/office/drawing/2014/main" id="{6A697EAF-15CB-26AF-05DF-60062DD38074}"/>
              </a:ext>
            </a:extLst>
          </p:cNvPr>
          <p:cNvPicPr>
            <a:picLocks noChangeAspect="1"/>
          </p:cNvPicPr>
          <p:nvPr/>
        </p:nvPicPr>
        <p:blipFill>
          <a:blip r:embed="rId2"/>
          <a:stretch>
            <a:fillRect/>
          </a:stretch>
        </p:blipFill>
        <p:spPr>
          <a:xfrm>
            <a:off x="420688" y="2438163"/>
            <a:ext cx="7691438" cy="2553176"/>
          </a:xfrm>
          <a:prstGeom prst="rect">
            <a:avLst/>
          </a:prstGeom>
        </p:spPr>
      </p:pic>
    </p:spTree>
    <p:extLst>
      <p:ext uri="{BB962C8B-B14F-4D97-AF65-F5344CB8AC3E}">
        <p14:creationId xmlns:p14="http://schemas.microsoft.com/office/powerpoint/2010/main" val="16844572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79FAD-3B96-4223-3A2B-B27A6011EAFA}"/>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DB77F31A-DC26-27E4-C2EC-FC560F123D72}"/>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ea typeface="+mn-lt"/>
                <a:cs typeface="Poppins"/>
              </a:rPr>
              <a:t>Billing</a:t>
            </a:r>
          </a:p>
          <a:p>
            <a:r>
              <a:rPr lang="en-GB" sz="2000" b="1">
                <a:solidFill>
                  <a:srgbClr val="000000"/>
                </a:solidFill>
                <a:latin typeface="Poppins"/>
                <a:ea typeface="+mn-lt"/>
                <a:cs typeface="Poppins"/>
              </a:rPr>
              <a:t>Credit/Compensation</a:t>
            </a:r>
            <a:endParaRPr lang="en-GB" b="1">
              <a:latin typeface="Poppins"/>
              <a:cs typeface="Poppins"/>
            </a:endParaRPr>
          </a:p>
          <a:p>
            <a:endParaRPr lang="en-GB" sz="2800" b="1">
              <a:solidFill>
                <a:srgbClr val="000000"/>
              </a:solidFill>
              <a:latin typeface="Poppins"/>
              <a:ea typeface="+mn-lt"/>
              <a:cs typeface="Poppins"/>
            </a:endParaRPr>
          </a:p>
        </p:txBody>
      </p:sp>
      <p:graphicFrame>
        <p:nvGraphicFramePr>
          <p:cNvPr id="7" name="Table 6">
            <a:extLst>
              <a:ext uri="{FF2B5EF4-FFF2-40B4-BE49-F238E27FC236}">
                <a16:creationId xmlns:a16="http://schemas.microsoft.com/office/drawing/2014/main" id="{9F40200F-8E58-ADEE-39EF-0FD417CAD913}"/>
              </a:ext>
            </a:extLst>
          </p:cNvPr>
          <p:cNvGraphicFramePr>
            <a:graphicFrameLocks noGrp="1"/>
          </p:cNvGraphicFramePr>
          <p:nvPr>
            <p:extLst>
              <p:ext uri="{D42A27DB-BD31-4B8C-83A1-F6EECF244321}">
                <p14:modId xmlns:p14="http://schemas.microsoft.com/office/powerpoint/2010/main" val="1852767799"/>
              </p:ext>
            </p:extLst>
          </p:nvPr>
        </p:nvGraphicFramePr>
        <p:xfrm>
          <a:off x="766247" y="1203218"/>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2713F034-8D1C-38FD-272C-F9DFA1FC5486}"/>
              </a:ext>
            </a:extLst>
          </p:cNvPr>
          <p:cNvGraphicFramePr>
            <a:graphicFrameLocks noGrp="1"/>
          </p:cNvGraphicFramePr>
          <p:nvPr>
            <p:extLst>
              <p:ext uri="{D42A27DB-BD31-4B8C-83A1-F6EECF244321}">
                <p14:modId xmlns:p14="http://schemas.microsoft.com/office/powerpoint/2010/main" val="1253724485"/>
              </p:ext>
            </p:extLst>
          </p:nvPr>
        </p:nvGraphicFramePr>
        <p:xfrm>
          <a:off x="767368" y="1166022"/>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E17FCB75-BB33-2D21-EC9F-03EE9C38406A}"/>
              </a:ext>
            </a:extLst>
          </p:cNvPr>
          <p:cNvGraphicFramePr>
            <a:graphicFrameLocks noGrp="1"/>
          </p:cNvGraphicFramePr>
          <p:nvPr>
            <p:extLst>
              <p:ext uri="{D42A27DB-BD31-4B8C-83A1-F6EECF244321}">
                <p14:modId xmlns:p14="http://schemas.microsoft.com/office/powerpoint/2010/main" val="3765732060"/>
              </p:ext>
            </p:extLst>
          </p:nvPr>
        </p:nvGraphicFramePr>
        <p:xfrm>
          <a:off x="760180" y="1201965"/>
          <a:ext cx="6913143" cy="5868789"/>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5029200">
                <a:tc>
                  <a:txBody>
                    <a:bodyPr/>
                    <a:lstStyle/>
                    <a:p>
                      <a:pPr marL="0" lvl="0" indent="0" algn="l">
                        <a:lnSpc>
                          <a:spcPct val="100000"/>
                        </a:lnSpc>
                        <a:spcBef>
                          <a:spcPts val="0"/>
                        </a:spcBef>
                        <a:spcAft>
                          <a:spcPts val="0"/>
                        </a:spcAft>
                        <a:buNone/>
                      </a:pPr>
                      <a:r>
                        <a:rPr lang="en-US" sz="1600" b="1" i="0" u="none" strike="noStrike" noProof="0">
                          <a:solidFill>
                            <a:srgbClr val="000000"/>
                          </a:solidFill>
                          <a:effectLst/>
                          <a:latin typeface="Poppins"/>
                          <a:cs typeface="Poppins"/>
                        </a:rPr>
                        <a:t>What to do next:</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Verify the credit reason, double check on </a:t>
                      </a:r>
                      <a:r>
                        <a:rPr lang="en-US" sz="1600" b="0" i="0" u="none" strike="noStrike" noProof="0" err="1">
                          <a:solidFill>
                            <a:srgbClr val="000000"/>
                          </a:solidFill>
                          <a:effectLst/>
                          <a:latin typeface="Poppins"/>
                          <a:cs typeface="Poppins"/>
                        </a:rPr>
                        <a:t>theStation</a:t>
                      </a:r>
                      <a:r>
                        <a:rPr lang="en-US" sz="1600" b="0" i="0" u="none" strike="noStrike" noProof="0">
                          <a:solidFill>
                            <a:srgbClr val="000000"/>
                          </a:solidFill>
                          <a:effectLst/>
                          <a:latin typeface="Poppins"/>
                          <a:cs typeface="Poppins"/>
                        </a:rPr>
                        <a:t> if reason is valid</a:t>
                      </a:r>
                      <a:endParaRPr lang="en-US">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Escalate to Team Lead for approval</a:t>
                      </a: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If approved, process the credit on </a:t>
                      </a:r>
                      <a:r>
                        <a:rPr lang="en-US" sz="1600" b="0" i="0" u="none" strike="noStrike" noProof="0" err="1">
                          <a:solidFill>
                            <a:srgbClr val="000000"/>
                          </a:solidFill>
                          <a:effectLst/>
                          <a:latin typeface="Poppins"/>
                          <a:cs typeface="Poppins"/>
                        </a:rPr>
                        <a:t>theStation</a:t>
                      </a: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Aptos"/>
                      </a:endParaRPr>
                    </a:p>
                    <a:p>
                      <a:pPr marL="0" lvl="0" indent="0" algn="l">
                        <a:lnSpc>
                          <a:spcPct val="100000"/>
                        </a:lnSpc>
                        <a:spcBef>
                          <a:spcPts val="0"/>
                        </a:spcBef>
                        <a:spcAft>
                          <a:spcPts val="0"/>
                        </a:spcAft>
                        <a:buNone/>
                      </a:pPr>
                      <a:endParaRPr lang="en-US" sz="1600" b="0" i="0" u="none" strike="noStrike" noProof="0">
                        <a:solidFill>
                          <a:srgbClr val="000000"/>
                        </a:solidFill>
                        <a:effectLst/>
                        <a:latin typeface="Aptos"/>
                      </a:endParaRPr>
                    </a:p>
                  </a:txBody>
                  <a:tcPr>
                    <a:lnL>
                      <a:noFill/>
                    </a:lnL>
                    <a:lnR>
                      <a:noFill/>
                    </a:lnR>
                    <a:lnT>
                      <a:noFill/>
                    </a:lnT>
                    <a:lnB>
                      <a:noFill/>
                    </a:lnB>
                    <a:noFill/>
                  </a:tcPr>
                </a:tc>
                <a:extLst>
                  <a:ext uri="{0D108BD9-81ED-4DB2-BD59-A6C34878D82A}">
                    <a16:rowId xmlns:a16="http://schemas.microsoft.com/office/drawing/2014/main" val="3604296047"/>
                  </a:ext>
                </a:extLst>
              </a:tr>
              <a:tr h="839589">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pic>
        <p:nvPicPr>
          <p:cNvPr id="6" name="Picture 5" descr="A screenshot of a phone&#10;&#10;AI-generated content may be incorrect.">
            <a:extLst>
              <a:ext uri="{FF2B5EF4-FFF2-40B4-BE49-F238E27FC236}">
                <a16:creationId xmlns:a16="http://schemas.microsoft.com/office/drawing/2014/main" id="{55E33A17-C577-4309-A8DA-E35EDE24CD5F}"/>
              </a:ext>
            </a:extLst>
          </p:cNvPr>
          <p:cNvPicPr>
            <a:picLocks noChangeAspect="1"/>
          </p:cNvPicPr>
          <p:nvPr/>
        </p:nvPicPr>
        <p:blipFill>
          <a:blip r:embed="rId2"/>
          <a:stretch>
            <a:fillRect/>
          </a:stretch>
        </p:blipFill>
        <p:spPr>
          <a:xfrm>
            <a:off x="464696" y="2466437"/>
            <a:ext cx="7508875" cy="2729427"/>
          </a:xfrm>
          <a:prstGeom prst="rect">
            <a:avLst/>
          </a:prstGeom>
        </p:spPr>
      </p:pic>
    </p:spTree>
    <p:extLst>
      <p:ext uri="{BB962C8B-B14F-4D97-AF65-F5344CB8AC3E}">
        <p14:creationId xmlns:p14="http://schemas.microsoft.com/office/powerpoint/2010/main" val="31831778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52AE2-6365-703D-FB6C-7F75D156BBE8}"/>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AEB29369-2B7C-84AE-568D-76267E70C535}"/>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ea typeface="+mn-lt"/>
                <a:cs typeface="Poppins"/>
              </a:rPr>
              <a:t>Billing</a:t>
            </a:r>
          </a:p>
          <a:p>
            <a:r>
              <a:rPr lang="en-GB" sz="2000" b="1">
                <a:solidFill>
                  <a:srgbClr val="000000"/>
                </a:solidFill>
                <a:latin typeface="Poppins"/>
                <a:ea typeface="+mn-lt"/>
                <a:cs typeface="Poppins"/>
              </a:rPr>
              <a:t>Invoice</a:t>
            </a:r>
            <a:endParaRPr lang="en-GB"/>
          </a:p>
          <a:p>
            <a:endParaRPr lang="en-GB" sz="2800" b="1">
              <a:solidFill>
                <a:srgbClr val="000000"/>
              </a:solidFill>
              <a:latin typeface="Poppins"/>
              <a:ea typeface="+mn-lt"/>
              <a:cs typeface="Poppins"/>
            </a:endParaRPr>
          </a:p>
        </p:txBody>
      </p:sp>
      <p:graphicFrame>
        <p:nvGraphicFramePr>
          <p:cNvPr id="7" name="Table 6">
            <a:extLst>
              <a:ext uri="{FF2B5EF4-FFF2-40B4-BE49-F238E27FC236}">
                <a16:creationId xmlns:a16="http://schemas.microsoft.com/office/drawing/2014/main" id="{BB1B5344-4DF5-9AD3-A157-C25411348C64}"/>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A729D822-ACB1-31D4-D114-5D5CB3D8FCC4}"/>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32DDA6DA-492B-9711-5DAE-B918B7DD1008}"/>
              </a:ext>
            </a:extLst>
          </p:cNvPr>
          <p:cNvGraphicFramePr>
            <a:graphicFrameLocks noGrp="1"/>
          </p:cNvGraphicFramePr>
          <p:nvPr>
            <p:extLst>
              <p:ext uri="{D42A27DB-BD31-4B8C-83A1-F6EECF244321}">
                <p14:modId xmlns:p14="http://schemas.microsoft.com/office/powerpoint/2010/main" val="3529987468"/>
              </p:ext>
            </p:extLst>
          </p:nvPr>
        </p:nvGraphicFramePr>
        <p:xfrm>
          <a:off x="1049547" y="208471"/>
          <a:ext cx="6913143" cy="5868789"/>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5029200">
                <a:tc>
                  <a:txBody>
                    <a:bodyPr/>
                    <a:lstStyle/>
                    <a:p>
                      <a:pPr lvl="0">
                        <a:buNone/>
                      </a:pPr>
                      <a:r>
                        <a:rPr lang="en-US" sz="1600" b="1" i="0" u="none" strike="noStrike" noProof="0">
                          <a:solidFill>
                            <a:srgbClr val="000000"/>
                          </a:solidFill>
                          <a:effectLst/>
                          <a:latin typeface="Poppins"/>
                          <a:cs typeface="Poppins"/>
                        </a:rPr>
                        <a:t>Things we check </a:t>
                      </a:r>
                      <a:endParaRPr lang="en-US" sz="1600" b="0" i="0" u="none" strike="noStrike" noProof="0">
                        <a:solidFill>
                          <a:srgbClr val="000000"/>
                        </a:solidFill>
                        <a:effectLst/>
                        <a:latin typeface="Poppins"/>
                        <a:cs typeface="Poppins"/>
                      </a:endParaRPr>
                    </a:p>
                    <a:p>
                      <a:pPr lvl="0">
                        <a:buNone/>
                      </a:pPr>
                      <a:r>
                        <a:rPr lang="en-US" sz="1000" b="0" i="1" u="none" strike="noStrike" noProof="0">
                          <a:solidFill>
                            <a:srgbClr val="000000"/>
                          </a:solidFill>
                          <a:effectLst/>
                          <a:latin typeface="Poppins"/>
                          <a:cs typeface="Poppins"/>
                        </a:rPr>
                        <a:t>ask the customer, check in the station, etc.</a:t>
                      </a:r>
                      <a:endParaRPr lang="en-US">
                        <a:latin typeface="Poppins"/>
                        <a:cs typeface="Poppins"/>
                      </a:endParaRPr>
                    </a:p>
                    <a:p>
                      <a:pPr marL="0" lvl="0" indent="0" algn="l">
                        <a:lnSpc>
                          <a:spcPct val="100000"/>
                        </a:lnSpc>
                        <a:spcBef>
                          <a:spcPts val="0"/>
                        </a:spcBef>
                        <a:spcAft>
                          <a:spcPts val="0"/>
                        </a:spcAft>
                        <a:buNone/>
                      </a:pPr>
                      <a:r>
                        <a:rPr lang="en-US" sz="1600" b="0" i="0" u="none" strike="noStrike" noProof="0">
                          <a:solidFill>
                            <a:srgbClr val="000000"/>
                          </a:solidFill>
                          <a:effectLst/>
                          <a:latin typeface="Poppins"/>
                          <a:cs typeface="Poppins"/>
                        </a:rPr>
                        <a:t>Confirm which month(s), the customer, need the invoice(s) for.</a:t>
                      </a:r>
                      <a:endParaRPr lang="en-US">
                        <a:latin typeface="Poppins"/>
                        <a:cs typeface="Poppins"/>
                      </a:endParaRPr>
                    </a:p>
                    <a:p>
                      <a:pPr marL="0" lvl="0" indent="0" algn="l">
                        <a:lnSpc>
                          <a:spcPct val="100000"/>
                        </a:lnSpc>
                        <a:spcBef>
                          <a:spcPts val="0"/>
                        </a:spcBef>
                        <a:spcAft>
                          <a:spcPts val="0"/>
                        </a:spcAft>
                        <a:buNone/>
                      </a:pPr>
                      <a:endParaRPr lang="en-US" sz="1600" b="0"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r>
                        <a:rPr lang="en-US" sz="1600" b="1" i="0" u="none" strike="noStrike" noProof="0">
                          <a:solidFill>
                            <a:srgbClr val="000000"/>
                          </a:solidFill>
                          <a:effectLst/>
                          <a:latin typeface="Poppins"/>
                          <a:cs typeface="Poppins"/>
                        </a:rPr>
                        <a:t>What to do next:</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Verify if the customer's email address is correct</a:t>
                      </a: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Send the invoice to the customer via </a:t>
                      </a:r>
                      <a:r>
                        <a:rPr lang="en-US" sz="1600" b="0" i="0" u="none" strike="noStrike" noProof="0" err="1">
                          <a:solidFill>
                            <a:srgbClr val="000000"/>
                          </a:solidFill>
                          <a:effectLst/>
                          <a:latin typeface="Poppins"/>
                          <a:cs typeface="Poppins"/>
                        </a:rPr>
                        <a:t>theStation</a:t>
                      </a: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Let them know that it will be sent through email</a:t>
                      </a: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Advice self-service options for future invoice checks, to loopdl.co.uk. </a:t>
                      </a: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endParaRPr lang="en-US" sz="1600" b="0" i="0" u="none" strike="noStrike" noProof="0">
                        <a:solidFill>
                          <a:srgbClr val="000000"/>
                        </a:solidFill>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r h="839589">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pic>
        <p:nvPicPr>
          <p:cNvPr id="2" name="Picture 1" descr="A screenshot of a computer&#10;&#10;AI-generated content may be incorrect.">
            <a:extLst>
              <a:ext uri="{FF2B5EF4-FFF2-40B4-BE49-F238E27FC236}">
                <a16:creationId xmlns:a16="http://schemas.microsoft.com/office/drawing/2014/main" id="{8C51F705-29C0-557D-4F35-7DEAE8D23761}"/>
              </a:ext>
            </a:extLst>
          </p:cNvPr>
          <p:cNvPicPr>
            <a:picLocks noChangeAspect="1"/>
          </p:cNvPicPr>
          <p:nvPr/>
        </p:nvPicPr>
        <p:blipFill>
          <a:blip r:embed="rId2"/>
          <a:stretch>
            <a:fillRect/>
          </a:stretch>
        </p:blipFill>
        <p:spPr>
          <a:xfrm>
            <a:off x="920151" y="1932161"/>
            <a:ext cx="7044906" cy="1563128"/>
          </a:xfrm>
          <a:prstGeom prst="rect">
            <a:avLst/>
          </a:prstGeom>
        </p:spPr>
      </p:pic>
      <p:pic>
        <p:nvPicPr>
          <p:cNvPr id="4" name="Picture 3" descr="A screenshot of a payment method&#10;&#10;AI-generated content may be incorrect.">
            <a:extLst>
              <a:ext uri="{FF2B5EF4-FFF2-40B4-BE49-F238E27FC236}">
                <a16:creationId xmlns:a16="http://schemas.microsoft.com/office/drawing/2014/main" id="{D53E96A4-B22F-3E41-6223-A791EADCB3CC}"/>
              </a:ext>
            </a:extLst>
          </p:cNvPr>
          <p:cNvPicPr>
            <a:picLocks noChangeAspect="1"/>
          </p:cNvPicPr>
          <p:nvPr/>
        </p:nvPicPr>
        <p:blipFill>
          <a:blip r:embed="rId3"/>
          <a:stretch>
            <a:fillRect/>
          </a:stretch>
        </p:blipFill>
        <p:spPr>
          <a:xfrm>
            <a:off x="1056737" y="4330677"/>
            <a:ext cx="5952227" cy="2171986"/>
          </a:xfrm>
          <a:prstGeom prst="rect">
            <a:avLst/>
          </a:prstGeom>
        </p:spPr>
      </p:pic>
    </p:spTree>
    <p:extLst>
      <p:ext uri="{BB962C8B-B14F-4D97-AF65-F5344CB8AC3E}">
        <p14:creationId xmlns:p14="http://schemas.microsoft.com/office/powerpoint/2010/main" val="6316678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0B642-870E-C7A1-0F73-C783446E02EB}"/>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BBC0511E-DAE7-A9EB-1EEC-3B8A07871374}"/>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ea typeface="+mn-lt"/>
                <a:cs typeface="Poppins"/>
              </a:rPr>
              <a:t>Billing</a:t>
            </a:r>
          </a:p>
          <a:p>
            <a:r>
              <a:rPr lang="en-GB" sz="2000" b="1">
                <a:solidFill>
                  <a:srgbClr val="000000"/>
                </a:solidFill>
                <a:latin typeface="Poppins"/>
                <a:ea typeface="+mn-lt"/>
                <a:cs typeface="Poppins"/>
              </a:rPr>
              <a:t>Bill Dispute</a:t>
            </a:r>
            <a:endParaRPr lang="en-GB" b="1">
              <a:latin typeface="Poppins"/>
              <a:cs typeface="Poppins"/>
            </a:endParaRPr>
          </a:p>
          <a:p>
            <a:endParaRPr lang="en-GB" sz="2800" b="1">
              <a:solidFill>
                <a:srgbClr val="000000"/>
              </a:solidFill>
              <a:latin typeface="Poppins"/>
              <a:ea typeface="+mn-lt"/>
              <a:cs typeface="Poppins"/>
            </a:endParaRPr>
          </a:p>
        </p:txBody>
      </p:sp>
      <p:graphicFrame>
        <p:nvGraphicFramePr>
          <p:cNvPr id="7" name="Table 6">
            <a:extLst>
              <a:ext uri="{FF2B5EF4-FFF2-40B4-BE49-F238E27FC236}">
                <a16:creationId xmlns:a16="http://schemas.microsoft.com/office/drawing/2014/main" id="{95E83DCA-98D0-B875-15E2-74C6CF8F3D79}"/>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012DA58C-D6E7-77C1-EC3C-45F4270D4AC1}"/>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99ACD1AC-7CE6-BCC7-D15E-4E0540F782B8}"/>
              </a:ext>
            </a:extLst>
          </p:cNvPr>
          <p:cNvGraphicFramePr>
            <a:graphicFrameLocks noGrp="1"/>
          </p:cNvGraphicFramePr>
          <p:nvPr>
            <p:extLst>
              <p:ext uri="{D42A27DB-BD31-4B8C-83A1-F6EECF244321}">
                <p14:modId xmlns:p14="http://schemas.microsoft.com/office/powerpoint/2010/main" val="2478630399"/>
              </p:ext>
            </p:extLst>
          </p:nvPr>
        </p:nvGraphicFramePr>
        <p:xfrm>
          <a:off x="798762" y="1037990"/>
          <a:ext cx="6913143" cy="4839788"/>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3470219">
                <a:tc>
                  <a:txBody>
                    <a:bodyPr/>
                    <a:lstStyle/>
                    <a:p>
                      <a:pPr lvl="0">
                        <a:buNone/>
                      </a:pPr>
                      <a:r>
                        <a:rPr lang="en-US" sz="1600" b="1" i="0" u="none" strike="noStrike" noProof="0">
                          <a:solidFill>
                            <a:srgbClr val="000000"/>
                          </a:solidFill>
                          <a:effectLst/>
                          <a:latin typeface="Poppins"/>
                          <a:cs typeface="Poppins"/>
                        </a:rPr>
                        <a:t>Things we check </a:t>
                      </a:r>
                      <a:endParaRPr lang="en-US" sz="1600" b="0" i="0" u="none" strike="noStrike" noProof="0">
                        <a:solidFill>
                          <a:srgbClr val="000000"/>
                        </a:solidFill>
                        <a:effectLst/>
                        <a:latin typeface="Poppins"/>
                        <a:cs typeface="Poppins"/>
                      </a:endParaRPr>
                    </a:p>
                    <a:p>
                      <a:pPr lvl="0">
                        <a:buNone/>
                      </a:pPr>
                      <a:r>
                        <a:rPr lang="en-US" sz="1000" b="0" i="1" u="none" strike="noStrike" noProof="0">
                          <a:solidFill>
                            <a:srgbClr val="000000"/>
                          </a:solidFill>
                          <a:effectLst/>
                          <a:latin typeface="Poppins"/>
                          <a:cs typeface="Poppins"/>
                        </a:rPr>
                        <a:t>ask the customer, check in the station, etc.</a:t>
                      </a:r>
                      <a:endParaRPr lang="en-US"/>
                    </a:p>
                    <a:p>
                      <a:pPr lvl="0" algn="l">
                        <a:lnSpc>
                          <a:spcPct val="100000"/>
                        </a:lnSpc>
                        <a:spcBef>
                          <a:spcPts val="0"/>
                        </a:spcBef>
                        <a:spcAft>
                          <a:spcPts val="0"/>
                        </a:spcAft>
                        <a:buNone/>
                      </a:pPr>
                      <a:r>
                        <a:rPr lang="en-US" sz="1600" b="0" i="0" u="none" strike="noStrike" noProof="0">
                          <a:solidFill>
                            <a:srgbClr val="000000"/>
                          </a:solidFill>
                          <a:effectLst/>
                          <a:latin typeface="Poppins"/>
                          <a:cs typeface="Poppins"/>
                        </a:rPr>
                        <a:t>Verify the reason for the bill dispute</a:t>
                      </a:r>
                      <a:endParaRPr lang="en-US" sz="1600">
                        <a:latin typeface="Poppins"/>
                        <a:cs typeface="Poppins"/>
                      </a:endParaRPr>
                    </a:p>
                    <a:p>
                      <a:pPr lvl="0" algn="l">
                        <a:lnSpc>
                          <a:spcPct val="100000"/>
                        </a:lnSpc>
                        <a:spcBef>
                          <a:spcPts val="0"/>
                        </a:spcBef>
                        <a:spcAft>
                          <a:spcPts val="0"/>
                        </a:spcAft>
                        <a:buNone/>
                      </a:pPr>
                      <a:r>
                        <a:rPr lang="en-US" sz="1600" b="0" i="0" u="none" strike="noStrike" noProof="0">
                          <a:solidFill>
                            <a:srgbClr val="000000"/>
                          </a:solidFill>
                          <a:effectLst/>
                          <a:latin typeface="Poppins"/>
                          <a:cs typeface="Poppins"/>
                        </a:rPr>
                        <a:t>•    bill details (billing period, due date and amount)</a:t>
                      </a:r>
                      <a:endParaRPr lang="en-US" sz="1600">
                        <a:latin typeface="Poppins"/>
                        <a:cs typeface="Poppins"/>
                      </a:endParaRPr>
                    </a:p>
                    <a:p>
                      <a:pPr lvl="0" algn="l">
                        <a:lnSpc>
                          <a:spcPct val="100000"/>
                        </a:lnSpc>
                        <a:spcBef>
                          <a:spcPts val="0"/>
                        </a:spcBef>
                        <a:spcAft>
                          <a:spcPts val="0"/>
                        </a:spcAft>
                        <a:buNone/>
                      </a:pPr>
                      <a:r>
                        <a:rPr lang="en-US" sz="1600" b="0" i="0" u="none" strike="noStrike" noProof="0">
                          <a:solidFill>
                            <a:srgbClr val="000000"/>
                          </a:solidFill>
                          <a:effectLst/>
                          <a:latin typeface="Poppins"/>
                          <a:cs typeface="Poppins"/>
                        </a:rPr>
                        <a:t>•    disputed charge (incorrect amount, duplicate, unrecognize charges)</a:t>
                      </a:r>
                      <a:endParaRPr lang="en-US" sz="1600">
                        <a:latin typeface="Poppins"/>
                        <a:cs typeface="Poppins"/>
                      </a:endParaRPr>
                    </a:p>
                    <a:p>
                      <a:pPr lvl="0" algn="l">
                        <a:lnSpc>
                          <a:spcPct val="100000"/>
                        </a:lnSpc>
                        <a:spcBef>
                          <a:spcPts val="0"/>
                        </a:spcBef>
                        <a:spcAft>
                          <a:spcPts val="0"/>
                        </a:spcAft>
                        <a:buNone/>
                      </a:pPr>
                      <a:r>
                        <a:rPr lang="en-US" sz="1600" b="0" i="0" u="none" strike="noStrike" noProof="0">
                          <a:solidFill>
                            <a:srgbClr val="000000"/>
                          </a:solidFill>
                          <a:effectLst/>
                          <a:latin typeface="Poppins"/>
                          <a:cs typeface="Poppins"/>
                        </a:rPr>
                        <a:t>•    contract</a:t>
                      </a:r>
                      <a:endParaRPr lang="en-US" sz="1600">
                        <a:latin typeface="Poppins"/>
                        <a:cs typeface="Poppins"/>
                      </a:endParaRPr>
                    </a:p>
                    <a:p>
                      <a:pPr lvl="0" algn="l">
                        <a:lnSpc>
                          <a:spcPct val="100000"/>
                        </a:lnSpc>
                        <a:spcBef>
                          <a:spcPts val="0"/>
                        </a:spcBef>
                        <a:spcAft>
                          <a:spcPts val="0"/>
                        </a:spcAft>
                        <a:buNone/>
                      </a:pPr>
                      <a:r>
                        <a:rPr lang="en-US" sz="1600" b="0" i="0" u="none" strike="noStrike" noProof="0">
                          <a:solidFill>
                            <a:srgbClr val="000000"/>
                          </a:solidFill>
                          <a:effectLst/>
                          <a:latin typeface="Poppins"/>
                          <a:cs typeface="Poppins"/>
                        </a:rPr>
                        <a:t>•    usage</a:t>
                      </a:r>
                      <a:endParaRPr lang="en-US" sz="1600">
                        <a:latin typeface="Poppins"/>
                        <a:cs typeface="Poppins"/>
                      </a:endParaRPr>
                    </a:p>
                    <a:p>
                      <a:pPr marL="0" lvl="0" indent="0" algn="l">
                        <a:lnSpc>
                          <a:spcPct val="100000"/>
                        </a:lnSpc>
                        <a:spcBef>
                          <a:spcPts val="0"/>
                        </a:spcBef>
                        <a:spcAft>
                          <a:spcPts val="0"/>
                        </a:spcAft>
                        <a:buNone/>
                      </a:pPr>
                      <a:endParaRPr lang="en-US" sz="1600" b="0"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endParaRPr lang="en-US" sz="1600" b="0"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r>
                        <a:rPr lang="en-US" sz="1600" b="1" i="0" u="none" strike="noStrike" noProof="0">
                          <a:solidFill>
                            <a:srgbClr val="000000"/>
                          </a:solidFill>
                          <a:effectLst/>
                          <a:latin typeface="Poppins"/>
                          <a:cs typeface="Poppins"/>
                        </a:rPr>
                        <a:t>What to do next:</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Escalate to </a:t>
                      </a:r>
                      <a:r>
                        <a:rPr lang="en-US" sz="1600" b="0" i="0" u="none" strike="noStrike" noProof="0">
                          <a:solidFill>
                            <a:srgbClr val="000000"/>
                          </a:solidFill>
                          <a:effectLst/>
                        </a:rPr>
                        <a:t>Team Lead if valid</a:t>
                      </a: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Process credit; refund depending on the situation</a:t>
                      </a:r>
                    </a:p>
                    <a:p>
                      <a:pPr marL="800100" lvl="1" indent="-342900" algn="l">
                        <a:lnSpc>
                          <a:spcPct val="100000"/>
                        </a:lnSpc>
                        <a:spcBef>
                          <a:spcPts val="0"/>
                        </a:spcBef>
                        <a:spcAft>
                          <a:spcPts val="0"/>
                        </a:spcAft>
                        <a:buFont typeface="Courier New"/>
                        <a:buChar char="o"/>
                      </a:pPr>
                      <a:r>
                        <a:rPr lang="en-US" sz="1600" b="0" i="0" u="none" strike="noStrike" noProof="0">
                          <a:solidFill>
                            <a:srgbClr val="000000"/>
                          </a:solidFill>
                          <a:effectLst/>
                          <a:latin typeface="Poppins"/>
                          <a:cs typeface="Poppins"/>
                        </a:rPr>
                        <a:t>Follow process for refund or </a:t>
                      </a:r>
                      <a:r>
                        <a:rPr lang="en-US" sz="1600" b="0" i="0" u="none" strike="noStrike" noProof="0">
                          <a:solidFill>
                            <a:srgbClr val="000000"/>
                          </a:solidFill>
                          <a:effectLst/>
                        </a:rPr>
                        <a:t>Credit/Compensation </a:t>
                      </a: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endParaRPr lang="en-US" sz="1600" b="0" i="0" u="none" strike="noStrike" noProof="0">
                        <a:solidFill>
                          <a:srgbClr val="000000"/>
                        </a:solidFill>
                        <a:effectLst/>
                        <a:latin typeface="Aptos"/>
                      </a:endParaRPr>
                    </a:p>
                    <a:p>
                      <a:pPr marL="0" lvl="0" indent="0" algn="l">
                        <a:lnSpc>
                          <a:spcPct val="100000"/>
                        </a:lnSpc>
                        <a:spcBef>
                          <a:spcPts val="0"/>
                        </a:spcBef>
                        <a:spcAft>
                          <a:spcPts val="0"/>
                        </a:spcAft>
                        <a:buNone/>
                      </a:pPr>
                      <a:endParaRPr lang="en-US" sz="1600" b="0" i="0" u="none" strike="noStrike" noProof="0">
                        <a:solidFill>
                          <a:srgbClr val="000000"/>
                        </a:solidFill>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r h="694508">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spTree>
    <p:extLst>
      <p:ext uri="{BB962C8B-B14F-4D97-AF65-F5344CB8AC3E}">
        <p14:creationId xmlns:p14="http://schemas.microsoft.com/office/powerpoint/2010/main" val="5467902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CC474-0BFF-BE3C-84C6-8CDBFD9ADD00}"/>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16542BDD-BCE9-BE6F-1E05-B23FFD4ED231}"/>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ea typeface="+mn-lt"/>
                <a:cs typeface="Poppins"/>
              </a:rPr>
              <a:t>Billing</a:t>
            </a:r>
          </a:p>
          <a:p>
            <a:r>
              <a:rPr lang="en-GB" sz="2000" b="1">
                <a:solidFill>
                  <a:srgbClr val="000000"/>
                </a:solidFill>
                <a:latin typeface="Poppins"/>
                <a:ea typeface="+mn-lt"/>
                <a:cs typeface="Poppins"/>
              </a:rPr>
              <a:t>Proof of Payment</a:t>
            </a:r>
            <a:endParaRPr lang="en-GB" b="1">
              <a:latin typeface="Poppins"/>
              <a:cs typeface="Poppins"/>
            </a:endParaRPr>
          </a:p>
          <a:p>
            <a:endParaRPr lang="en-GB" sz="2800" b="1">
              <a:solidFill>
                <a:srgbClr val="000000"/>
              </a:solidFill>
              <a:latin typeface="Poppins"/>
              <a:ea typeface="+mn-lt"/>
              <a:cs typeface="Poppins"/>
            </a:endParaRPr>
          </a:p>
        </p:txBody>
      </p:sp>
      <p:graphicFrame>
        <p:nvGraphicFramePr>
          <p:cNvPr id="7" name="Table 6">
            <a:extLst>
              <a:ext uri="{FF2B5EF4-FFF2-40B4-BE49-F238E27FC236}">
                <a16:creationId xmlns:a16="http://schemas.microsoft.com/office/drawing/2014/main" id="{408F8E00-3827-53A6-ABE3-EE456437F2FE}"/>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F7B4FEC7-3D7C-2965-1C3B-179B71A74A7C}"/>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71A19DA1-44D6-AFAF-BC0C-BA1B9A794D08}"/>
              </a:ext>
            </a:extLst>
          </p:cNvPr>
          <p:cNvGraphicFramePr>
            <a:graphicFrameLocks noGrp="1"/>
          </p:cNvGraphicFramePr>
          <p:nvPr>
            <p:extLst>
              <p:ext uri="{D42A27DB-BD31-4B8C-83A1-F6EECF244321}">
                <p14:modId xmlns:p14="http://schemas.microsoft.com/office/powerpoint/2010/main" val="3891246496"/>
              </p:ext>
            </p:extLst>
          </p:nvPr>
        </p:nvGraphicFramePr>
        <p:xfrm>
          <a:off x="885572" y="1645661"/>
          <a:ext cx="6913143" cy="3558003"/>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3049718">
                <a:tc>
                  <a:txBody>
                    <a:bodyPr/>
                    <a:lstStyle/>
                    <a:p>
                      <a:pPr lvl="0">
                        <a:buNone/>
                      </a:pPr>
                      <a:r>
                        <a:rPr lang="en-US" sz="1600" b="1" i="0" u="none" strike="noStrike" noProof="0">
                          <a:solidFill>
                            <a:srgbClr val="000000"/>
                          </a:solidFill>
                          <a:effectLst/>
                          <a:latin typeface="Poppins"/>
                          <a:cs typeface="Poppins"/>
                        </a:rPr>
                        <a:t>Things we check </a:t>
                      </a:r>
                      <a:endParaRPr lang="en-US" sz="1600" b="0" i="0" u="none" strike="noStrike" noProof="0">
                        <a:solidFill>
                          <a:srgbClr val="000000"/>
                        </a:solidFill>
                        <a:effectLst/>
                        <a:latin typeface="Poppins"/>
                        <a:cs typeface="Poppins"/>
                      </a:endParaRPr>
                    </a:p>
                    <a:p>
                      <a:pPr lvl="0">
                        <a:buNone/>
                      </a:pPr>
                      <a:r>
                        <a:rPr lang="en-US" sz="1600" b="0" i="0" u="none" strike="noStrike" noProof="0">
                          <a:solidFill>
                            <a:srgbClr val="000000"/>
                          </a:solidFill>
                          <a:effectLst/>
                          <a:latin typeface="Poppins"/>
                          <a:cs typeface="Poppins"/>
                        </a:rPr>
                        <a:t>Information needed on the Proof of payment</a:t>
                      </a:r>
                      <a:endParaRPr lang="en-US" sz="1600" i="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Payer's information</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Payment details (date and time, amount</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Transaction reference</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Payment status</a:t>
                      </a:r>
                      <a:endParaRPr lang="en-US" sz="1600">
                        <a:latin typeface="Poppins"/>
                        <a:cs typeface="Poppins"/>
                      </a:endParaRPr>
                    </a:p>
                    <a:p>
                      <a:pPr marL="0" lvl="0" indent="0" algn="l">
                        <a:lnSpc>
                          <a:spcPct val="100000"/>
                        </a:lnSpc>
                        <a:spcBef>
                          <a:spcPts val="0"/>
                        </a:spcBef>
                        <a:spcAft>
                          <a:spcPts val="0"/>
                        </a:spcAft>
                        <a:buNone/>
                      </a:pPr>
                      <a:endParaRPr lang="en-US" sz="1600" b="0"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r>
                        <a:rPr lang="en-US" sz="1600" b="1" i="0" u="none" strike="noStrike" noProof="0">
                          <a:solidFill>
                            <a:srgbClr val="000000"/>
                          </a:solidFill>
                          <a:effectLst/>
                          <a:latin typeface="Poppins"/>
                          <a:cs typeface="Poppins"/>
                        </a:rPr>
                        <a:t>What to do next:</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Escalate to Team Lead if valid</a:t>
                      </a: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Wait for update</a:t>
                      </a: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Process credit; refund depending on the situation</a:t>
                      </a:r>
                    </a:p>
                    <a:p>
                      <a:pPr marL="800100" lvl="1" indent="-342900" algn="l">
                        <a:lnSpc>
                          <a:spcPct val="100000"/>
                        </a:lnSpc>
                        <a:spcBef>
                          <a:spcPts val="0"/>
                        </a:spcBef>
                        <a:spcAft>
                          <a:spcPts val="0"/>
                        </a:spcAft>
                        <a:buFont typeface="Courier New"/>
                        <a:buChar char="o"/>
                      </a:pPr>
                      <a:r>
                        <a:rPr lang="en-US" sz="1600" b="0" i="0" u="none" strike="noStrike" noProof="0">
                          <a:solidFill>
                            <a:srgbClr val="000000"/>
                          </a:solidFill>
                          <a:effectLst/>
                          <a:latin typeface="Poppins"/>
                          <a:cs typeface="Poppins"/>
                        </a:rPr>
                        <a:t>Follow process for refund or Credit/Compensation </a:t>
                      </a:r>
                    </a:p>
                  </a:txBody>
                  <a:tcPr>
                    <a:lnL>
                      <a:noFill/>
                    </a:lnL>
                    <a:lnR>
                      <a:noFill/>
                    </a:lnR>
                    <a:lnT>
                      <a:noFill/>
                    </a:lnT>
                    <a:lnB>
                      <a:noFill/>
                    </a:lnB>
                    <a:noFill/>
                  </a:tcPr>
                </a:tc>
                <a:extLst>
                  <a:ext uri="{0D108BD9-81ED-4DB2-BD59-A6C34878D82A}">
                    <a16:rowId xmlns:a16="http://schemas.microsoft.com/office/drawing/2014/main" val="3604296047"/>
                  </a:ext>
                </a:extLst>
              </a:tr>
              <a:tr h="508285">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spTree>
    <p:extLst>
      <p:ext uri="{BB962C8B-B14F-4D97-AF65-F5344CB8AC3E}">
        <p14:creationId xmlns:p14="http://schemas.microsoft.com/office/powerpoint/2010/main" val="16162902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7F935-08E6-133B-2809-940AF3C500AC}"/>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6D9C2A92-EA84-1A82-C9EA-C9AAAA4BBB2E}"/>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ea typeface="+mn-lt"/>
                <a:cs typeface="Poppins"/>
              </a:rPr>
              <a:t>Billing</a:t>
            </a:r>
          </a:p>
          <a:p>
            <a:r>
              <a:rPr lang="en-GB" sz="2000" b="1">
                <a:solidFill>
                  <a:srgbClr val="000000"/>
                </a:solidFill>
                <a:latin typeface="Poppins"/>
                <a:ea typeface="+mn-lt"/>
                <a:cs typeface="Poppins"/>
              </a:rPr>
              <a:t>Reactivation </a:t>
            </a:r>
            <a:endParaRPr lang="en-GB" b="1">
              <a:solidFill>
                <a:srgbClr val="000000"/>
              </a:solidFill>
              <a:latin typeface="Poppins"/>
              <a:ea typeface="+mn-lt"/>
              <a:cs typeface="Poppins"/>
            </a:endParaRPr>
          </a:p>
          <a:p>
            <a:r>
              <a:rPr lang="en-GB" sz="2000" b="1">
                <a:solidFill>
                  <a:srgbClr val="000000"/>
                </a:solidFill>
                <a:latin typeface="Poppins"/>
                <a:ea typeface="+mn-lt"/>
                <a:cs typeface="Poppins"/>
              </a:rPr>
              <a:t>(With free service)</a:t>
            </a:r>
            <a:endParaRPr lang="en-GB" b="1">
              <a:latin typeface="Poppins"/>
              <a:ea typeface="+mn-lt"/>
              <a:cs typeface="Poppins"/>
            </a:endParaRPr>
          </a:p>
        </p:txBody>
      </p:sp>
      <p:graphicFrame>
        <p:nvGraphicFramePr>
          <p:cNvPr id="7" name="Table 6">
            <a:extLst>
              <a:ext uri="{FF2B5EF4-FFF2-40B4-BE49-F238E27FC236}">
                <a16:creationId xmlns:a16="http://schemas.microsoft.com/office/drawing/2014/main" id="{0D8B282B-EF5E-30E9-16D9-22DA9EE8A12B}"/>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59089071-F979-F315-CB26-A4AD89396F99}"/>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066142BA-9857-2C19-4E17-E4364EB7FCD4}"/>
              </a:ext>
            </a:extLst>
          </p:cNvPr>
          <p:cNvGraphicFramePr>
            <a:graphicFrameLocks noGrp="1"/>
          </p:cNvGraphicFramePr>
          <p:nvPr>
            <p:extLst>
              <p:ext uri="{D42A27DB-BD31-4B8C-83A1-F6EECF244321}">
                <p14:modId xmlns:p14="http://schemas.microsoft.com/office/powerpoint/2010/main" val="3197209570"/>
              </p:ext>
            </p:extLst>
          </p:nvPr>
        </p:nvGraphicFramePr>
        <p:xfrm>
          <a:off x="885572" y="1259838"/>
          <a:ext cx="6913143" cy="4335771"/>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3716375">
                <a:tc>
                  <a:txBody>
                    <a:bodyPr/>
                    <a:lstStyle/>
                    <a:p>
                      <a:pPr lvl="0">
                        <a:buNone/>
                      </a:pPr>
                      <a:r>
                        <a:rPr lang="en-US" sz="1600" b="1" i="0" u="none" strike="noStrike" noProof="0">
                          <a:solidFill>
                            <a:srgbClr val="000000"/>
                          </a:solidFill>
                          <a:effectLst/>
                          <a:latin typeface="Poppins"/>
                          <a:cs typeface="Poppins"/>
                        </a:rPr>
                        <a:t>Things we check </a:t>
                      </a:r>
                      <a:endParaRPr lang="en-US" sz="1600" b="0" i="0" u="none" strike="noStrike" noProof="0">
                        <a:solidFill>
                          <a:srgbClr val="000000"/>
                        </a:solidFill>
                        <a:effectLst/>
                        <a:latin typeface="Poppins"/>
                        <a:cs typeface="Poppins"/>
                      </a:endParaRPr>
                    </a:p>
                    <a:p>
                      <a:pPr lvl="0" algn="l">
                        <a:lnSpc>
                          <a:spcPct val="100000"/>
                        </a:lnSpc>
                        <a:spcBef>
                          <a:spcPts val="0"/>
                        </a:spcBef>
                        <a:spcAft>
                          <a:spcPts val="0"/>
                        </a:spcAft>
                        <a:buNone/>
                      </a:pPr>
                      <a:r>
                        <a:rPr lang="en-US" sz="1000" b="0" i="1" u="none" strike="noStrike" noProof="0">
                          <a:solidFill>
                            <a:srgbClr val="000000"/>
                          </a:solidFill>
                          <a:effectLst/>
                          <a:latin typeface="Poppins"/>
                          <a:cs typeface="Poppins"/>
                        </a:rPr>
                        <a:t>ask the customer, check in the station, etc.</a:t>
                      </a:r>
                      <a:endParaRPr lang="en-US" sz="10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Customer's account is in pending cancellation status</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There is still remaining free service</a:t>
                      </a:r>
                      <a:endParaRPr lang="en-US" sz="1600">
                        <a:latin typeface="Poppins"/>
                        <a:cs typeface="Poppins"/>
                      </a:endParaRPr>
                    </a:p>
                    <a:p>
                      <a:pPr marL="342900" lvl="0" indent="-342900">
                        <a:buAutoNum type="arabicPeriod"/>
                      </a:pPr>
                      <a:r>
                        <a:rPr lang="en-US" sz="1600" b="0" i="0" u="none" strike="noStrike" noProof="0">
                          <a:solidFill>
                            <a:srgbClr val="000000"/>
                          </a:solidFill>
                          <a:effectLst/>
                          <a:latin typeface="Poppins"/>
                          <a:cs typeface="Poppins"/>
                        </a:rPr>
                        <a:t>The customer wants to reinstate the service</a:t>
                      </a:r>
                      <a:endParaRPr lang="en-US" sz="1600">
                        <a:latin typeface="Poppins"/>
                        <a:cs typeface="Poppins"/>
                      </a:endParaRPr>
                    </a:p>
                    <a:p>
                      <a:pPr marL="0" lvl="0" indent="0" algn="l">
                        <a:lnSpc>
                          <a:spcPct val="100000"/>
                        </a:lnSpc>
                        <a:spcBef>
                          <a:spcPts val="0"/>
                        </a:spcBef>
                        <a:spcAft>
                          <a:spcPts val="0"/>
                        </a:spcAft>
                        <a:buNone/>
                      </a:pPr>
                      <a:endParaRPr lang="en-US" sz="1600" b="0"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r>
                        <a:rPr lang="en-US" sz="1600" b="1" i="0" u="none" strike="noStrike" noProof="0">
                          <a:solidFill>
                            <a:srgbClr val="000000"/>
                          </a:solidFill>
                          <a:effectLst/>
                          <a:latin typeface="Poppins"/>
                          <a:cs typeface="Poppins"/>
                        </a:rPr>
                        <a:t>What to do next:</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Revert the cancellation in </a:t>
                      </a:r>
                      <a:r>
                        <a:rPr lang="en-US" sz="1600" b="0" i="0" u="none" strike="noStrike" noProof="0" err="1">
                          <a:solidFill>
                            <a:srgbClr val="000000"/>
                          </a:solidFill>
                          <a:effectLst/>
                          <a:latin typeface="Poppins"/>
                          <a:cs typeface="Poppins"/>
                        </a:rPr>
                        <a:t>theStation</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If it does not go through, ask assistance from TL</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If reinstated, check if service is working. </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If not:  </a:t>
                      </a:r>
                      <a:endParaRPr lang="en-US" sz="1600">
                        <a:latin typeface="Poppins"/>
                        <a:cs typeface="Poppins"/>
                      </a:endParaRPr>
                    </a:p>
                    <a:p>
                      <a:pPr marL="800100" lvl="1" indent="-342900" algn="l">
                        <a:lnSpc>
                          <a:spcPct val="100000"/>
                        </a:lnSpc>
                        <a:spcBef>
                          <a:spcPts val="0"/>
                        </a:spcBef>
                        <a:spcAft>
                          <a:spcPts val="0"/>
                        </a:spcAft>
                        <a:buFont typeface="Courier New"/>
                        <a:buChar char="o"/>
                      </a:pPr>
                      <a:r>
                        <a:rPr lang="en-US" sz="1600" b="1" i="0" u="none" strike="noStrike" noProof="0">
                          <a:solidFill>
                            <a:srgbClr val="000000"/>
                          </a:solidFill>
                          <a:effectLst/>
                          <a:latin typeface="Poppins"/>
                          <a:cs typeface="Poppins"/>
                        </a:rPr>
                        <a:t>Loop</a:t>
                      </a:r>
                      <a:r>
                        <a:rPr lang="en-US" sz="1600" b="0" i="0" u="none" strike="noStrike" noProof="0">
                          <a:solidFill>
                            <a:srgbClr val="000000"/>
                          </a:solidFill>
                          <a:effectLst/>
                          <a:latin typeface="Poppins"/>
                          <a:cs typeface="Poppins"/>
                        </a:rPr>
                        <a:t> - reset loop to activate the account on their end</a:t>
                      </a:r>
                      <a:endParaRPr lang="en-US" sz="1600">
                        <a:latin typeface="Poppins"/>
                        <a:cs typeface="Poppins"/>
                      </a:endParaRPr>
                    </a:p>
                    <a:p>
                      <a:pPr marL="800100" lvl="1" indent="-342900" algn="l">
                        <a:lnSpc>
                          <a:spcPct val="100000"/>
                        </a:lnSpc>
                        <a:spcBef>
                          <a:spcPts val="0"/>
                        </a:spcBef>
                        <a:spcAft>
                          <a:spcPts val="0"/>
                        </a:spcAft>
                        <a:buFont typeface="Courier New"/>
                        <a:buChar char="o"/>
                      </a:pPr>
                      <a:r>
                        <a:rPr lang="en-US" sz="1600" b="1" i="0" u="none" strike="noStrike" noProof="0">
                          <a:solidFill>
                            <a:srgbClr val="000000"/>
                          </a:solidFill>
                          <a:effectLst/>
                          <a:latin typeface="Poppins"/>
                          <a:cs typeface="Poppins"/>
                        </a:rPr>
                        <a:t>e-SIM</a:t>
                      </a:r>
                      <a:r>
                        <a:rPr lang="en-US" sz="1600" b="0" i="0" u="none" strike="noStrike" noProof="0">
                          <a:solidFill>
                            <a:srgbClr val="000000"/>
                          </a:solidFill>
                          <a:effectLst/>
                          <a:latin typeface="Poppins"/>
                          <a:cs typeface="Poppins"/>
                        </a:rPr>
                        <a:t> - ask the customer to reboot phone if the service is still not active</a:t>
                      </a:r>
                      <a:endParaRPr lang="en-US">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r h="619396">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spTree>
    <p:extLst>
      <p:ext uri="{BB962C8B-B14F-4D97-AF65-F5344CB8AC3E}">
        <p14:creationId xmlns:p14="http://schemas.microsoft.com/office/powerpoint/2010/main" val="35001826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B88D1-9959-843E-2EDA-015D1FE92C7F}"/>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59EE423A-0745-43B3-67A7-1B8455FA2F85}"/>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ea typeface="+mn-lt"/>
                <a:cs typeface="Poppins"/>
              </a:rPr>
              <a:t>Billing</a:t>
            </a:r>
          </a:p>
          <a:p>
            <a:r>
              <a:rPr lang="en-GB" sz="2000" b="1">
                <a:solidFill>
                  <a:srgbClr val="000000"/>
                </a:solidFill>
                <a:latin typeface="Poppins"/>
                <a:ea typeface="+mn-lt"/>
                <a:cs typeface="Poppins"/>
              </a:rPr>
              <a:t>Reactivation </a:t>
            </a:r>
            <a:endParaRPr lang="en-GB">
              <a:solidFill>
                <a:srgbClr val="000000"/>
              </a:solidFill>
              <a:latin typeface="Poppins"/>
              <a:ea typeface="+mn-lt"/>
              <a:cs typeface="Poppins"/>
            </a:endParaRPr>
          </a:p>
          <a:p>
            <a:r>
              <a:rPr lang="en-GB" sz="2000" b="1">
                <a:solidFill>
                  <a:srgbClr val="000000"/>
                </a:solidFill>
                <a:latin typeface="Poppins"/>
                <a:ea typeface="+mn-lt"/>
                <a:cs typeface="Poppins"/>
              </a:rPr>
              <a:t>(Inactive account)</a:t>
            </a:r>
          </a:p>
          <a:p>
            <a:r>
              <a:rPr lang="en-GB" sz="2000" b="1">
                <a:latin typeface="Poppins"/>
                <a:cs typeface="Poppins"/>
              </a:rPr>
              <a:t>No payment made yet</a:t>
            </a:r>
            <a:endParaRPr lang="en-GB" sz="2000" b="1" dirty="0">
              <a:latin typeface="Poppins"/>
              <a:cs typeface="Poppins"/>
            </a:endParaRPr>
          </a:p>
        </p:txBody>
      </p:sp>
      <p:graphicFrame>
        <p:nvGraphicFramePr>
          <p:cNvPr id="11" name="Table 10">
            <a:extLst>
              <a:ext uri="{FF2B5EF4-FFF2-40B4-BE49-F238E27FC236}">
                <a16:creationId xmlns:a16="http://schemas.microsoft.com/office/drawing/2014/main" id="{9BB7CBDB-AC37-4187-7932-1EDC2C332D2B}"/>
              </a:ext>
            </a:extLst>
          </p:cNvPr>
          <p:cNvGraphicFramePr>
            <a:graphicFrameLocks noGrp="1"/>
          </p:cNvGraphicFramePr>
          <p:nvPr>
            <p:extLst>
              <p:ext uri="{D42A27DB-BD31-4B8C-83A1-F6EECF244321}">
                <p14:modId xmlns:p14="http://schemas.microsoft.com/office/powerpoint/2010/main" val="2193711518"/>
              </p:ext>
            </p:extLst>
          </p:nvPr>
        </p:nvGraphicFramePr>
        <p:xfrm>
          <a:off x="856636" y="185885"/>
          <a:ext cx="6913143" cy="6414853"/>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5104213">
                <a:tc>
                  <a:txBody>
                    <a:bodyPr/>
                    <a:lstStyle/>
                    <a:p>
                      <a:pPr lvl="0">
                        <a:buNone/>
                      </a:pPr>
                      <a:r>
                        <a:rPr lang="en-US" sz="1600" b="1" i="0" u="none" strike="noStrike" noProof="0">
                          <a:solidFill>
                            <a:srgbClr val="000000"/>
                          </a:solidFill>
                          <a:effectLst/>
                          <a:latin typeface="Poppins"/>
                          <a:cs typeface="Poppins"/>
                        </a:rPr>
                        <a:t>Things we check </a:t>
                      </a:r>
                      <a:endParaRPr lang="en-US" sz="1600" b="0" i="0" u="none" strike="noStrike" noProof="0">
                        <a:solidFill>
                          <a:srgbClr val="000000"/>
                        </a:solidFill>
                        <a:effectLst/>
                        <a:latin typeface="Poppins"/>
                        <a:cs typeface="Poppins"/>
                      </a:endParaRPr>
                    </a:p>
                    <a:p>
                      <a:pPr lvl="0" algn="l">
                        <a:lnSpc>
                          <a:spcPct val="100000"/>
                        </a:lnSpc>
                        <a:spcBef>
                          <a:spcPts val="0"/>
                        </a:spcBef>
                        <a:spcAft>
                          <a:spcPts val="0"/>
                        </a:spcAft>
                        <a:buNone/>
                      </a:pPr>
                      <a:r>
                        <a:rPr lang="en-US" sz="1000" b="0" i="1" u="none" strike="noStrike" noProof="0">
                          <a:solidFill>
                            <a:srgbClr val="000000"/>
                          </a:solidFill>
                          <a:effectLst/>
                          <a:latin typeface="Poppins"/>
                          <a:cs typeface="Poppins"/>
                        </a:rPr>
                        <a:t>ask the customer, check in the station, etc.</a:t>
                      </a:r>
                      <a:endParaRPr lang="en-US" sz="10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Font typeface="Arial"/>
                        <a:buChar char="•"/>
                      </a:pPr>
                      <a:r>
                        <a:rPr lang="en-US" sz="1600" b="0" i="0" u="none" strike="noStrike" noProof="0">
                          <a:solidFill>
                            <a:srgbClr val="000000"/>
                          </a:solidFill>
                          <a:effectLst/>
                          <a:latin typeface="Poppins"/>
                          <a:cs typeface="Poppins"/>
                        </a:rPr>
                        <a:t>Customer's account is inactive due to non-payment</a:t>
                      </a:r>
                      <a:endParaRPr lang="en-US" sz="1600">
                        <a:latin typeface="Poppins"/>
                        <a:cs typeface="Poppins"/>
                      </a:endParaRPr>
                    </a:p>
                    <a:p>
                      <a:pPr marL="342900" lvl="0" indent="-342900" algn="l">
                        <a:lnSpc>
                          <a:spcPct val="100000"/>
                        </a:lnSpc>
                        <a:spcBef>
                          <a:spcPts val="0"/>
                        </a:spcBef>
                        <a:spcAft>
                          <a:spcPts val="0"/>
                        </a:spcAft>
                        <a:buFont typeface="Arial"/>
                        <a:buChar char="•"/>
                      </a:pPr>
                      <a:r>
                        <a:rPr lang="en-US" sz="1600" b="0" i="0" u="none" strike="noStrike" noProof="0">
                          <a:solidFill>
                            <a:srgbClr val="000000"/>
                          </a:solidFill>
                          <a:effectLst/>
                          <a:latin typeface="Poppins"/>
                          <a:cs typeface="Poppins"/>
                        </a:rPr>
                        <a:t>Customer wants to reinstate account</a:t>
                      </a:r>
                      <a:endParaRPr lang="en-US" sz="1600">
                        <a:latin typeface="Poppins"/>
                        <a:cs typeface="Poppins"/>
                      </a:endParaRPr>
                    </a:p>
                    <a:p>
                      <a:pPr marL="0" lvl="0" indent="0" algn="l">
                        <a:lnSpc>
                          <a:spcPct val="100000"/>
                        </a:lnSpc>
                        <a:spcBef>
                          <a:spcPts val="0"/>
                        </a:spcBef>
                        <a:spcAft>
                          <a:spcPts val="0"/>
                        </a:spcAft>
                        <a:buNone/>
                      </a:pPr>
                      <a:endParaRPr lang="en-US" sz="1600" b="0"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r>
                        <a:rPr lang="en-US" sz="1600" b="1" i="0" u="none" strike="noStrike" noProof="0">
                          <a:solidFill>
                            <a:srgbClr val="000000"/>
                          </a:solidFill>
                          <a:effectLst/>
                          <a:latin typeface="Poppins"/>
                          <a:cs typeface="Poppins"/>
                        </a:rPr>
                        <a:t>What to do next:</a:t>
                      </a:r>
                    </a:p>
                    <a:p>
                      <a:pPr lvl="0" algn="l">
                        <a:lnSpc>
                          <a:spcPct val="100000"/>
                        </a:lnSpc>
                        <a:spcBef>
                          <a:spcPts val="0"/>
                        </a:spcBef>
                        <a:spcAft>
                          <a:spcPts val="0"/>
                        </a:spcAft>
                        <a:buNone/>
                      </a:pPr>
                      <a:r>
                        <a:rPr lang="en-US" sz="1600" b="0" i="0" u="none" strike="noStrike" noProof="0">
                          <a:solidFill>
                            <a:srgbClr val="000000"/>
                          </a:solidFill>
                          <a:effectLst/>
                        </a:rPr>
                        <a:t>To reinstate your service, you won't need to purchase a new device, as your existing Loop device is already linked to your account. Instead, please do the following:</a:t>
                      </a:r>
                      <a:endParaRPr lang="en-US"/>
                    </a:p>
                    <a:p>
                      <a:pPr lvl="0" algn="l">
                        <a:lnSpc>
                          <a:spcPct val="100000"/>
                        </a:lnSpc>
                        <a:spcBef>
                          <a:spcPts val="0"/>
                        </a:spcBef>
                        <a:spcAft>
                          <a:spcPts val="0"/>
                        </a:spcAft>
                        <a:buNone/>
                      </a:pPr>
                      <a:endParaRPr lang="en-US" sz="1600" b="0" i="0" u="none" strike="noStrike" noProof="0" dirty="0">
                        <a:solidFill>
                          <a:srgbClr val="000000"/>
                        </a:solidFill>
                        <a:effectLst/>
                      </a:endParaRPr>
                    </a:p>
                    <a:p>
                      <a:pPr lvl="0" algn="l">
                        <a:lnSpc>
                          <a:spcPct val="100000"/>
                        </a:lnSpc>
                        <a:spcBef>
                          <a:spcPts val="0"/>
                        </a:spcBef>
                        <a:spcAft>
                          <a:spcPts val="0"/>
                        </a:spcAft>
                        <a:buNone/>
                      </a:pPr>
                      <a:endParaRPr lang="en-US" sz="1600" b="0" i="0" u="none" strike="noStrike" noProof="0" dirty="0">
                        <a:solidFill>
                          <a:srgbClr val="000000"/>
                        </a:solidFill>
                        <a:effectLst/>
                      </a:endParaRPr>
                    </a:p>
                    <a:p>
                      <a:pPr marL="0" lvl="0" indent="0" algn="l">
                        <a:lnSpc>
                          <a:spcPct val="100000"/>
                        </a:lnSpc>
                        <a:spcBef>
                          <a:spcPts val="0"/>
                        </a:spcBef>
                        <a:spcAft>
                          <a:spcPts val="0"/>
                        </a:spcAft>
                        <a:buNone/>
                      </a:pPr>
                      <a:endParaRPr lang="en-US" sz="1600" b="0" i="0" u="none" strike="noStrike" noProof="0" dirty="0">
                        <a:solidFill>
                          <a:srgbClr val="000000"/>
                        </a:solidFill>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r h="850703">
                <a:tc>
                  <a:txBody>
                    <a:bodyPr/>
                    <a:lstStyle/>
                    <a:p>
                      <a:pPr marL="0" lvl="0" indent="0" algn="l">
                        <a:lnSpc>
                          <a:spcPct val="100000"/>
                        </a:lnSpc>
                        <a:spcBef>
                          <a:spcPts val="0"/>
                        </a:spcBef>
                        <a:spcAft>
                          <a:spcPts val="0"/>
                        </a:spcAft>
                        <a:buNone/>
                      </a:pPr>
                      <a:r>
                        <a:rPr lang="en-US" sz="1600" b="0" i="0" u="none" strike="noStrike" noProof="0">
                          <a:solidFill>
                            <a:srgbClr val="000000"/>
                          </a:solidFill>
                          <a:effectLst/>
                          <a:latin typeface="Poppins"/>
                          <a:cs typeface="Poppins"/>
                        </a:rPr>
                        <a:t>** if step above fail please proceed further</a:t>
                      </a:r>
                    </a:p>
                    <a:p>
                      <a:pPr marL="285750" lvl="0" indent="-285750" algn="l">
                        <a:lnSpc>
                          <a:spcPct val="100000"/>
                        </a:lnSpc>
                        <a:spcBef>
                          <a:spcPts val="0"/>
                        </a:spcBef>
                        <a:spcAft>
                          <a:spcPts val="0"/>
                        </a:spcAft>
                        <a:buFont typeface="Arial"/>
                        <a:buChar char="•"/>
                      </a:pPr>
                      <a:r>
                        <a:rPr lang="en-US" sz="1600" b="0" i="0" u="none" strike="noStrike" noProof="0">
                          <a:solidFill>
                            <a:srgbClr val="000000"/>
                          </a:solidFill>
                          <a:effectLst/>
                          <a:latin typeface="Poppins"/>
                          <a:cs typeface="Poppins"/>
                        </a:rPr>
                        <a:t> If all fails, process factory reset (for TL approval) and sign in again with google. </a:t>
                      </a:r>
                    </a:p>
                    <a:p>
                      <a:pPr marL="285750" lvl="0" indent="-285750" algn="l">
                        <a:lnSpc>
                          <a:spcPct val="100000"/>
                        </a:lnSpc>
                        <a:spcBef>
                          <a:spcPts val="0"/>
                        </a:spcBef>
                        <a:spcAft>
                          <a:spcPts val="0"/>
                        </a:spcAft>
                        <a:buFont typeface="Arial"/>
                        <a:buChar char="•"/>
                      </a:pPr>
                      <a:r>
                        <a:rPr lang="en-US" sz="1600" b="0" i="0" u="none" strike="noStrike" noProof="0">
                          <a:solidFill>
                            <a:srgbClr val="000000"/>
                          </a:solidFill>
                          <a:effectLst/>
                          <a:latin typeface="Poppins"/>
                          <a:cs typeface="Poppins"/>
                        </a:rPr>
                        <a:t>On the station under configured e-SIM, click on resend e-SIM</a:t>
                      </a:r>
                      <a:endParaRPr lang="en-US"/>
                    </a:p>
                    <a:p>
                      <a:pPr marL="285750" lvl="0" indent="-285750" algn="l">
                        <a:lnSpc>
                          <a:spcPct val="100000"/>
                        </a:lnSpc>
                        <a:spcBef>
                          <a:spcPts val="0"/>
                        </a:spcBef>
                        <a:spcAft>
                          <a:spcPts val="0"/>
                        </a:spcAft>
                        <a:buFont typeface="Arial"/>
                        <a:buChar char="•"/>
                      </a:pPr>
                      <a:r>
                        <a:rPr lang="en-US" sz="1600" b="0" i="0" u="none" strike="noStrike" noProof="0">
                          <a:solidFill>
                            <a:srgbClr val="000000"/>
                          </a:solidFill>
                          <a:effectLst/>
                          <a:latin typeface="Poppins"/>
                          <a:cs typeface="Poppins"/>
                        </a:rPr>
                        <a:t>Go to number 5 and follow the prompts.</a:t>
                      </a:r>
                      <a:endParaRPr lang="en-US"/>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sp>
        <p:nvSpPr>
          <p:cNvPr id="4" name="Shape 6">
            <a:extLst>
              <a:ext uri="{FF2B5EF4-FFF2-40B4-BE49-F238E27FC236}">
                <a16:creationId xmlns:a16="http://schemas.microsoft.com/office/drawing/2014/main" id="{847BA711-285F-06A1-83B7-0DAD437BD5CF}"/>
              </a:ext>
            </a:extLst>
          </p:cNvPr>
          <p:cNvSpPr/>
          <p:nvPr/>
        </p:nvSpPr>
        <p:spPr>
          <a:xfrm>
            <a:off x="854351" y="2328548"/>
            <a:ext cx="6910531" cy="2813530"/>
          </a:xfrm>
          <a:prstGeom prst="roundRect">
            <a:avLst>
              <a:gd name="adj" fmla="val 6522"/>
            </a:avLst>
          </a:prstGeom>
          <a:solidFill>
            <a:srgbClr val="EAD6CA"/>
          </a:solidFill>
          <a:ln w="12700">
            <a:solidFill>
              <a:srgbClr val="EAD6CA">
                <a:alpha val="0"/>
              </a:srgbClr>
            </a:solidFill>
            <a:prstDash val="solid"/>
          </a:ln>
        </p:spPr>
        <p:txBody>
          <a:bodyPr lIns="91440" tIns="45720" rIns="91440" bIns="45720" anchor="t"/>
          <a:lstStyle/>
          <a:p>
            <a:r>
              <a:rPr lang="en-GB" sz="1600" b="1" dirty="0">
                <a:latin typeface="Poppins"/>
                <a:ea typeface="+mn-lt"/>
                <a:cs typeface="Poppins"/>
              </a:rPr>
              <a:t>(If the </a:t>
            </a:r>
            <a:r>
              <a:rPr lang="en-GB" sz="1600" b="1" dirty="0" err="1">
                <a:latin typeface="Poppins"/>
                <a:ea typeface="+mn-lt"/>
                <a:cs typeface="Poppins"/>
              </a:rPr>
              <a:t>LoopDL</a:t>
            </a:r>
            <a:r>
              <a:rPr lang="en-GB" sz="1600" b="1" dirty="0">
                <a:latin typeface="Poppins"/>
                <a:ea typeface="+mn-lt"/>
                <a:cs typeface="Poppins"/>
              </a:rPr>
              <a:t> app is not present on the Loop device, download from the </a:t>
            </a:r>
            <a:r>
              <a:rPr lang="en-GB" sz="1600" b="1" dirty="0" err="1">
                <a:latin typeface="Poppins"/>
                <a:ea typeface="+mn-lt"/>
                <a:cs typeface="Poppins"/>
              </a:rPr>
              <a:t>playstore</a:t>
            </a:r>
            <a:r>
              <a:rPr lang="en-GB" sz="1600" b="1" dirty="0">
                <a:latin typeface="Poppins"/>
                <a:ea typeface="+mn-lt"/>
                <a:cs typeface="Poppins"/>
              </a:rPr>
              <a:t>.)</a:t>
            </a:r>
            <a:endParaRPr lang="en-US" dirty="0">
              <a:latin typeface="Aptos" panose="020B0004020202020204"/>
              <a:ea typeface="+mn-lt"/>
              <a:cs typeface="Poppins"/>
            </a:endParaRPr>
          </a:p>
          <a:p>
            <a:pPr marL="285750" indent="-285750">
              <a:buFont typeface="Arial,Sans-Serif"/>
              <a:buChar char="•"/>
            </a:pPr>
            <a:r>
              <a:rPr lang="en-US" sz="1600">
                <a:latin typeface="Aptos"/>
                <a:cs typeface="Poppins"/>
              </a:rPr>
              <a:t>log in to your account at loopdl.co.uk (</a:t>
            </a:r>
            <a:r>
              <a:rPr lang="en-US" sz="1600">
                <a:ea typeface="+mn-lt"/>
                <a:cs typeface="+mn-lt"/>
              </a:rPr>
              <a:t>https://www.loopdl.co.uk/sign-in-or-register)</a:t>
            </a:r>
          </a:p>
          <a:p>
            <a:pPr marL="285750" indent="-285750">
              <a:buFont typeface="Arial,Sans-Serif"/>
              <a:buChar char="•"/>
            </a:pPr>
            <a:r>
              <a:rPr lang="en-US" sz="1600" dirty="0">
                <a:latin typeface="Aptos"/>
                <a:cs typeface="Poppins"/>
              </a:rPr>
              <a:t>navigate to </a:t>
            </a:r>
            <a:r>
              <a:rPr lang="en-US" sz="1600" b="1" dirty="0">
                <a:latin typeface="Aptos"/>
                <a:cs typeface="Poppins"/>
              </a:rPr>
              <a:t>My Account → Manage → My </a:t>
            </a:r>
            <a:r>
              <a:rPr lang="en-US" sz="1600" b="1">
                <a:latin typeface="Aptos"/>
                <a:cs typeface="Poppins"/>
              </a:rPr>
              <a:t>Subscription</a:t>
            </a:r>
          </a:p>
          <a:p>
            <a:pPr marL="285750" indent="-285750">
              <a:buFont typeface="Arial,Sans-Serif"/>
              <a:buChar char="•"/>
            </a:pPr>
            <a:r>
              <a:rPr lang="en-US" sz="1600">
                <a:latin typeface="Aptos"/>
                <a:cs typeface="Poppins"/>
              </a:rPr>
              <a:t>From</a:t>
            </a:r>
            <a:r>
              <a:rPr lang="en-US" sz="1600" dirty="0">
                <a:latin typeface="Aptos"/>
                <a:cs typeface="Poppins"/>
              </a:rPr>
              <a:t> there, you should see an option to </a:t>
            </a:r>
            <a:r>
              <a:rPr lang="en-US" sz="1600" b="1" dirty="0">
                <a:latin typeface="Aptos"/>
                <a:cs typeface="Poppins"/>
              </a:rPr>
              <a:t>reactivate</a:t>
            </a:r>
            <a:r>
              <a:rPr lang="en-US" sz="1600" dirty="0">
                <a:latin typeface="Aptos"/>
                <a:cs typeface="Poppins"/>
              </a:rPr>
              <a:t> or </a:t>
            </a:r>
            <a:r>
              <a:rPr lang="en-US" sz="1600" b="1" dirty="0">
                <a:latin typeface="Aptos"/>
                <a:cs typeface="Poppins"/>
              </a:rPr>
              <a:t>resubscribe</a:t>
            </a:r>
            <a:r>
              <a:rPr lang="en-US" sz="1600" dirty="0">
                <a:latin typeface="Aptos"/>
                <a:cs typeface="Poppins"/>
              </a:rPr>
              <a:t> to the Unlimited Data plan. Once the subscription has been successfully reactivated, your service should resume on your current device.</a:t>
            </a:r>
            <a:endParaRPr lang="en-US"/>
          </a:p>
          <a:p>
            <a:pPr marL="285750" indent="-285750">
              <a:buFont typeface="Arial,Sans-Serif"/>
              <a:buChar char="•"/>
            </a:pPr>
            <a:r>
              <a:rPr lang="en-US" sz="1600">
                <a:latin typeface="Aptos"/>
                <a:cs typeface="Poppins"/>
              </a:rPr>
              <a:t>From there, you should see an option to reactivate or resubscribe to the Unlimited Data plan. Once the subscription has been successfully reactivated, your service should resume on your current device.</a:t>
            </a:r>
          </a:p>
          <a:p>
            <a:endParaRPr lang="en-GB" sz="1600" b="1" dirty="0">
              <a:latin typeface="Poppins"/>
              <a:cs typeface="Poppins"/>
            </a:endParaRPr>
          </a:p>
          <a:p>
            <a:endParaRPr lang="en-GB" sz="1600" b="1">
              <a:latin typeface="Poppins"/>
              <a:cs typeface="Poppins"/>
            </a:endParaRPr>
          </a:p>
        </p:txBody>
      </p:sp>
    </p:spTree>
    <p:extLst>
      <p:ext uri="{BB962C8B-B14F-4D97-AF65-F5344CB8AC3E}">
        <p14:creationId xmlns:p14="http://schemas.microsoft.com/office/powerpoint/2010/main" val="19685095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33E5F-C9B3-CFE6-6E94-687C86C4DFC7}"/>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DFFFC2D1-5123-20A9-ACCC-A918E325B6FF}"/>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ea typeface="+mn-lt"/>
                <a:cs typeface="Poppins"/>
              </a:rPr>
              <a:t>Billing</a:t>
            </a:r>
          </a:p>
          <a:p>
            <a:r>
              <a:rPr lang="en-GB" sz="2000" b="1">
                <a:solidFill>
                  <a:srgbClr val="000000"/>
                </a:solidFill>
                <a:latin typeface="Poppins"/>
                <a:ea typeface="+mn-lt"/>
                <a:cs typeface="Poppins"/>
              </a:rPr>
              <a:t>Wall Garden</a:t>
            </a:r>
            <a:endParaRPr lang="en-GB" b="1">
              <a:latin typeface="Poppins"/>
              <a:cs typeface="Poppins"/>
            </a:endParaRPr>
          </a:p>
          <a:p>
            <a:r>
              <a:rPr lang="en-GB" sz="2000" b="1">
                <a:solidFill>
                  <a:srgbClr val="000000"/>
                </a:solidFill>
                <a:latin typeface="Poppins"/>
                <a:ea typeface="+mn-lt"/>
                <a:cs typeface="Poppins"/>
              </a:rPr>
              <a:t>(Payment made but service is inactive)</a:t>
            </a:r>
            <a:endParaRPr lang="en-GB"/>
          </a:p>
          <a:p>
            <a:endParaRPr lang="en-GB" sz="2800" b="1">
              <a:solidFill>
                <a:srgbClr val="000000"/>
              </a:solidFill>
              <a:latin typeface="Poppins"/>
              <a:ea typeface="+mn-lt"/>
              <a:cs typeface="Poppins"/>
            </a:endParaRPr>
          </a:p>
        </p:txBody>
      </p:sp>
      <p:graphicFrame>
        <p:nvGraphicFramePr>
          <p:cNvPr id="7" name="Table 6">
            <a:extLst>
              <a:ext uri="{FF2B5EF4-FFF2-40B4-BE49-F238E27FC236}">
                <a16:creationId xmlns:a16="http://schemas.microsoft.com/office/drawing/2014/main" id="{B2DAA0A7-D2AB-AAA4-91F7-9FAE69453482}"/>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93871B87-0154-76D2-1E6B-C295F86EF182}"/>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56377484-EE8D-15D1-30F4-0FEFE3024EC1}"/>
              </a:ext>
            </a:extLst>
          </p:cNvPr>
          <p:cNvGraphicFramePr>
            <a:graphicFrameLocks noGrp="1"/>
          </p:cNvGraphicFramePr>
          <p:nvPr>
            <p:extLst>
              <p:ext uri="{D42A27DB-BD31-4B8C-83A1-F6EECF244321}">
                <p14:modId xmlns:p14="http://schemas.microsoft.com/office/powerpoint/2010/main" val="1006308165"/>
              </p:ext>
            </p:extLst>
          </p:nvPr>
        </p:nvGraphicFramePr>
        <p:xfrm>
          <a:off x="740889" y="1163382"/>
          <a:ext cx="6913143" cy="4587941"/>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3017939">
                <a:tc>
                  <a:txBody>
                    <a:bodyPr/>
                    <a:lstStyle/>
                    <a:p>
                      <a:pPr lvl="0">
                        <a:buNone/>
                      </a:pPr>
                      <a:r>
                        <a:rPr lang="en-US" sz="1600" b="1" i="0" u="none" strike="noStrike" noProof="0">
                          <a:solidFill>
                            <a:srgbClr val="000000"/>
                          </a:solidFill>
                          <a:effectLst/>
                          <a:latin typeface="Poppins"/>
                          <a:cs typeface="Poppins"/>
                        </a:rPr>
                        <a:t>Things we check </a:t>
                      </a:r>
                      <a:endParaRPr lang="en-US" sz="1600" b="0" i="0" u="none" strike="noStrike" noProof="0">
                        <a:solidFill>
                          <a:srgbClr val="000000"/>
                        </a:solidFill>
                        <a:effectLst/>
                        <a:latin typeface="Poppins"/>
                        <a:cs typeface="Poppins"/>
                      </a:endParaRPr>
                    </a:p>
                    <a:p>
                      <a:pPr lvl="0" algn="l">
                        <a:lnSpc>
                          <a:spcPct val="100000"/>
                        </a:lnSpc>
                        <a:spcBef>
                          <a:spcPts val="0"/>
                        </a:spcBef>
                        <a:spcAft>
                          <a:spcPts val="0"/>
                        </a:spcAft>
                        <a:buNone/>
                      </a:pPr>
                      <a:r>
                        <a:rPr lang="en-US" sz="1000" b="0" i="1" u="none" strike="noStrike" noProof="0">
                          <a:solidFill>
                            <a:srgbClr val="000000"/>
                          </a:solidFill>
                          <a:effectLst/>
                          <a:latin typeface="Poppins"/>
                          <a:cs typeface="Poppins"/>
                        </a:rPr>
                        <a:t>ask the customer, check in the station, etc.</a:t>
                      </a:r>
                      <a:endParaRPr lang="en-US" sz="1000" b="0" i="0" u="none" strike="noStrike" noProof="0">
                        <a:solidFill>
                          <a:srgbClr val="000000"/>
                        </a:solidFill>
                        <a:effectLst/>
                        <a:latin typeface="Poppins"/>
                        <a:cs typeface="Poppins"/>
                      </a:endParaRPr>
                    </a:p>
                    <a:p>
                      <a:pPr marL="342900" lvl="0" indent="-342900">
                        <a:buAutoNum type="arabicPeriod"/>
                      </a:pPr>
                      <a:r>
                        <a:rPr lang="en-US" sz="1600" b="1" i="0" u="none" strike="noStrike" noProof="0">
                          <a:solidFill>
                            <a:srgbClr val="000000"/>
                          </a:solidFill>
                          <a:effectLst/>
                          <a:latin typeface="Poppins"/>
                          <a:cs typeface="Poppins"/>
                        </a:rPr>
                        <a:t>Payment made after due date</a:t>
                      </a:r>
                      <a:endParaRPr lang="en-US" sz="1600" b="1">
                        <a:latin typeface="Poppins"/>
                        <a:cs typeface="Poppins"/>
                      </a:endParaRPr>
                    </a:p>
                    <a:p>
                      <a:pPr marL="342900" lvl="0" indent="-342900" algn="l">
                        <a:lnSpc>
                          <a:spcPct val="100000"/>
                        </a:lnSpc>
                        <a:spcBef>
                          <a:spcPts val="0"/>
                        </a:spcBef>
                        <a:spcAft>
                          <a:spcPts val="0"/>
                        </a:spcAft>
                        <a:buAutoNum type="arabicPeriod"/>
                      </a:pPr>
                      <a:r>
                        <a:rPr lang="en-US" sz="1600" b="1" i="0" u="none" strike="noStrike" noProof="0">
                          <a:solidFill>
                            <a:srgbClr val="000000"/>
                          </a:solidFill>
                          <a:effectLst/>
                          <a:latin typeface="Poppins"/>
                          <a:cs typeface="Poppins"/>
                        </a:rPr>
                        <a:t>Service shows inactive</a:t>
                      </a:r>
                      <a:endParaRPr lang="en-US" sz="1600" b="1">
                        <a:latin typeface="Poppins"/>
                        <a:cs typeface="Poppins"/>
                      </a:endParaRPr>
                    </a:p>
                    <a:p>
                      <a:pPr marL="0" lvl="0" indent="0" algn="l">
                        <a:lnSpc>
                          <a:spcPct val="100000"/>
                        </a:lnSpc>
                        <a:spcBef>
                          <a:spcPts val="0"/>
                        </a:spcBef>
                        <a:spcAft>
                          <a:spcPts val="0"/>
                        </a:spcAft>
                        <a:buNone/>
                      </a:pPr>
                      <a:endParaRPr lang="en-US" sz="1600" b="0"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r>
                        <a:rPr lang="en-US" sz="1600" b="1" i="0" u="none" strike="noStrike" noProof="0">
                          <a:solidFill>
                            <a:srgbClr val="000000"/>
                          </a:solidFill>
                          <a:effectLst/>
                          <a:latin typeface="Poppins"/>
                          <a:cs typeface="Poppins"/>
                        </a:rPr>
                        <a:t>What to do next:</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Escalate to Support to reinstate the service</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If service is reinstated, contact customer to see if the service is working</a:t>
                      </a:r>
                    </a:p>
                    <a:p>
                      <a:pPr marL="800100" lvl="1" indent="-342900" algn="l">
                        <a:lnSpc>
                          <a:spcPct val="100000"/>
                        </a:lnSpc>
                        <a:spcBef>
                          <a:spcPts val="0"/>
                        </a:spcBef>
                        <a:spcAft>
                          <a:spcPts val="0"/>
                        </a:spcAft>
                        <a:buFont typeface="Courier New"/>
                        <a:buChar char="o"/>
                      </a:pPr>
                      <a:r>
                        <a:rPr lang="en-US" sz="1600" b="0" i="0" u="none" strike="noStrike" noProof="0">
                          <a:solidFill>
                            <a:srgbClr val="000000"/>
                          </a:solidFill>
                          <a:effectLst/>
                          <a:latin typeface="Poppins"/>
                          <a:cs typeface="Poppins"/>
                        </a:rPr>
                        <a:t>If it works, close the ticket</a:t>
                      </a:r>
                    </a:p>
                    <a:p>
                      <a:pPr marL="800100" lvl="1" indent="-342900" algn="l">
                        <a:lnSpc>
                          <a:spcPct val="100000"/>
                        </a:lnSpc>
                        <a:spcBef>
                          <a:spcPts val="0"/>
                        </a:spcBef>
                        <a:spcAft>
                          <a:spcPts val="0"/>
                        </a:spcAft>
                        <a:buFont typeface="Courier New"/>
                        <a:buChar char="o"/>
                      </a:pPr>
                      <a:r>
                        <a:rPr lang="en-US" sz="1600" b="0" i="0" u="none" strike="noStrike" noProof="0">
                          <a:solidFill>
                            <a:srgbClr val="000000"/>
                          </a:solidFill>
                          <a:effectLst/>
                          <a:latin typeface="Poppins"/>
                          <a:cs typeface="Poppins"/>
                        </a:rPr>
                        <a:t>If not, advice the customer to logout of the app and reinstall the app</a:t>
                      </a:r>
                    </a:p>
                    <a:p>
                      <a:pPr marL="800100" lvl="1" indent="-342900" algn="l">
                        <a:lnSpc>
                          <a:spcPct val="100000"/>
                        </a:lnSpc>
                        <a:spcBef>
                          <a:spcPts val="0"/>
                        </a:spcBef>
                        <a:spcAft>
                          <a:spcPts val="0"/>
                        </a:spcAft>
                        <a:buFont typeface="Courier New"/>
                        <a:buChar char="o"/>
                      </a:pPr>
                      <a:r>
                        <a:rPr lang="en-US" sz="1600" b="0" i="0" u="none" strike="noStrike" noProof="0">
                          <a:solidFill>
                            <a:srgbClr val="000000"/>
                          </a:solidFill>
                          <a:effectLst/>
                          <a:latin typeface="Poppins"/>
                          <a:cs typeface="Poppins"/>
                        </a:rPr>
                        <a:t>If it works, close the ticket</a:t>
                      </a:r>
                    </a:p>
                    <a:p>
                      <a:pPr marL="800100" lvl="1" indent="-342900" algn="l">
                        <a:lnSpc>
                          <a:spcPct val="100000"/>
                        </a:lnSpc>
                        <a:spcBef>
                          <a:spcPts val="0"/>
                        </a:spcBef>
                        <a:spcAft>
                          <a:spcPts val="0"/>
                        </a:spcAft>
                        <a:buFont typeface="Courier New"/>
                        <a:buChar char="o"/>
                      </a:pPr>
                      <a:r>
                        <a:rPr lang="en-US" sz="1600" b="0" i="0" u="none" strike="noStrike" noProof="0">
                          <a:solidFill>
                            <a:srgbClr val="000000"/>
                          </a:solidFill>
                          <a:effectLst/>
                          <a:latin typeface="Poppins"/>
                          <a:cs typeface="Poppins"/>
                        </a:rPr>
                        <a:t>If not, escalate to support</a:t>
                      </a:r>
                    </a:p>
                  </a:txBody>
                  <a:tcPr>
                    <a:lnL>
                      <a:noFill/>
                    </a:lnL>
                    <a:lnR>
                      <a:noFill/>
                    </a:lnR>
                    <a:lnT>
                      <a:noFill/>
                    </a:lnT>
                    <a:lnB>
                      <a:noFill/>
                    </a:lnB>
                    <a:noFill/>
                  </a:tcPr>
                </a:tc>
                <a:extLst>
                  <a:ext uri="{0D108BD9-81ED-4DB2-BD59-A6C34878D82A}">
                    <a16:rowId xmlns:a16="http://schemas.microsoft.com/office/drawing/2014/main" val="3604296047"/>
                  </a:ext>
                </a:extLst>
              </a:tr>
              <a:tr h="1174181">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spTree>
    <p:extLst>
      <p:ext uri="{BB962C8B-B14F-4D97-AF65-F5344CB8AC3E}">
        <p14:creationId xmlns:p14="http://schemas.microsoft.com/office/powerpoint/2010/main" val="39222578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16672-DBDA-F4F2-A39D-E1B9A899F5C1}"/>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0BE9A36A-C441-ED9B-C5E1-AD68644DD9D3}"/>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ea typeface="+mn-lt"/>
                <a:cs typeface="Poppins"/>
              </a:rPr>
              <a:t>Logistics</a:t>
            </a:r>
            <a:endParaRPr lang="en-US"/>
          </a:p>
          <a:p>
            <a:r>
              <a:rPr lang="en-GB" sz="2000" b="1">
                <a:solidFill>
                  <a:srgbClr val="000000"/>
                </a:solidFill>
                <a:latin typeface="Poppins"/>
                <a:ea typeface="+mn-lt"/>
                <a:cs typeface="Poppins"/>
              </a:rPr>
              <a:t>Where is my delivery</a:t>
            </a:r>
            <a:endParaRPr lang="en-GB" b="1">
              <a:latin typeface="Poppins"/>
              <a:cs typeface="Poppins"/>
            </a:endParaRPr>
          </a:p>
        </p:txBody>
      </p:sp>
      <p:graphicFrame>
        <p:nvGraphicFramePr>
          <p:cNvPr id="7" name="Table 6">
            <a:extLst>
              <a:ext uri="{FF2B5EF4-FFF2-40B4-BE49-F238E27FC236}">
                <a16:creationId xmlns:a16="http://schemas.microsoft.com/office/drawing/2014/main" id="{7B8085D2-F549-1C97-0735-6A8A17BE363E}"/>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5C53C5ED-82C3-A616-EFB0-219829B3E545}"/>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7AFCC143-B221-CB63-45E7-4E6A95F89D11}"/>
              </a:ext>
            </a:extLst>
          </p:cNvPr>
          <p:cNvGraphicFramePr>
            <a:graphicFrameLocks noGrp="1"/>
          </p:cNvGraphicFramePr>
          <p:nvPr>
            <p:extLst>
              <p:ext uri="{D42A27DB-BD31-4B8C-83A1-F6EECF244321}">
                <p14:modId xmlns:p14="http://schemas.microsoft.com/office/powerpoint/2010/main" val="3308537489"/>
              </p:ext>
            </p:extLst>
          </p:nvPr>
        </p:nvGraphicFramePr>
        <p:xfrm>
          <a:off x="1049547" y="208471"/>
          <a:ext cx="6913143" cy="5868789"/>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5029200">
                <a:tc>
                  <a:txBody>
                    <a:bodyPr/>
                    <a:lstStyle/>
                    <a:p>
                      <a:pPr lvl="0">
                        <a:buNone/>
                      </a:pPr>
                      <a:r>
                        <a:rPr lang="en-US" sz="1600" b="1" i="0" u="none" strike="noStrike" noProof="0">
                          <a:solidFill>
                            <a:srgbClr val="000000"/>
                          </a:solidFill>
                          <a:effectLst/>
                          <a:latin typeface="Poppins"/>
                          <a:cs typeface="Poppins"/>
                        </a:rPr>
                        <a:t>Things we check </a:t>
                      </a:r>
                      <a:endParaRPr lang="en-US" sz="1600" b="0" i="0" u="none" strike="noStrike" noProof="0">
                        <a:solidFill>
                          <a:srgbClr val="000000"/>
                        </a:solidFill>
                        <a:effectLst/>
                        <a:latin typeface="Poppins"/>
                        <a:cs typeface="Poppins"/>
                      </a:endParaRPr>
                    </a:p>
                    <a:p>
                      <a:pPr lvl="0" algn="l">
                        <a:lnSpc>
                          <a:spcPct val="100000"/>
                        </a:lnSpc>
                        <a:spcBef>
                          <a:spcPts val="0"/>
                        </a:spcBef>
                        <a:spcAft>
                          <a:spcPts val="0"/>
                        </a:spcAft>
                        <a:buNone/>
                      </a:pPr>
                      <a:r>
                        <a:rPr lang="en-US" sz="1000" b="0" i="1" u="none" strike="noStrike" noProof="0">
                          <a:solidFill>
                            <a:srgbClr val="000000"/>
                          </a:solidFill>
                          <a:effectLst/>
                          <a:latin typeface="Poppins"/>
                          <a:cs typeface="Poppins"/>
                        </a:rPr>
                        <a:t>ask the customer, check in the station, etc.</a:t>
                      </a:r>
                      <a:endParaRPr lang="en-US" sz="10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Order date</a:t>
                      </a: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Tracking URL</a:t>
                      </a: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endParaRPr lang="en-US" sz="1600" b="0" i="0" u="none" strike="noStrike" noProof="0">
                        <a:solidFill>
                          <a:srgbClr val="000000"/>
                        </a:solidFill>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r h="839589">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pic>
        <p:nvPicPr>
          <p:cNvPr id="2" name="Picture 1" descr="A screenshot of a computer&#10;&#10;AI-generated content may be incorrect.">
            <a:extLst>
              <a:ext uri="{FF2B5EF4-FFF2-40B4-BE49-F238E27FC236}">
                <a16:creationId xmlns:a16="http://schemas.microsoft.com/office/drawing/2014/main" id="{7AB1EA9C-E212-44A2-F552-BA80DB82C914}"/>
              </a:ext>
            </a:extLst>
          </p:cNvPr>
          <p:cNvPicPr>
            <a:picLocks noChangeAspect="1"/>
          </p:cNvPicPr>
          <p:nvPr/>
        </p:nvPicPr>
        <p:blipFill>
          <a:blip r:embed="rId2"/>
          <a:stretch>
            <a:fillRect/>
          </a:stretch>
        </p:blipFill>
        <p:spPr>
          <a:xfrm>
            <a:off x="1207698" y="936836"/>
            <a:ext cx="5952227" cy="1670346"/>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A768979F-AEF1-4292-D773-7F729232D475}"/>
              </a:ext>
            </a:extLst>
          </p:cNvPr>
          <p:cNvPicPr>
            <a:picLocks noChangeAspect="1"/>
          </p:cNvPicPr>
          <p:nvPr/>
        </p:nvPicPr>
        <p:blipFill>
          <a:blip r:embed="rId3"/>
          <a:stretch>
            <a:fillRect/>
          </a:stretch>
        </p:blipFill>
        <p:spPr>
          <a:xfrm>
            <a:off x="1207698" y="2956857"/>
            <a:ext cx="6038492" cy="1677533"/>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FF7F06F3-2535-D995-A9EC-731AED1CC9CB}"/>
              </a:ext>
            </a:extLst>
          </p:cNvPr>
          <p:cNvPicPr>
            <a:picLocks noChangeAspect="1"/>
          </p:cNvPicPr>
          <p:nvPr/>
        </p:nvPicPr>
        <p:blipFill>
          <a:blip r:embed="rId4"/>
          <a:stretch>
            <a:fillRect/>
          </a:stretch>
        </p:blipFill>
        <p:spPr>
          <a:xfrm>
            <a:off x="1207698" y="4636698"/>
            <a:ext cx="6038491" cy="1869057"/>
          </a:xfrm>
          <a:prstGeom prst="rect">
            <a:avLst/>
          </a:prstGeom>
        </p:spPr>
      </p:pic>
    </p:spTree>
    <p:extLst>
      <p:ext uri="{BB962C8B-B14F-4D97-AF65-F5344CB8AC3E}">
        <p14:creationId xmlns:p14="http://schemas.microsoft.com/office/powerpoint/2010/main" val="26535187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EB44F-ECCF-1CDA-8D41-C9176F7D2CEA}"/>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308C4026-C0CD-1989-E05E-DB27CCD95408}"/>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ea typeface="+mn-lt"/>
                <a:cs typeface="Poppins"/>
              </a:rPr>
              <a:t>Logistics</a:t>
            </a:r>
            <a:endParaRPr lang="en-US"/>
          </a:p>
          <a:p>
            <a:r>
              <a:rPr lang="en-GB" sz="2000" b="1">
                <a:solidFill>
                  <a:srgbClr val="000000"/>
                </a:solidFill>
                <a:latin typeface="Poppins"/>
                <a:ea typeface="+mn-lt"/>
                <a:cs typeface="Poppins"/>
              </a:rPr>
              <a:t>Where is my delivery</a:t>
            </a:r>
            <a:endParaRPr lang="en-GB" b="1">
              <a:latin typeface="Poppins"/>
              <a:cs typeface="Poppins"/>
            </a:endParaRPr>
          </a:p>
        </p:txBody>
      </p:sp>
      <p:graphicFrame>
        <p:nvGraphicFramePr>
          <p:cNvPr id="7" name="Table 6">
            <a:extLst>
              <a:ext uri="{FF2B5EF4-FFF2-40B4-BE49-F238E27FC236}">
                <a16:creationId xmlns:a16="http://schemas.microsoft.com/office/drawing/2014/main" id="{A4035CF8-555D-2148-1FE4-DCFDCB1C10EA}"/>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E0B49EB9-08BA-4814-605F-CF16576A629D}"/>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DCD5B5F4-07AD-6AEC-B583-67D58F004060}"/>
              </a:ext>
            </a:extLst>
          </p:cNvPr>
          <p:cNvGraphicFramePr>
            <a:graphicFrameLocks noGrp="1"/>
          </p:cNvGraphicFramePr>
          <p:nvPr>
            <p:extLst>
              <p:ext uri="{D42A27DB-BD31-4B8C-83A1-F6EECF244321}">
                <p14:modId xmlns:p14="http://schemas.microsoft.com/office/powerpoint/2010/main" val="3522942881"/>
              </p:ext>
            </p:extLst>
          </p:nvPr>
        </p:nvGraphicFramePr>
        <p:xfrm>
          <a:off x="1049547" y="208471"/>
          <a:ext cx="6913143" cy="5868789"/>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5029200">
                <a:tc>
                  <a:txBody>
                    <a:bodyPr/>
                    <a:lstStyle/>
                    <a:p>
                      <a:pPr lvl="0">
                        <a:buNone/>
                      </a:pPr>
                      <a:r>
                        <a:rPr lang="en-US" sz="1600" b="1" i="0" u="none" strike="noStrike" noProof="0">
                          <a:solidFill>
                            <a:srgbClr val="000000"/>
                          </a:solidFill>
                          <a:effectLst/>
                          <a:latin typeface="Poppins"/>
                          <a:cs typeface="Poppins"/>
                        </a:rPr>
                        <a:t>What to do next:</a:t>
                      </a:r>
                    </a:p>
                    <a:p>
                      <a:pPr marL="0" lvl="0" indent="0" algn="l">
                        <a:lnSpc>
                          <a:spcPct val="100000"/>
                        </a:lnSpc>
                        <a:spcBef>
                          <a:spcPts val="0"/>
                        </a:spcBef>
                        <a:spcAft>
                          <a:spcPts val="0"/>
                        </a:spcAft>
                        <a:buNone/>
                      </a:pPr>
                      <a:r>
                        <a:rPr lang="en-US" sz="1600" b="0" i="0" u="none" strike="noStrike" noProof="0">
                          <a:solidFill>
                            <a:srgbClr val="000000"/>
                          </a:solidFill>
                          <a:effectLst/>
                          <a:latin typeface="Poppins"/>
                          <a:cs typeface="Poppins"/>
                        </a:rPr>
                        <a:t>Verify if the delivery address on the system is correct.</a:t>
                      </a:r>
                      <a:endParaRPr lang="en-US" sz="1600">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endParaRPr lang="en-US" sz="1600" b="0" i="0" u="none" strike="noStrike" noProof="0">
                        <a:solidFill>
                          <a:srgbClr val="000000"/>
                        </a:solidFill>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r h="839589">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pic>
        <p:nvPicPr>
          <p:cNvPr id="8" name="Picture 7" descr="A screenshot of a computer">
            <a:extLst>
              <a:ext uri="{FF2B5EF4-FFF2-40B4-BE49-F238E27FC236}">
                <a16:creationId xmlns:a16="http://schemas.microsoft.com/office/drawing/2014/main" id="{AF1793F9-697B-9912-E072-F75743FA09D7}"/>
              </a:ext>
            </a:extLst>
          </p:cNvPr>
          <p:cNvPicPr>
            <a:picLocks noChangeAspect="1"/>
          </p:cNvPicPr>
          <p:nvPr/>
        </p:nvPicPr>
        <p:blipFill>
          <a:blip r:embed="rId2"/>
          <a:stretch>
            <a:fillRect/>
          </a:stretch>
        </p:blipFill>
        <p:spPr>
          <a:xfrm>
            <a:off x="1049547" y="872140"/>
            <a:ext cx="6038492" cy="1677533"/>
          </a:xfrm>
          <a:prstGeom prst="rect">
            <a:avLst/>
          </a:prstGeom>
        </p:spPr>
      </p:pic>
      <p:pic>
        <p:nvPicPr>
          <p:cNvPr id="10" name="Picture 9" descr="A screenshot of a delivery login&#10;&#10;AI-generated content may be incorrect.">
            <a:extLst>
              <a:ext uri="{FF2B5EF4-FFF2-40B4-BE49-F238E27FC236}">
                <a16:creationId xmlns:a16="http://schemas.microsoft.com/office/drawing/2014/main" id="{FDE8BF30-67F1-EDF3-BE61-2449BBCC2BCE}"/>
              </a:ext>
            </a:extLst>
          </p:cNvPr>
          <p:cNvPicPr>
            <a:picLocks noChangeAspect="1"/>
          </p:cNvPicPr>
          <p:nvPr/>
        </p:nvPicPr>
        <p:blipFill>
          <a:blip r:embed="rId3"/>
          <a:stretch>
            <a:fillRect/>
          </a:stretch>
        </p:blipFill>
        <p:spPr>
          <a:xfrm>
            <a:off x="1057759" y="2451338"/>
            <a:ext cx="2147370" cy="4226945"/>
          </a:xfrm>
          <a:prstGeom prst="rect">
            <a:avLst/>
          </a:prstGeom>
        </p:spPr>
      </p:pic>
      <p:sp>
        <p:nvSpPr>
          <p:cNvPr id="13" name="Shape 6">
            <a:extLst>
              <a:ext uri="{FF2B5EF4-FFF2-40B4-BE49-F238E27FC236}">
                <a16:creationId xmlns:a16="http://schemas.microsoft.com/office/drawing/2014/main" id="{0B251E48-8A10-D716-D3CA-004DC27AC7AF}"/>
              </a:ext>
            </a:extLst>
          </p:cNvPr>
          <p:cNvSpPr/>
          <p:nvPr/>
        </p:nvSpPr>
        <p:spPr>
          <a:xfrm>
            <a:off x="3200180" y="4567599"/>
            <a:ext cx="3890515" cy="621791"/>
          </a:xfrm>
          <a:prstGeom prst="roundRect">
            <a:avLst>
              <a:gd name="adj" fmla="val 6522"/>
            </a:avLst>
          </a:prstGeom>
          <a:solidFill>
            <a:srgbClr val="EAD6CA"/>
          </a:solidFill>
          <a:ln w="12700">
            <a:solidFill>
              <a:srgbClr val="EAD6CA">
                <a:alpha val="0"/>
              </a:srgbClr>
            </a:solidFill>
            <a:prstDash val="solid"/>
          </a:ln>
        </p:spPr>
        <p:txBody>
          <a:bodyPr lIns="91440" tIns="45720" rIns="91440" bIns="45720" anchor="t"/>
          <a:lstStyle/>
          <a:p>
            <a:r>
              <a:rPr lang="en-GB" sz="1600" b="1">
                <a:latin typeface="Poppins"/>
                <a:ea typeface="+mn-lt"/>
                <a:cs typeface="Poppins"/>
              </a:rPr>
              <a:t>If the address is not correct, follow change of address process</a:t>
            </a:r>
            <a:endParaRPr lang="en-GB" sz="1600">
              <a:latin typeface="Poppins"/>
              <a:cs typeface="Poppins"/>
            </a:endParaRPr>
          </a:p>
        </p:txBody>
      </p:sp>
    </p:spTree>
    <p:extLst>
      <p:ext uri="{BB962C8B-B14F-4D97-AF65-F5344CB8AC3E}">
        <p14:creationId xmlns:p14="http://schemas.microsoft.com/office/powerpoint/2010/main" val="36051586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F8725-E249-E8C2-0A5E-8F029D4E0D6E}"/>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570F03CF-F430-A2E3-7B6B-E71534500A93}"/>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ea typeface="+mn-lt"/>
                <a:cs typeface="Poppins"/>
              </a:rPr>
              <a:t>Logistics</a:t>
            </a:r>
            <a:endParaRPr lang="en-US"/>
          </a:p>
          <a:p>
            <a:r>
              <a:rPr lang="en-GB" sz="2000" b="1">
                <a:solidFill>
                  <a:srgbClr val="000000"/>
                </a:solidFill>
                <a:latin typeface="Poppins"/>
                <a:ea typeface="+mn-lt"/>
                <a:cs typeface="Poppins"/>
              </a:rPr>
              <a:t>Change of address</a:t>
            </a:r>
            <a:endParaRPr lang="en-GB" b="1">
              <a:latin typeface="Poppins"/>
              <a:cs typeface="Poppins"/>
            </a:endParaRPr>
          </a:p>
        </p:txBody>
      </p:sp>
      <p:graphicFrame>
        <p:nvGraphicFramePr>
          <p:cNvPr id="7" name="Table 6">
            <a:extLst>
              <a:ext uri="{FF2B5EF4-FFF2-40B4-BE49-F238E27FC236}">
                <a16:creationId xmlns:a16="http://schemas.microsoft.com/office/drawing/2014/main" id="{C41BAF18-8BBB-B5BF-C424-9AA378BB63D0}"/>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AB74E731-1692-F8A0-5FAA-8F6D0A61FBDC}"/>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976484FD-C62E-3EA2-8696-84418788DBF4}"/>
              </a:ext>
            </a:extLst>
          </p:cNvPr>
          <p:cNvGraphicFramePr>
            <a:graphicFrameLocks noGrp="1"/>
          </p:cNvGraphicFramePr>
          <p:nvPr>
            <p:extLst>
              <p:ext uri="{D42A27DB-BD31-4B8C-83A1-F6EECF244321}">
                <p14:modId xmlns:p14="http://schemas.microsoft.com/office/powerpoint/2010/main" val="3414987811"/>
              </p:ext>
            </p:extLst>
          </p:nvPr>
        </p:nvGraphicFramePr>
        <p:xfrm>
          <a:off x="1049547" y="208471"/>
          <a:ext cx="6913143" cy="5436584"/>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4861158">
                <a:tc>
                  <a:txBody>
                    <a:bodyPr/>
                    <a:lstStyle/>
                    <a:p>
                      <a:pPr lvl="0">
                        <a:buNone/>
                      </a:pPr>
                      <a:r>
                        <a:rPr lang="en-US" sz="1600" b="1" i="0" u="none" strike="noStrike" noProof="0">
                          <a:solidFill>
                            <a:srgbClr val="000000"/>
                          </a:solidFill>
                          <a:effectLst/>
                          <a:latin typeface="Poppins"/>
                          <a:cs typeface="Poppins"/>
                        </a:rPr>
                        <a:t>Things we check </a:t>
                      </a:r>
                      <a:endParaRPr lang="en-US" sz="1600" b="0" i="0" u="none" strike="noStrike" noProof="0">
                        <a:solidFill>
                          <a:srgbClr val="000000"/>
                        </a:solidFill>
                        <a:effectLst/>
                        <a:latin typeface="Poppins"/>
                        <a:cs typeface="Poppins"/>
                      </a:endParaRPr>
                    </a:p>
                    <a:p>
                      <a:pPr lvl="0" algn="l">
                        <a:lnSpc>
                          <a:spcPct val="100000"/>
                        </a:lnSpc>
                        <a:spcBef>
                          <a:spcPts val="0"/>
                        </a:spcBef>
                        <a:spcAft>
                          <a:spcPts val="0"/>
                        </a:spcAft>
                        <a:buNone/>
                      </a:pPr>
                      <a:r>
                        <a:rPr lang="en-US" sz="1000" b="0" i="1" u="none" strike="noStrike" noProof="0">
                          <a:solidFill>
                            <a:srgbClr val="000000"/>
                          </a:solidFill>
                          <a:effectLst/>
                          <a:latin typeface="Poppins"/>
                          <a:cs typeface="Poppins"/>
                        </a:rPr>
                        <a:t>ask the customer, check in the station, etc.</a:t>
                      </a:r>
                      <a:endParaRPr lang="en-US" sz="1000" b="0" i="0" u="none" strike="noStrike" noProof="0">
                        <a:solidFill>
                          <a:srgbClr val="000000"/>
                        </a:solidFill>
                        <a:effectLst/>
                        <a:latin typeface="Poppins"/>
                        <a:cs typeface="Poppins"/>
                      </a:endParaRPr>
                    </a:p>
                    <a:p>
                      <a:pPr lvl="0" algn="l">
                        <a:lnSpc>
                          <a:spcPct val="100000"/>
                        </a:lnSpc>
                        <a:spcBef>
                          <a:spcPts val="0"/>
                        </a:spcBef>
                        <a:spcAft>
                          <a:spcPts val="0"/>
                        </a:spcAft>
                        <a:buNone/>
                      </a:pPr>
                      <a:endParaRPr lang="en-US" sz="1000" b="0" i="1"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Order status</a:t>
                      </a: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r h="575426">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pic>
        <p:nvPicPr>
          <p:cNvPr id="12" name="Picture 11" descr="A screenshot of a computer&#10;&#10;AI-generated content may be incorrect.">
            <a:extLst>
              <a:ext uri="{FF2B5EF4-FFF2-40B4-BE49-F238E27FC236}">
                <a16:creationId xmlns:a16="http://schemas.microsoft.com/office/drawing/2014/main" id="{27B2D664-2592-12F4-371D-7A997B7C6268}"/>
              </a:ext>
            </a:extLst>
          </p:cNvPr>
          <p:cNvPicPr>
            <a:picLocks noChangeAspect="1"/>
          </p:cNvPicPr>
          <p:nvPr/>
        </p:nvPicPr>
        <p:blipFill>
          <a:blip r:embed="rId2"/>
          <a:stretch>
            <a:fillRect/>
          </a:stretch>
        </p:blipFill>
        <p:spPr>
          <a:xfrm>
            <a:off x="1136357" y="1364064"/>
            <a:ext cx="6038492" cy="1677533"/>
          </a:xfrm>
          <a:prstGeom prst="rect">
            <a:avLst/>
          </a:prstGeom>
        </p:spPr>
      </p:pic>
      <p:pic>
        <p:nvPicPr>
          <p:cNvPr id="13" name="Picture 12" descr="A screenshot of a computer">
            <a:extLst>
              <a:ext uri="{FF2B5EF4-FFF2-40B4-BE49-F238E27FC236}">
                <a16:creationId xmlns:a16="http://schemas.microsoft.com/office/drawing/2014/main" id="{AA75F019-17B5-306C-36D3-31B812ADB6D4}"/>
              </a:ext>
            </a:extLst>
          </p:cNvPr>
          <p:cNvPicPr>
            <a:picLocks noChangeAspect="1"/>
          </p:cNvPicPr>
          <p:nvPr/>
        </p:nvPicPr>
        <p:blipFill>
          <a:blip r:embed="rId3"/>
          <a:stretch>
            <a:fillRect/>
          </a:stretch>
        </p:blipFill>
        <p:spPr>
          <a:xfrm>
            <a:off x="1133899" y="3427271"/>
            <a:ext cx="6031303" cy="1926565"/>
          </a:xfrm>
          <a:prstGeom prst="rect">
            <a:avLst/>
          </a:prstGeom>
        </p:spPr>
      </p:pic>
    </p:spTree>
    <p:extLst>
      <p:ext uri="{BB962C8B-B14F-4D97-AF65-F5344CB8AC3E}">
        <p14:creationId xmlns:p14="http://schemas.microsoft.com/office/powerpoint/2010/main" val="26535432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E0F08-BB29-F714-4C33-D66AA571AFF2}"/>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821815D2-1953-CCC9-AA03-649E5C56FA43}"/>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ea typeface="+mn-lt"/>
                <a:cs typeface="Poppins"/>
              </a:rPr>
              <a:t>Logistics</a:t>
            </a:r>
            <a:endParaRPr lang="en-US"/>
          </a:p>
          <a:p>
            <a:r>
              <a:rPr lang="en-GB" sz="2000" b="1">
                <a:solidFill>
                  <a:srgbClr val="000000"/>
                </a:solidFill>
                <a:latin typeface="Poppins"/>
                <a:ea typeface="+mn-lt"/>
                <a:cs typeface="Poppins"/>
              </a:rPr>
              <a:t>Change of address</a:t>
            </a:r>
            <a:endParaRPr lang="en-GB" b="1">
              <a:latin typeface="Poppins"/>
              <a:cs typeface="Poppins"/>
            </a:endParaRPr>
          </a:p>
        </p:txBody>
      </p:sp>
      <p:graphicFrame>
        <p:nvGraphicFramePr>
          <p:cNvPr id="7" name="Table 6">
            <a:extLst>
              <a:ext uri="{FF2B5EF4-FFF2-40B4-BE49-F238E27FC236}">
                <a16:creationId xmlns:a16="http://schemas.microsoft.com/office/drawing/2014/main" id="{38DBE49E-F7F0-0035-8826-678B8CF822AE}"/>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4FDFD2D9-D6BA-49E7-D160-3D5CF4F6EEBD}"/>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733CCD76-C208-07BF-3253-A82107CCA779}"/>
              </a:ext>
            </a:extLst>
          </p:cNvPr>
          <p:cNvGraphicFramePr>
            <a:graphicFrameLocks noGrp="1"/>
          </p:cNvGraphicFramePr>
          <p:nvPr>
            <p:extLst>
              <p:ext uri="{D42A27DB-BD31-4B8C-83A1-F6EECF244321}">
                <p14:modId xmlns:p14="http://schemas.microsoft.com/office/powerpoint/2010/main" val="3208559873"/>
              </p:ext>
            </p:extLst>
          </p:nvPr>
        </p:nvGraphicFramePr>
        <p:xfrm>
          <a:off x="1049547" y="208471"/>
          <a:ext cx="6913143" cy="5436584"/>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4861158">
                <a:tc>
                  <a:txBody>
                    <a:bodyPr/>
                    <a:lstStyle/>
                    <a:p>
                      <a:pPr lvl="0" algn="l">
                        <a:lnSpc>
                          <a:spcPct val="100000"/>
                        </a:lnSpc>
                        <a:spcBef>
                          <a:spcPts val="0"/>
                        </a:spcBef>
                        <a:spcAft>
                          <a:spcPts val="0"/>
                        </a:spcAft>
                        <a:buNone/>
                      </a:pPr>
                      <a:r>
                        <a:rPr lang="en-US" sz="1600" b="1" i="0" u="none" strike="noStrike" noProof="0">
                          <a:solidFill>
                            <a:srgbClr val="000000"/>
                          </a:solidFill>
                          <a:effectLst/>
                          <a:latin typeface="Poppins"/>
                          <a:cs typeface="Poppins"/>
                        </a:rPr>
                        <a:t>What to do next:</a:t>
                      </a:r>
                      <a:endParaRPr lang="en-US" sz="1600" b="0"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r>
                        <a:rPr lang="en-US" sz="1600" b="0" i="0" u="none" strike="noStrike" noProof="0">
                          <a:solidFill>
                            <a:srgbClr val="000000"/>
                          </a:solidFill>
                          <a:effectLst/>
                          <a:latin typeface="Poppins"/>
                          <a:cs typeface="Poppins"/>
                        </a:rPr>
                        <a:t>2.   Change delivery address</a:t>
                      </a:r>
                      <a:endParaRPr lang="en-US"/>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r h="575426">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pic>
        <p:nvPicPr>
          <p:cNvPr id="12" name="Picture 11" descr="A screenshot of a computer&#10;&#10;AI-generated content may be incorrect.">
            <a:extLst>
              <a:ext uri="{FF2B5EF4-FFF2-40B4-BE49-F238E27FC236}">
                <a16:creationId xmlns:a16="http://schemas.microsoft.com/office/drawing/2014/main" id="{055EA7F2-6947-6E6D-C47D-0C0EA16887AF}"/>
              </a:ext>
            </a:extLst>
          </p:cNvPr>
          <p:cNvPicPr>
            <a:picLocks noChangeAspect="1"/>
          </p:cNvPicPr>
          <p:nvPr/>
        </p:nvPicPr>
        <p:blipFill>
          <a:blip r:embed="rId2"/>
          <a:stretch>
            <a:fillRect/>
          </a:stretch>
        </p:blipFill>
        <p:spPr>
          <a:xfrm>
            <a:off x="1049547" y="872140"/>
            <a:ext cx="6038492" cy="1677533"/>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CDD9B01A-9A10-9972-EC8B-3403B3BFD413}"/>
              </a:ext>
            </a:extLst>
          </p:cNvPr>
          <p:cNvPicPr>
            <a:picLocks noChangeAspect="1"/>
          </p:cNvPicPr>
          <p:nvPr/>
        </p:nvPicPr>
        <p:blipFill>
          <a:blip r:embed="rId3"/>
          <a:stretch>
            <a:fillRect/>
          </a:stretch>
        </p:blipFill>
        <p:spPr>
          <a:xfrm>
            <a:off x="1068682" y="2551982"/>
            <a:ext cx="6021786" cy="4025661"/>
          </a:xfrm>
          <a:prstGeom prst="rect">
            <a:avLst/>
          </a:prstGeom>
        </p:spPr>
      </p:pic>
      <p:sp>
        <p:nvSpPr>
          <p:cNvPr id="6" name="Shape 6">
            <a:extLst>
              <a:ext uri="{FF2B5EF4-FFF2-40B4-BE49-F238E27FC236}">
                <a16:creationId xmlns:a16="http://schemas.microsoft.com/office/drawing/2014/main" id="{787C4D1E-1709-75D1-7D90-845D1A345C7E}"/>
              </a:ext>
            </a:extLst>
          </p:cNvPr>
          <p:cNvSpPr/>
          <p:nvPr/>
        </p:nvSpPr>
        <p:spPr>
          <a:xfrm>
            <a:off x="3178614" y="3633071"/>
            <a:ext cx="3904893" cy="1067489"/>
          </a:xfrm>
          <a:prstGeom prst="roundRect">
            <a:avLst>
              <a:gd name="adj" fmla="val 6522"/>
            </a:avLst>
          </a:prstGeom>
          <a:solidFill>
            <a:srgbClr val="EAD6CA"/>
          </a:solidFill>
          <a:ln w="12700">
            <a:solidFill>
              <a:srgbClr val="EAD6CA">
                <a:alpha val="0"/>
              </a:srgbClr>
            </a:solidFill>
            <a:prstDash val="solid"/>
          </a:ln>
        </p:spPr>
        <p:txBody>
          <a:bodyPr lIns="91440" tIns="45720" rIns="91440" bIns="45720" anchor="t"/>
          <a:lstStyle/>
          <a:p>
            <a:pPr marL="285750" indent="-285750">
              <a:buFont typeface="Arial"/>
              <a:buChar char="•"/>
            </a:pPr>
            <a:r>
              <a:rPr lang="en-GB" sz="1600" b="1">
                <a:latin typeface="Poppins"/>
                <a:ea typeface="+mn-lt"/>
                <a:cs typeface="Poppins"/>
              </a:rPr>
              <a:t>Despatched – </a:t>
            </a:r>
            <a:r>
              <a:rPr lang="en-GB" sz="1600">
                <a:latin typeface="Poppins"/>
                <a:ea typeface="+mn-lt"/>
                <a:cs typeface="Poppins"/>
              </a:rPr>
              <a:t>we cannot change the address anymore since the delivery is on route.</a:t>
            </a:r>
          </a:p>
          <a:p>
            <a:pPr marL="285750" indent="-285750">
              <a:buFont typeface="Arial"/>
              <a:buChar char="•"/>
            </a:pPr>
            <a:r>
              <a:rPr lang="en-GB" sz="1600" b="1">
                <a:latin typeface="Poppins"/>
                <a:cs typeface="Poppins"/>
              </a:rPr>
              <a:t>Others – </a:t>
            </a:r>
            <a:r>
              <a:rPr lang="en-GB" sz="1600">
                <a:latin typeface="Poppins"/>
                <a:cs typeface="Poppins"/>
              </a:rPr>
              <a:t>change address</a:t>
            </a:r>
          </a:p>
        </p:txBody>
      </p:sp>
    </p:spTree>
    <p:extLst>
      <p:ext uri="{BB962C8B-B14F-4D97-AF65-F5344CB8AC3E}">
        <p14:creationId xmlns:p14="http://schemas.microsoft.com/office/powerpoint/2010/main" val="12454903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8C30F-7FD1-B11F-8779-CA23D7F99A0A}"/>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32727350-8237-7AD2-1DFC-0925D8F509CC}"/>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ea typeface="+mn-lt"/>
                <a:cs typeface="Poppins"/>
              </a:rPr>
              <a:t>Logistics</a:t>
            </a:r>
            <a:endParaRPr lang="en-US"/>
          </a:p>
          <a:p>
            <a:r>
              <a:rPr lang="en-GB" sz="2000" b="1">
                <a:solidFill>
                  <a:srgbClr val="000000"/>
                </a:solidFill>
                <a:latin typeface="Poppins"/>
                <a:ea typeface="+mn-lt"/>
                <a:cs typeface="Poppins"/>
              </a:rPr>
              <a:t>Failed delivery</a:t>
            </a:r>
            <a:endParaRPr lang="en-GB" sz="2000">
              <a:solidFill>
                <a:srgbClr val="000000"/>
              </a:solidFill>
              <a:latin typeface="Poppins"/>
              <a:ea typeface="+mn-lt"/>
              <a:cs typeface="Poppins"/>
            </a:endParaRPr>
          </a:p>
        </p:txBody>
      </p:sp>
      <p:graphicFrame>
        <p:nvGraphicFramePr>
          <p:cNvPr id="7" name="Table 6">
            <a:extLst>
              <a:ext uri="{FF2B5EF4-FFF2-40B4-BE49-F238E27FC236}">
                <a16:creationId xmlns:a16="http://schemas.microsoft.com/office/drawing/2014/main" id="{B1BB6050-2324-276C-DFC3-0DFEB714B899}"/>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8659031B-947C-D4D0-FA80-32EED83E395F}"/>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B5E22DF4-C70B-AEF9-27CE-5F937ECC102B}"/>
              </a:ext>
            </a:extLst>
          </p:cNvPr>
          <p:cNvGraphicFramePr>
            <a:graphicFrameLocks noGrp="1"/>
          </p:cNvGraphicFramePr>
          <p:nvPr>
            <p:extLst>
              <p:ext uri="{D42A27DB-BD31-4B8C-83A1-F6EECF244321}">
                <p14:modId xmlns:p14="http://schemas.microsoft.com/office/powerpoint/2010/main" val="3955570272"/>
              </p:ext>
            </p:extLst>
          </p:nvPr>
        </p:nvGraphicFramePr>
        <p:xfrm>
          <a:off x="1049547" y="208471"/>
          <a:ext cx="6913143" cy="5436584"/>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4861158">
                <a:tc>
                  <a:txBody>
                    <a:bodyPr/>
                    <a:lstStyle/>
                    <a:p>
                      <a:pPr lvl="0">
                        <a:buNone/>
                      </a:pPr>
                      <a:r>
                        <a:rPr lang="en-US" sz="1600" b="1" i="0" u="none" strike="noStrike" noProof="0">
                          <a:solidFill>
                            <a:srgbClr val="000000"/>
                          </a:solidFill>
                          <a:effectLst/>
                          <a:latin typeface="Poppins"/>
                          <a:cs typeface="Poppins"/>
                        </a:rPr>
                        <a:t>Things we check </a:t>
                      </a:r>
                      <a:endParaRPr lang="en-US" sz="1600" b="0" i="0" u="none" strike="noStrike" noProof="0">
                        <a:solidFill>
                          <a:srgbClr val="000000"/>
                        </a:solidFill>
                        <a:effectLst/>
                        <a:latin typeface="Poppins"/>
                        <a:cs typeface="Poppins"/>
                      </a:endParaRPr>
                    </a:p>
                    <a:p>
                      <a:pPr lvl="0" algn="l">
                        <a:lnSpc>
                          <a:spcPct val="100000"/>
                        </a:lnSpc>
                        <a:spcBef>
                          <a:spcPts val="0"/>
                        </a:spcBef>
                        <a:spcAft>
                          <a:spcPts val="0"/>
                        </a:spcAft>
                        <a:buNone/>
                      </a:pPr>
                      <a:r>
                        <a:rPr lang="en-US" sz="1000" b="0" i="1" u="none" strike="noStrike" noProof="0">
                          <a:solidFill>
                            <a:srgbClr val="000000"/>
                          </a:solidFill>
                          <a:effectLst/>
                          <a:latin typeface="Poppins"/>
                          <a:cs typeface="Poppins"/>
                        </a:rPr>
                        <a:t>ask the customer, check in the station, etc.</a:t>
                      </a:r>
                      <a:endParaRPr lang="en-US" sz="10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Verify Delivery address</a:t>
                      </a:r>
                      <a:endParaRPr lang="en-US"/>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r h="575426">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pic>
        <p:nvPicPr>
          <p:cNvPr id="12" name="Picture 11" descr="A screenshot of a computer&#10;&#10;AI-generated content may be incorrect.">
            <a:extLst>
              <a:ext uri="{FF2B5EF4-FFF2-40B4-BE49-F238E27FC236}">
                <a16:creationId xmlns:a16="http://schemas.microsoft.com/office/drawing/2014/main" id="{718CB10A-B826-AEB8-D181-FF51A6F51069}"/>
              </a:ext>
            </a:extLst>
          </p:cNvPr>
          <p:cNvPicPr>
            <a:picLocks noChangeAspect="1"/>
          </p:cNvPicPr>
          <p:nvPr/>
        </p:nvPicPr>
        <p:blipFill>
          <a:blip r:embed="rId2"/>
          <a:stretch>
            <a:fillRect/>
          </a:stretch>
        </p:blipFill>
        <p:spPr>
          <a:xfrm>
            <a:off x="1049547" y="872140"/>
            <a:ext cx="6038492" cy="1677533"/>
          </a:xfrm>
          <a:prstGeom prst="rect">
            <a:avLst/>
          </a:prstGeom>
        </p:spPr>
      </p:pic>
      <p:pic>
        <p:nvPicPr>
          <p:cNvPr id="3" name="Picture 2" descr="A screenshot of a delivery login&#10;&#10;AI-generated content may be incorrect.">
            <a:extLst>
              <a:ext uri="{FF2B5EF4-FFF2-40B4-BE49-F238E27FC236}">
                <a16:creationId xmlns:a16="http://schemas.microsoft.com/office/drawing/2014/main" id="{EFD4BF0E-3B89-92A1-95A8-27860843EB13}"/>
              </a:ext>
            </a:extLst>
          </p:cNvPr>
          <p:cNvPicPr>
            <a:picLocks noChangeAspect="1"/>
          </p:cNvPicPr>
          <p:nvPr/>
        </p:nvPicPr>
        <p:blipFill>
          <a:blip r:embed="rId3"/>
          <a:stretch>
            <a:fillRect/>
          </a:stretch>
        </p:blipFill>
        <p:spPr>
          <a:xfrm>
            <a:off x="1057759" y="2451338"/>
            <a:ext cx="2147370" cy="4226945"/>
          </a:xfrm>
          <a:prstGeom prst="rect">
            <a:avLst/>
          </a:prstGeom>
        </p:spPr>
      </p:pic>
      <p:sp>
        <p:nvSpPr>
          <p:cNvPr id="6" name="Shape 6">
            <a:extLst>
              <a:ext uri="{FF2B5EF4-FFF2-40B4-BE49-F238E27FC236}">
                <a16:creationId xmlns:a16="http://schemas.microsoft.com/office/drawing/2014/main" id="{162E77F0-57AF-5DCE-020F-469B370DD477}"/>
              </a:ext>
            </a:extLst>
          </p:cNvPr>
          <p:cNvSpPr/>
          <p:nvPr/>
        </p:nvSpPr>
        <p:spPr>
          <a:xfrm>
            <a:off x="3200180" y="4567599"/>
            <a:ext cx="3890515" cy="621791"/>
          </a:xfrm>
          <a:prstGeom prst="roundRect">
            <a:avLst>
              <a:gd name="adj" fmla="val 6522"/>
            </a:avLst>
          </a:prstGeom>
          <a:solidFill>
            <a:srgbClr val="EAD6CA"/>
          </a:solidFill>
          <a:ln w="12700">
            <a:solidFill>
              <a:srgbClr val="EAD6CA">
                <a:alpha val="0"/>
              </a:srgbClr>
            </a:solidFill>
            <a:prstDash val="solid"/>
          </a:ln>
        </p:spPr>
        <p:txBody>
          <a:bodyPr lIns="91440" tIns="45720" rIns="91440" bIns="45720" anchor="t"/>
          <a:lstStyle/>
          <a:p>
            <a:r>
              <a:rPr lang="en-GB" sz="1600" b="1">
                <a:latin typeface="Poppins"/>
                <a:ea typeface="+mn-lt"/>
                <a:cs typeface="Poppins"/>
              </a:rPr>
              <a:t>If the address is not correct, follow change of address process</a:t>
            </a:r>
            <a:endParaRPr lang="en-GB" sz="1600">
              <a:latin typeface="Poppins"/>
              <a:cs typeface="Poppins"/>
            </a:endParaRPr>
          </a:p>
        </p:txBody>
      </p:sp>
    </p:spTree>
    <p:extLst>
      <p:ext uri="{BB962C8B-B14F-4D97-AF65-F5344CB8AC3E}">
        <p14:creationId xmlns:p14="http://schemas.microsoft.com/office/powerpoint/2010/main" val="30176117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F8C23-F34B-9880-8AE9-D20E5CD8B4D9}"/>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FF141B08-D166-4CDB-7A49-D2974BC0ECF3}"/>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ea typeface="+mn-lt"/>
                <a:cs typeface="Poppins"/>
              </a:rPr>
              <a:t>Logistics</a:t>
            </a:r>
            <a:endParaRPr lang="en-US"/>
          </a:p>
          <a:p>
            <a:r>
              <a:rPr lang="en-GB" sz="2000" b="1">
                <a:solidFill>
                  <a:srgbClr val="000000"/>
                </a:solidFill>
                <a:latin typeface="Poppins"/>
                <a:ea typeface="+mn-lt"/>
                <a:cs typeface="Poppins"/>
              </a:rPr>
              <a:t>Returns</a:t>
            </a:r>
            <a:endParaRPr lang="en-GB"/>
          </a:p>
        </p:txBody>
      </p:sp>
      <p:graphicFrame>
        <p:nvGraphicFramePr>
          <p:cNvPr id="7" name="Table 6">
            <a:extLst>
              <a:ext uri="{FF2B5EF4-FFF2-40B4-BE49-F238E27FC236}">
                <a16:creationId xmlns:a16="http://schemas.microsoft.com/office/drawing/2014/main" id="{9239251D-4355-96A5-EB87-44B5F2113C47}"/>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57112F9B-6A7E-9712-C2C2-F59FAFEDD4C0}"/>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026B9EEA-7889-2015-4F55-160A8BBEB6D0}"/>
              </a:ext>
            </a:extLst>
          </p:cNvPr>
          <p:cNvGraphicFramePr>
            <a:graphicFrameLocks noGrp="1"/>
          </p:cNvGraphicFramePr>
          <p:nvPr>
            <p:extLst>
              <p:ext uri="{D42A27DB-BD31-4B8C-83A1-F6EECF244321}">
                <p14:modId xmlns:p14="http://schemas.microsoft.com/office/powerpoint/2010/main" val="3549167514"/>
              </p:ext>
            </p:extLst>
          </p:nvPr>
        </p:nvGraphicFramePr>
        <p:xfrm>
          <a:off x="962737" y="1886800"/>
          <a:ext cx="6913143" cy="5455920"/>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2062139">
                <a:tc>
                  <a:txBody>
                    <a:bodyPr/>
                    <a:lstStyle/>
                    <a:p>
                      <a:pPr lvl="0">
                        <a:buNone/>
                      </a:pPr>
                      <a:r>
                        <a:rPr lang="en-US" sz="1600" b="1" i="0" u="none" strike="noStrike" noProof="0">
                          <a:solidFill>
                            <a:srgbClr val="000000"/>
                          </a:solidFill>
                          <a:effectLst/>
                          <a:latin typeface="Poppins"/>
                          <a:cs typeface="Poppins"/>
                        </a:rPr>
                        <a:t>Things we check </a:t>
                      </a:r>
                      <a:endParaRPr lang="en-US" sz="1600" b="0" i="0" u="none" strike="noStrike" noProof="0">
                        <a:solidFill>
                          <a:srgbClr val="000000"/>
                        </a:solidFill>
                        <a:effectLst/>
                        <a:latin typeface="Poppins"/>
                        <a:cs typeface="Poppins"/>
                      </a:endParaRPr>
                    </a:p>
                    <a:p>
                      <a:pPr lvl="0" algn="l">
                        <a:lnSpc>
                          <a:spcPct val="100000"/>
                        </a:lnSpc>
                        <a:spcBef>
                          <a:spcPts val="0"/>
                        </a:spcBef>
                        <a:spcAft>
                          <a:spcPts val="0"/>
                        </a:spcAft>
                        <a:buNone/>
                      </a:pPr>
                      <a:r>
                        <a:rPr lang="en-US" sz="1000" b="0" i="1" u="none" strike="noStrike" noProof="0">
                          <a:solidFill>
                            <a:srgbClr val="000000"/>
                          </a:solidFill>
                          <a:effectLst/>
                          <a:latin typeface="Poppins"/>
                          <a:cs typeface="Poppins"/>
                        </a:rPr>
                        <a:t>ask the customer, check in the station, etc.</a:t>
                      </a:r>
                      <a:endParaRPr lang="en-US" sz="10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Verify if the services are cancelled</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Ask for the reason of the loop return</a:t>
                      </a:r>
                      <a:endParaRPr lang="en-US" sz="1600">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r>
                        <a:rPr lang="en-US" sz="1600" b="1" i="0" u="none" strike="noStrike" noProof="0">
                          <a:solidFill>
                            <a:srgbClr val="000000"/>
                          </a:solidFill>
                          <a:effectLst/>
                          <a:latin typeface="Poppins"/>
                          <a:cs typeface="Poppins"/>
                        </a:rPr>
                        <a:t>What to do next:</a:t>
                      </a:r>
                      <a:endParaRPr lang="en-US" sz="1600">
                        <a:latin typeface="Poppins"/>
                        <a:cs typeface="Poppins"/>
                      </a:endParaRPr>
                    </a:p>
                    <a:p>
                      <a:pPr marL="0" lvl="0" indent="0" algn="l">
                        <a:lnSpc>
                          <a:spcPct val="100000"/>
                        </a:lnSpc>
                        <a:spcBef>
                          <a:spcPts val="0"/>
                        </a:spcBef>
                        <a:spcAft>
                          <a:spcPts val="0"/>
                        </a:spcAft>
                        <a:buNone/>
                      </a:pPr>
                      <a:r>
                        <a:rPr lang="en-US" sz="1600" b="0" i="0" u="none" strike="noStrike" noProof="0">
                          <a:solidFill>
                            <a:srgbClr val="000000"/>
                          </a:solidFill>
                          <a:effectLst/>
                          <a:latin typeface="Poppins"/>
                          <a:cs typeface="Poppins"/>
                        </a:rPr>
                        <a:t>Escalate to UK Support internally</a:t>
                      </a: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r h="137149">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spTree>
    <p:extLst>
      <p:ext uri="{BB962C8B-B14F-4D97-AF65-F5344CB8AC3E}">
        <p14:creationId xmlns:p14="http://schemas.microsoft.com/office/powerpoint/2010/main" val="22663022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8BE98-60F7-B7D4-C569-D8F58DA72AE0}"/>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499140C2-37B9-BBD4-AF0F-702D9315DB9A}"/>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ea typeface="+mn-lt"/>
                <a:cs typeface="Poppins"/>
              </a:rPr>
              <a:t>Logistics</a:t>
            </a:r>
            <a:endParaRPr lang="en-US"/>
          </a:p>
          <a:p>
            <a:r>
              <a:rPr lang="en-GB" sz="2000" b="1">
                <a:solidFill>
                  <a:srgbClr val="000000"/>
                </a:solidFill>
                <a:latin typeface="Poppins"/>
                <a:ea typeface="+mn-lt"/>
                <a:cs typeface="Poppins"/>
              </a:rPr>
              <a:t>Replacements</a:t>
            </a:r>
            <a:endParaRPr lang="en-GB">
              <a:latin typeface="Aptos" panose="020B0004020202020204"/>
              <a:cs typeface="Poppins"/>
            </a:endParaRPr>
          </a:p>
        </p:txBody>
      </p:sp>
      <p:graphicFrame>
        <p:nvGraphicFramePr>
          <p:cNvPr id="7" name="Table 6">
            <a:extLst>
              <a:ext uri="{FF2B5EF4-FFF2-40B4-BE49-F238E27FC236}">
                <a16:creationId xmlns:a16="http://schemas.microsoft.com/office/drawing/2014/main" id="{763724F8-EE71-927B-CB0B-36FDF95F8025}"/>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B2DB5003-542F-964B-C263-6D9EBE2E029D}"/>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6537E6B5-3D7E-E956-9D58-3F937D3D6669}"/>
              </a:ext>
            </a:extLst>
          </p:cNvPr>
          <p:cNvGraphicFramePr>
            <a:graphicFrameLocks noGrp="1"/>
          </p:cNvGraphicFramePr>
          <p:nvPr>
            <p:extLst>
              <p:ext uri="{D42A27DB-BD31-4B8C-83A1-F6EECF244321}">
                <p14:modId xmlns:p14="http://schemas.microsoft.com/office/powerpoint/2010/main" val="1967673833"/>
              </p:ext>
            </p:extLst>
          </p:nvPr>
        </p:nvGraphicFramePr>
        <p:xfrm>
          <a:off x="750534" y="1896446"/>
          <a:ext cx="6913143" cy="6195461"/>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3440164">
                <a:tc>
                  <a:txBody>
                    <a:bodyPr/>
                    <a:lstStyle/>
                    <a:p>
                      <a:pPr lvl="0">
                        <a:buNone/>
                      </a:pPr>
                      <a:r>
                        <a:rPr lang="en-US" sz="1600" b="1" i="0" u="none" strike="noStrike" noProof="0">
                          <a:solidFill>
                            <a:srgbClr val="000000"/>
                          </a:solidFill>
                          <a:effectLst/>
                          <a:latin typeface="Poppins"/>
                          <a:cs typeface="Poppins"/>
                        </a:rPr>
                        <a:t>Things we check </a:t>
                      </a:r>
                      <a:endParaRPr lang="en-US" sz="1600" b="0" i="0" u="none" strike="noStrike" noProof="0">
                        <a:solidFill>
                          <a:srgbClr val="000000"/>
                        </a:solidFill>
                        <a:effectLst/>
                        <a:latin typeface="Poppins"/>
                        <a:cs typeface="Poppins"/>
                      </a:endParaRPr>
                    </a:p>
                    <a:p>
                      <a:pPr lvl="0" algn="l">
                        <a:lnSpc>
                          <a:spcPct val="100000"/>
                        </a:lnSpc>
                        <a:spcBef>
                          <a:spcPts val="0"/>
                        </a:spcBef>
                        <a:spcAft>
                          <a:spcPts val="0"/>
                        </a:spcAft>
                        <a:buNone/>
                      </a:pPr>
                      <a:r>
                        <a:rPr lang="en-US" sz="1000" b="0" i="1" u="none" strike="noStrike" noProof="0">
                          <a:solidFill>
                            <a:srgbClr val="000000"/>
                          </a:solidFill>
                          <a:effectLst/>
                          <a:latin typeface="Poppins"/>
                          <a:cs typeface="Poppins"/>
                        </a:rPr>
                        <a:t>ask the customer, check in the station, etc.</a:t>
                      </a:r>
                      <a:endParaRPr lang="en-US" sz="10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Ask for the reason of the loop replacement</a:t>
                      </a: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Verify the issue (what happened)</a:t>
                      </a: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Verify if replacement is valid</a:t>
                      </a:r>
                    </a:p>
                    <a:p>
                      <a:pPr marL="800100" lvl="1" indent="-342900" algn="l">
                        <a:lnSpc>
                          <a:spcPct val="100000"/>
                        </a:lnSpc>
                        <a:spcBef>
                          <a:spcPts val="0"/>
                        </a:spcBef>
                        <a:spcAft>
                          <a:spcPts val="0"/>
                        </a:spcAft>
                        <a:buFont typeface="Courier New"/>
                        <a:buChar char="o"/>
                      </a:pPr>
                      <a:r>
                        <a:rPr lang="en-US" sz="1600" b="0" i="0" u="none" strike="noStrike" noProof="0">
                          <a:solidFill>
                            <a:srgbClr val="000000"/>
                          </a:solidFill>
                          <a:effectLst/>
                          <a:latin typeface="Poppins"/>
                          <a:cs typeface="Poppins"/>
                        </a:rPr>
                        <a:t>Customer-induced (not valid)</a:t>
                      </a:r>
                    </a:p>
                    <a:p>
                      <a:pPr marL="800100" lvl="1" indent="-342900" algn="l">
                        <a:lnSpc>
                          <a:spcPct val="100000"/>
                        </a:lnSpc>
                        <a:spcBef>
                          <a:spcPts val="0"/>
                        </a:spcBef>
                        <a:spcAft>
                          <a:spcPts val="0"/>
                        </a:spcAft>
                        <a:buFont typeface="Courier New"/>
                        <a:buChar char="o"/>
                      </a:pPr>
                      <a:r>
                        <a:rPr lang="en-US" sz="1600" b="0" i="0" u="none" strike="noStrike" noProof="0">
                          <a:solidFill>
                            <a:srgbClr val="000000"/>
                          </a:solidFill>
                          <a:effectLst/>
                          <a:latin typeface="Poppins"/>
                          <a:cs typeface="Poppins"/>
                        </a:rPr>
                        <a:t>Issue upon delivery (Valid)</a:t>
                      </a:r>
                    </a:p>
                    <a:p>
                      <a:pPr marL="0" lvl="0" indent="0" algn="l">
                        <a:lnSpc>
                          <a:spcPct val="100000"/>
                        </a:lnSpc>
                        <a:spcBef>
                          <a:spcPts val="0"/>
                        </a:spcBef>
                        <a:spcAft>
                          <a:spcPts val="0"/>
                        </a:spcAft>
                        <a:buNone/>
                      </a:pPr>
                      <a:endParaRPr lang="en-US" sz="1600" b="1"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r>
                        <a:rPr lang="en-US" sz="1600" b="1" i="0" u="none" strike="noStrike" noProof="0">
                          <a:solidFill>
                            <a:srgbClr val="000000"/>
                          </a:solidFill>
                          <a:effectLst/>
                          <a:latin typeface="Poppins"/>
                          <a:cs typeface="Poppins"/>
                        </a:rPr>
                        <a:t>What to do next:</a:t>
                      </a:r>
                      <a:endParaRPr lang="en-US" sz="1600">
                        <a:latin typeface="Poppins"/>
                        <a:cs typeface="Poppins"/>
                      </a:endParaRPr>
                    </a:p>
                    <a:p>
                      <a:pPr marL="0" lvl="0" indent="0" algn="l">
                        <a:lnSpc>
                          <a:spcPct val="100000"/>
                        </a:lnSpc>
                        <a:spcBef>
                          <a:spcPts val="0"/>
                        </a:spcBef>
                        <a:spcAft>
                          <a:spcPts val="0"/>
                        </a:spcAft>
                        <a:buNone/>
                      </a:pPr>
                      <a:r>
                        <a:rPr lang="en-US" sz="1600" b="0" i="0" u="none" strike="noStrike" noProof="0">
                          <a:solidFill>
                            <a:srgbClr val="000000"/>
                          </a:solidFill>
                          <a:effectLst/>
                          <a:latin typeface="Poppins"/>
                          <a:cs typeface="Poppins"/>
                        </a:rPr>
                        <a:t>Verify the delivery Address</a:t>
                      </a:r>
                      <a:endParaRPr lang="en-US">
                        <a:latin typeface="Poppins"/>
                        <a:cs typeface="Poppins"/>
                      </a:endParaRPr>
                    </a:p>
                    <a:p>
                      <a:pPr marL="0" lvl="0" indent="0" algn="l">
                        <a:lnSpc>
                          <a:spcPct val="100000"/>
                        </a:lnSpc>
                        <a:spcBef>
                          <a:spcPts val="0"/>
                        </a:spcBef>
                        <a:spcAft>
                          <a:spcPts val="0"/>
                        </a:spcAft>
                        <a:buNone/>
                      </a:pPr>
                      <a:r>
                        <a:rPr lang="en-US" sz="1600" b="0" i="0" u="none" strike="noStrike" noProof="0">
                          <a:solidFill>
                            <a:srgbClr val="000000"/>
                          </a:solidFill>
                          <a:effectLst/>
                          <a:latin typeface="Poppins"/>
                          <a:cs typeface="Poppins"/>
                        </a:rPr>
                        <a:t>Escalate to support</a:t>
                      </a: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r h="343301">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spTree>
    <p:extLst>
      <p:ext uri="{BB962C8B-B14F-4D97-AF65-F5344CB8AC3E}">
        <p14:creationId xmlns:p14="http://schemas.microsoft.com/office/powerpoint/2010/main" val="8117498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79512-8C13-3CF1-458A-4D2FB63B4539}"/>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E14E3340-72CE-02D0-A7E3-BC6AC5024326}"/>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ea typeface="+mn-lt"/>
                <a:cs typeface="Poppins"/>
              </a:rPr>
              <a:t>Logistics</a:t>
            </a:r>
            <a:endParaRPr lang="en-US"/>
          </a:p>
          <a:p>
            <a:r>
              <a:rPr lang="en-GB" sz="2000" b="1">
                <a:solidFill>
                  <a:srgbClr val="000000"/>
                </a:solidFill>
                <a:latin typeface="Poppins"/>
                <a:ea typeface="+mn-lt"/>
                <a:cs typeface="Poppins"/>
              </a:rPr>
              <a:t>Fast delivery request</a:t>
            </a:r>
            <a:endParaRPr lang="en-GB"/>
          </a:p>
        </p:txBody>
      </p:sp>
      <p:graphicFrame>
        <p:nvGraphicFramePr>
          <p:cNvPr id="7" name="Table 6">
            <a:extLst>
              <a:ext uri="{FF2B5EF4-FFF2-40B4-BE49-F238E27FC236}">
                <a16:creationId xmlns:a16="http://schemas.microsoft.com/office/drawing/2014/main" id="{74698521-7EF7-6BD7-05AB-02DE8E9FFC5A}"/>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9871136A-E825-277C-EC89-CD600EEAB5A0}"/>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DB4E9C49-4908-BEEE-C9FB-03DCE6320110}"/>
              </a:ext>
            </a:extLst>
          </p:cNvPr>
          <p:cNvGraphicFramePr>
            <a:graphicFrameLocks noGrp="1"/>
          </p:cNvGraphicFramePr>
          <p:nvPr>
            <p:extLst>
              <p:ext uri="{D42A27DB-BD31-4B8C-83A1-F6EECF244321}">
                <p14:modId xmlns:p14="http://schemas.microsoft.com/office/powerpoint/2010/main" val="3710253947"/>
              </p:ext>
            </p:extLst>
          </p:nvPr>
        </p:nvGraphicFramePr>
        <p:xfrm>
          <a:off x="1126712" y="2002547"/>
          <a:ext cx="6913143" cy="5939906"/>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4861158">
                <a:tc>
                  <a:txBody>
                    <a:bodyPr/>
                    <a:lstStyle/>
                    <a:p>
                      <a:pPr lvl="0">
                        <a:buNone/>
                      </a:pPr>
                      <a:r>
                        <a:rPr lang="en-US" sz="1600" b="1" i="0" u="none" strike="noStrike" noProof="0">
                          <a:solidFill>
                            <a:srgbClr val="000000"/>
                          </a:solidFill>
                          <a:effectLst/>
                          <a:latin typeface="Poppins"/>
                          <a:cs typeface="Poppins"/>
                        </a:rPr>
                        <a:t>Things we check </a:t>
                      </a:r>
                      <a:endParaRPr lang="en-US" sz="1600" b="0" i="0" u="none" strike="noStrike" noProof="0">
                        <a:solidFill>
                          <a:srgbClr val="000000"/>
                        </a:solidFill>
                        <a:effectLst/>
                        <a:latin typeface="Poppins"/>
                        <a:cs typeface="Poppins"/>
                      </a:endParaRPr>
                    </a:p>
                    <a:p>
                      <a:pPr lvl="0" algn="l">
                        <a:lnSpc>
                          <a:spcPct val="100000"/>
                        </a:lnSpc>
                        <a:spcBef>
                          <a:spcPts val="0"/>
                        </a:spcBef>
                        <a:spcAft>
                          <a:spcPts val="0"/>
                        </a:spcAft>
                        <a:buNone/>
                      </a:pPr>
                      <a:r>
                        <a:rPr lang="en-US" sz="1000" b="0" i="1" u="none" strike="noStrike" noProof="0">
                          <a:solidFill>
                            <a:srgbClr val="000000"/>
                          </a:solidFill>
                          <a:effectLst/>
                          <a:latin typeface="Poppins"/>
                          <a:cs typeface="Poppins"/>
                        </a:rPr>
                        <a:t>ask the customer, check in the station, etc.</a:t>
                      </a:r>
                      <a:endParaRPr lang="en-US" sz="10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Order Date</a:t>
                      </a: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Order Status</a:t>
                      </a:r>
                      <a:endParaRPr lang="en-US">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Tracking URL</a:t>
                      </a:r>
                      <a:endParaRPr lang="en-US">
                        <a:latin typeface="Poppins"/>
                        <a:cs typeface="Poppins"/>
                      </a:endParaRPr>
                    </a:p>
                    <a:p>
                      <a:pPr marL="0" lvl="0" indent="0" algn="l">
                        <a:lnSpc>
                          <a:spcPct val="100000"/>
                        </a:lnSpc>
                        <a:spcBef>
                          <a:spcPts val="0"/>
                        </a:spcBef>
                        <a:spcAft>
                          <a:spcPts val="0"/>
                        </a:spcAft>
                        <a:buNone/>
                      </a:pPr>
                      <a:endParaRPr lang="en-US" sz="1600" b="1"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r>
                        <a:rPr lang="en-US" sz="1600" b="1" i="0" u="none" strike="noStrike" noProof="0">
                          <a:solidFill>
                            <a:srgbClr val="000000"/>
                          </a:solidFill>
                          <a:effectLst/>
                          <a:latin typeface="Poppins"/>
                          <a:cs typeface="Poppins"/>
                        </a:rPr>
                        <a:t>What to do next:</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Verify the delivery Address</a:t>
                      </a:r>
                      <a:endParaRPr lang="en-US">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Escalate to support</a:t>
                      </a: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r h="575426">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spTree>
    <p:extLst>
      <p:ext uri="{BB962C8B-B14F-4D97-AF65-F5344CB8AC3E}">
        <p14:creationId xmlns:p14="http://schemas.microsoft.com/office/powerpoint/2010/main" val="33917029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6E4C0-4BC3-078A-CD06-8502348FD1F5}"/>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52EC6C7E-2E60-5210-9203-3C241DBE93AD}"/>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ea typeface="+mn-lt"/>
                <a:cs typeface="Poppins"/>
              </a:rPr>
              <a:t>Cancel</a:t>
            </a:r>
            <a:endParaRPr lang="en-GB" sz="6000" b="1">
              <a:solidFill>
                <a:srgbClr val="0070C0"/>
              </a:solidFill>
              <a:latin typeface="Poppins"/>
              <a:cs typeface="Poppins"/>
            </a:endParaRPr>
          </a:p>
          <a:p>
            <a:r>
              <a:rPr lang="en-GB" sz="2000" b="1">
                <a:solidFill>
                  <a:srgbClr val="000000"/>
                </a:solidFill>
                <a:latin typeface="Poppins"/>
                <a:ea typeface="+mn-lt"/>
                <a:cs typeface="Poppins"/>
              </a:rPr>
              <a:t>Cancellation Reasons</a:t>
            </a:r>
            <a:endParaRPr lang="en-GB" b="1">
              <a:latin typeface="Poppins"/>
              <a:cs typeface="Poppins"/>
            </a:endParaRPr>
          </a:p>
        </p:txBody>
      </p:sp>
      <p:graphicFrame>
        <p:nvGraphicFramePr>
          <p:cNvPr id="7" name="Table 6">
            <a:extLst>
              <a:ext uri="{FF2B5EF4-FFF2-40B4-BE49-F238E27FC236}">
                <a16:creationId xmlns:a16="http://schemas.microsoft.com/office/drawing/2014/main" id="{45E5B596-3DFE-EF9B-A1E1-FF7106120AE7}"/>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2844EB70-914E-7108-BE0F-84618AB48060}"/>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D0DA7447-1A67-2C27-7980-0DFC104B057A}"/>
              </a:ext>
            </a:extLst>
          </p:cNvPr>
          <p:cNvGraphicFramePr>
            <a:graphicFrameLocks noGrp="1"/>
          </p:cNvGraphicFramePr>
          <p:nvPr>
            <p:extLst>
              <p:ext uri="{D42A27DB-BD31-4B8C-83A1-F6EECF244321}">
                <p14:modId xmlns:p14="http://schemas.microsoft.com/office/powerpoint/2010/main" val="2075573112"/>
              </p:ext>
            </p:extLst>
          </p:nvPr>
        </p:nvGraphicFramePr>
        <p:xfrm>
          <a:off x="1049547" y="208471"/>
          <a:ext cx="6913143" cy="5563411"/>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4375674">
                <a:tc>
                  <a:txBody>
                    <a:bodyPr/>
                    <a:lstStyle/>
                    <a:p>
                      <a:pPr lvl="0">
                        <a:buNone/>
                      </a:pPr>
                      <a:r>
                        <a:rPr lang="en-GB" sz="1600" b="1" i="0" u="none" strike="noStrike" noProof="0">
                          <a:solidFill>
                            <a:srgbClr val="000000"/>
                          </a:solidFill>
                          <a:effectLst/>
                          <a:latin typeface="Poppins"/>
                          <a:cs typeface="Poppins"/>
                        </a:rPr>
                        <a:t>Cancellation Reasons</a:t>
                      </a:r>
                      <a:endParaRPr lang="en-US" sz="1600">
                        <a:latin typeface="Poppins"/>
                        <a:cs typeface="Poppins"/>
                      </a:endParaRPr>
                    </a:p>
                    <a:p>
                      <a:pPr marL="0" lvl="0" indent="0" algn="l">
                        <a:lnSpc>
                          <a:spcPct val="100000"/>
                        </a:lnSpc>
                        <a:spcBef>
                          <a:spcPts val="0"/>
                        </a:spcBef>
                        <a:spcAft>
                          <a:spcPts val="0"/>
                        </a:spcAft>
                        <a:buNone/>
                      </a:pPr>
                      <a:r>
                        <a:rPr lang="en-US" sz="1600" b="1" i="0" u="none" strike="noStrike" noProof="0">
                          <a:solidFill>
                            <a:srgbClr val="000000"/>
                          </a:solidFill>
                          <a:effectLst/>
                          <a:latin typeface="Poppins"/>
                          <a:cs typeface="Poppins"/>
                        </a:rPr>
                        <a:t>Affordability, Found better deal, change of heart</a:t>
                      </a:r>
                      <a:endParaRPr lang="en-US" b="1">
                        <a:latin typeface="Poppins"/>
                        <a:cs typeface="Poppins"/>
                      </a:endParaRPr>
                    </a:p>
                    <a:p>
                      <a:pPr marL="800100" lvl="1" indent="-342900" algn="l">
                        <a:lnSpc>
                          <a:spcPct val="100000"/>
                        </a:lnSpc>
                        <a:spcBef>
                          <a:spcPts val="0"/>
                        </a:spcBef>
                        <a:spcAft>
                          <a:spcPts val="0"/>
                        </a:spcAft>
                        <a:buFont typeface="Courier New"/>
                        <a:buChar char="o"/>
                      </a:pPr>
                      <a:r>
                        <a:rPr lang="en-US" sz="1600" b="0" i="0" u="none" strike="noStrike" noProof="0">
                          <a:solidFill>
                            <a:srgbClr val="000000"/>
                          </a:solidFill>
                          <a:effectLst/>
                          <a:latin typeface="Poppins"/>
                          <a:cs typeface="Poppins"/>
                        </a:rPr>
                        <a:t>Process scheduled cancellation</a:t>
                      </a:r>
                    </a:p>
                    <a:p>
                      <a:pPr marL="800100" lvl="1" indent="-342900" algn="l">
                        <a:lnSpc>
                          <a:spcPct val="100000"/>
                        </a:lnSpc>
                        <a:spcBef>
                          <a:spcPts val="0"/>
                        </a:spcBef>
                        <a:spcAft>
                          <a:spcPts val="0"/>
                        </a:spcAft>
                        <a:buFont typeface="Courier New"/>
                        <a:buChar char="o"/>
                      </a:pPr>
                      <a:endParaRPr lang="en-US" sz="1600" b="0" i="0" u="none" strike="noStrike" noProof="0">
                        <a:solidFill>
                          <a:srgbClr val="000000"/>
                        </a:solidFill>
                        <a:effectLst/>
                      </a:endParaRPr>
                    </a:p>
                    <a:p>
                      <a:pPr marL="800100" lvl="1" indent="-342900" algn="l">
                        <a:lnSpc>
                          <a:spcPct val="100000"/>
                        </a:lnSpc>
                        <a:spcBef>
                          <a:spcPts val="0"/>
                        </a:spcBef>
                        <a:spcAft>
                          <a:spcPts val="0"/>
                        </a:spcAft>
                        <a:buFont typeface="Courier New"/>
                        <a:buChar char="o"/>
                      </a:pPr>
                      <a:endParaRPr lang="en-US" sz="1600" b="0" i="0" u="none" strike="noStrike" noProof="0">
                        <a:solidFill>
                          <a:srgbClr val="000000"/>
                        </a:solidFill>
                        <a:effectLst/>
                      </a:endParaRPr>
                    </a:p>
                    <a:p>
                      <a:pPr marL="800100" lvl="1" indent="-342900" algn="l">
                        <a:lnSpc>
                          <a:spcPct val="100000"/>
                        </a:lnSpc>
                        <a:spcBef>
                          <a:spcPts val="0"/>
                        </a:spcBef>
                        <a:spcAft>
                          <a:spcPts val="0"/>
                        </a:spcAft>
                        <a:buFont typeface="Courier New"/>
                        <a:buChar char="o"/>
                      </a:pPr>
                      <a:endParaRPr lang="en-US" sz="1600" b="0" i="0" u="none" strike="noStrike" noProof="0">
                        <a:solidFill>
                          <a:srgbClr val="000000"/>
                        </a:solidFill>
                        <a:effectLst/>
                      </a:endParaRPr>
                    </a:p>
                    <a:p>
                      <a:pPr marL="800100" lvl="1" indent="-342900" algn="l">
                        <a:lnSpc>
                          <a:spcPct val="100000"/>
                        </a:lnSpc>
                        <a:spcBef>
                          <a:spcPts val="0"/>
                        </a:spcBef>
                        <a:spcAft>
                          <a:spcPts val="0"/>
                        </a:spcAft>
                        <a:buFont typeface="Courier New"/>
                        <a:buChar char="o"/>
                      </a:pPr>
                      <a:endParaRPr lang="en-US" sz="1600" b="0" i="0" u="none" strike="noStrike" noProof="0">
                        <a:solidFill>
                          <a:srgbClr val="000000"/>
                        </a:solidFill>
                        <a:effectLst/>
                      </a:endParaRPr>
                    </a:p>
                    <a:p>
                      <a:pPr marL="800100" lvl="1" indent="-342900" algn="l">
                        <a:lnSpc>
                          <a:spcPct val="100000"/>
                        </a:lnSpc>
                        <a:spcBef>
                          <a:spcPts val="0"/>
                        </a:spcBef>
                        <a:spcAft>
                          <a:spcPts val="0"/>
                        </a:spcAft>
                        <a:buFont typeface="Courier New"/>
                        <a:buChar char="o"/>
                      </a:pPr>
                      <a:endParaRPr lang="en-US" sz="1600" b="0" i="0" u="none" strike="noStrike" noProof="0">
                        <a:solidFill>
                          <a:srgbClr val="000000"/>
                        </a:solidFill>
                        <a:effectLst/>
                      </a:endParaRPr>
                    </a:p>
                    <a:p>
                      <a:pPr marL="800100" lvl="1" indent="-342900" algn="l">
                        <a:lnSpc>
                          <a:spcPct val="100000"/>
                        </a:lnSpc>
                        <a:spcBef>
                          <a:spcPts val="0"/>
                        </a:spcBef>
                        <a:spcAft>
                          <a:spcPts val="0"/>
                        </a:spcAft>
                        <a:buFont typeface="Courier New"/>
                        <a:buChar char="o"/>
                      </a:pPr>
                      <a:endParaRPr lang="en-US" sz="1600" b="0" i="0" u="none" strike="noStrike" noProof="0">
                        <a:solidFill>
                          <a:srgbClr val="000000"/>
                        </a:solidFill>
                        <a:effectLst/>
                      </a:endParaRPr>
                    </a:p>
                    <a:p>
                      <a:pPr marL="800100" lvl="1" indent="-342900" algn="l">
                        <a:lnSpc>
                          <a:spcPct val="100000"/>
                        </a:lnSpc>
                        <a:spcBef>
                          <a:spcPts val="0"/>
                        </a:spcBef>
                        <a:spcAft>
                          <a:spcPts val="0"/>
                        </a:spcAft>
                        <a:buFont typeface="Courier New"/>
                        <a:buChar char="o"/>
                      </a:pPr>
                      <a:endParaRPr lang="en-US" sz="1600" b="0" i="0" u="none" strike="noStrike" noProof="0">
                        <a:solidFill>
                          <a:srgbClr val="000000"/>
                        </a:solidFill>
                        <a:effectLst/>
                      </a:endParaRPr>
                    </a:p>
                    <a:p>
                      <a:pPr marL="800100" lvl="1" indent="-342900" algn="l">
                        <a:lnSpc>
                          <a:spcPct val="100000"/>
                        </a:lnSpc>
                        <a:spcBef>
                          <a:spcPts val="0"/>
                        </a:spcBef>
                        <a:spcAft>
                          <a:spcPts val="0"/>
                        </a:spcAft>
                        <a:buFont typeface="Courier New"/>
                        <a:buChar char="o"/>
                      </a:pPr>
                      <a:endParaRPr lang="en-US" sz="1600" b="0" i="0" u="none" strike="noStrike" noProof="0">
                        <a:solidFill>
                          <a:srgbClr val="000000"/>
                        </a:solidFill>
                        <a:effectLst/>
                      </a:endParaRPr>
                    </a:p>
                    <a:p>
                      <a:pPr marL="800100" lvl="1" indent="-342900" algn="l">
                        <a:lnSpc>
                          <a:spcPct val="100000"/>
                        </a:lnSpc>
                        <a:spcBef>
                          <a:spcPts val="0"/>
                        </a:spcBef>
                        <a:spcAft>
                          <a:spcPts val="0"/>
                        </a:spcAft>
                        <a:buFont typeface="Courier New"/>
                        <a:buChar char="o"/>
                      </a:pPr>
                      <a:endParaRPr lang="en-US" sz="1600" b="0" i="0" u="none" strike="noStrike" noProof="0">
                        <a:solidFill>
                          <a:srgbClr val="000000"/>
                        </a:solidFill>
                        <a:effectLst/>
                      </a:endParaRPr>
                    </a:p>
                    <a:p>
                      <a:pPr marL="0" lvl="0" indent="0" algn="l">
                        <a:lnSpc>
                          <a:spcPct val="100000"/>
                        </a:lnSpc>
                        <a:spcBef>
                          <a:spcPts val="0"/>
                        </a:spcBef>
                        <a:spcAft>
                          <a:spcPts val="0"/>
                        </a:spcAft>
                        <a:buNone/>
                      </a:pPr>
                      <a:r>
                        <a:rPr lang="en-US" sz="1600" b="1" i="0" u="none" strike="noStrike" noProof="0">
                          <a:solidFill>
                            <a:srgbClr val="000000"/>
                          </a:solidFill>
                          <a:effectLst/>
                          <a:latin typeface="Poppins"/>
                          <a:cs typeface="Poppins"/>
                        </a:rPr>
                        <a:t>Network, Coverage</a:t>
                      </a:r>
                    </a:p>
                    <a:p>
                      <a:pPr marL="800100" lvl="1" indent="-342900" algn="l">
                        <a:lnSpc>
                          <a:spcPct val="100000"/>
                        </a:lnSpc>
                        <a:spcBef>
                          <a:spcPts val="0"/>
                        </a:spcBef>
                        <a:spcAft>
                          <a:spcPts val="0"/>
                        </a:spcAft>
                        <a:buFont typeface="Courier New"/>
                        <a:buChar char="o"/>
                      </a:pPr>
                      <a:r>
                        <a:rPr lang="en-US" sz="1600" b="0" i="0" u="none" strike="noStrike" noProof="0">
                          <a:solidFill>
                            <a:srgbClr val="000000"/>
                          </a:solidFill>
                          <a:effectLst/>
                          <a:latin typeface="Poppins"/>
                          <a:cs typeface="Poppins"/>
                        </a:rPr>
                        <a:t>Run Speed Test</a:t>
                      </a:r>
                      <a:endParaRPr lang="en-US">
                        <a:latin typeface="Poppins"/>
                        <a:cs typeface="Poppins"/>
                      </a:endParaRPr>
                    </a:p>
                    <a:p>
                      <a:pPr marL="800100" lvl="1" indent="-342900" algn="l">
                        <a:lnSpc>
                          <a:spcPct val="100000"/>
                        </a:lnSpc>
                        <a:spcBef>
                          <a:spcPts val="0"/>
                        </a:spcBef>
                        <a:spcAft>
                          <a:spcPts val="0"/>
                        </a:spcAft>
                        <a:buFont typeface="Courier New"/>
                        <a:buChar char="o"/>
                      </a:pPr>
                      <a:r>
                        <a:rPr lang="en-US" sz="1600" b="0" i="0" u="none" strike="noStrike" noProof="0">
                          <a:solidFill>
                            <a:srgbClr val="000000"/>
                          </a:solidFill>
                          <a:effectLst/>
                          <a:latin typeface="Poppins"/>
                          <a:cs typeface="Poppins"/>
                        </a:rPr>
                        <a:t>Troubleshoot, including restart and hard reset</a:t>
                      </a:r>
                    </a:p>
                    <a:p>
                      <a:pPr marL="800100" lvl="1" indent="-342900" algn="l">
                        <a:lnSpc>
                          <a:spcPct val="100000"/>
                        </a:lnSpc>
                        <a:spcBef>
                          <a:spcPts val="0"/>
                        </a:spcBef>
                        <a:spcAft>
                          <a:spcPts val="0"/>
                        </a:spcAft>
                        <a:buFont typeface="Courier New"/>
                        <a:buChar char="o"/>
                      </a:pPr>
                      <a:r>
                        <a:rPr lang="en-US" sz="1600" b="0" i="0" u="none" strike="noStrike" noProof="0">
                          <a:solidFill>
                            <a:srgbClr val="000000"/>
                          </a:solidFill>
                          <a:effectLst/>
                          <a:latin typeface="Poppins"/>
                          <a:cs typeface="Poppins"/>
                        </a:rPr>
                        <a:t>Issue resolved, try to retain customer</a:t>
                      </a:r>
                    </a:p>
                    <a:p>
                      <a:pPr marL="800100" lvl="1" indent="-342900" algn="l">
                        <a:lnSpc>
                          <a:spcPct val="100000"/>
                        </a:lnSpc>
                        <a:spcBef>
                          <a:spcPts val="0"/>
                        </a:spcBef>
                        <a:spcAft>
                          <a:spcPts val="0"/>
                        </a:spcAft>
                        <a:buFont typeface="Courier New"/>
                        <a:buChar char="o"/>
                      </a:pPr>
                      <a:r>
                        <a:rPr lang="en-US" sz="1600" b="0" i="0" u="none" strike="noStrike" noProof="0">
                          <a:solidFill>
                            <a:srgbClr val="000000"/>
                          </a:solidFill>
                          <a:effectLst/>
                          <a:latin typeface="Poppins"/>
                          <a:cs typeface="Poppins"/>
                        </a:rPr>
                        <a:t>Issue persists </a:t>
                      </a:r>
                    </a:p>
                    <a:p>
                      <a:pPr marL="1257300" lvl="2" indent="-342900" algn="l">
                        <a:lnSpc>
                          <a:spcPct val="100000"/>
                        </a:lnSpc>
                        <a:spcBef>
                          <a:spcPts val="0"/>
                        </a:spcBef>
                        <a:spcAft>
                          <a:spcPts val="0"/>
                        </a:spcAft>
                        <a:buFont typeface="Wingdings"/>
                        <a:buChar char="§"/>
                      </a:pPr>
                      <a:r>
                        <a:rPr lang="en-US" sz="1600" b="0" i="0" u="none" strike="noStrike" noProof="0">
                          <a:solidFill>
                            <a:srgbClr val="000000"/>
                          </a:solidFill>
                          <a:effectLst/>
                          <a:latin typeface="Poppins"/>
                          <a:cs typeface="Poppins"/>
                        </a:rPr>
                        <a:t>Customer insists on cancellation</a:t>
                      </a:r>
                    </a:p>
                    <a:p>
                      <a:pPr marL="1714500" lvl="3" indent="-342900" algn="l">
                        <a:lnSpc>
                          <a:spcPct val="100000"/>
                        </a:lnSpc>
                        <a:spcBef>
                          <a:spcPts val="0"/>
                        </a:spcBef>
                        <a:spcAft>
                          <a:spcPts val="0"/>
                        </a:spcAft>
                        <a:buFont typeface="Arial"/>
                        <a:buChar char="•"/>
                      </a:pPr>
                      <a:r>
                        <a:rPr lang="en-US" sz="1600" b="0" i="0" u="none" strike="noStrike" noProof="0">
                          <a:solidFill>
                            <a:srgbClr val="000000"/>
                          </a:solidFill>
                          <a:effectLst/>
                          <a:latin typeface="Poppins"/>
                          <a:cs typeface="Poppins"/>
                        </a:rPr>
                        <a:t>Process scheduled cancellation</a:t>
                      </a:r>
                    </a:p>
                    <a:p>
                      <a:pPr marL="1257300" lvl="2" indent="-342900" algn="l">
                        <a:lnSpc>
                          <a:spcPct val="100000"/>
                        </a:lnSpc>
                        <a:spcBef>
                          <a:spcPts val="0"/>
                        </a:spcBef>
                        <a:spcAft>
                          <a:spcPts val="0"/>
                        </a:spcAft>
                        <a:buFont typeface="Wingdings"/>
                        <a:buChar char="§"/>
                      </a:pPr>
                      <a:r>
                        <a:rPr lang="en-US" sz="1600" b="0" i="0" u="none" strike="noStrike" noProof="0">
                          <a:solidFill>
                            <a:srgbClr val="000000"/>
                          </a:solidFill>
                          <a:effectLst/>
                          <a:latin typeface="Poppins"/>
                          <a:cs typeface="Poppins"/>
                        </a:rPr>
                        <a:t>Customer wants to troubleshoot</a:t>
                      </a:r>
                    </a:p>
                    <a:p>
                      <a:pPr marL="1714500" lvl="3" indent="-342900" algn="l">
                        <a:lnSpc>
                          <a:spcPct val="100000"/>
                        </a:lnSpc>
                        <a:spcBef>
                          <a:spcPts val="0"/>
                        </a:spcBef>
                        <a:spcAft>
                          <a:spcPts val="0"/>
                        </a:spcAft>
                        <a:buFont typeface="Arial"/>
                        <a:buChar char="•"/>
                      </a:pPr>
                      <a:r>
                        <a:rPr lang="en-US" sz="1600" b="1" i="0" u="none" strike="noStrike" noProof="0">
                          <a:solidFill>
                            <a:srgbClr val="000000"/>
                          </a:solidFill>
                          <a:effectLst/>
                          <a:latin typeface="Poppins"/>
                          <a:cs typeface="Poppins"/>
                        </a:rPr>
                        <a:t>Go to Network troubleshooting</a:t>
                      </a:r>
                    </a:p>
                  </a:txBody>
                  <a:tcPr>
                    <a:lnL>
                      <a:noFill/>
                    </a:lnL>
                    <a:lnR>
                      <a:noFill/>
                    </a:lnR>
                    <a:lnT>
                      <a:noFill/>
                    </a:lnT>
                    <a:lnB>
                      <a:noFill/>
                    </a:lnB>
                    <a:noFill/>
                  </a:tcPr>
                </a:tc>
                <a:extLst>
                  <a:ext uri="{0D108BD9-81ED-4DB2-BD59-A6C34878D82A}">
                    <a16:rowId xmlns:a16="http://schemas.microsoft.com/office/drawing/2014/main" val="3604296047"/>
                  </a:ext>
                </a:extLst>
              </a:tr>
              <a:tr h="351331">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pic>
        <p:nvPicPr>
          <p:cNvPr id="2" name="Picture 1" descr="A screenshot of a computer">
            <a:extLst>
              <a:ext uri="{FF2B5EF4-FFF2-40B4-BE49-F238E27FC236}">
                <a16:creationId xmlns:a16="http://schemas.microsoft.com/office/drawing/2014/main" id="{4DEF5516-3048-1174-23C1-F427CFF26DC7}"/>
              </a:ext>
            </a:extLst>
          </p:cNvPr>
          <p:cNvPicPr>
            <a:picLocks noChangeAspect="1"/>
          </p:cNvPicPr>
          <p:nvPr/>
        </p:nvPicPr>
        <p:blipFill>
          <a:blip r:embed="rId2"/>
          <a:stretch>
            <a:fillRect/>
          </a:stretch>
        </p:blipFill>
        <p:spPr>
          <a:xfrm>
            <a:off x="1725284" y="992332"/>
            <a:ext cx="5715000" cy="2012241"/>
          </a:xfrm>
          <a:prstGeom prst="rect">
            <a:avLst/>
          </a:prstGeom>
        </p:spPr>
      </p:pic>
    </p:spTree>
    <p:extLst>
      <p:ext uri="{BB962C8B-B14F-4D97-AF65-F5344CB8AC3E}">
        <p14:creationId xmlns:p14="http://schemas.microsoft.com/office/powerpoint/2010/main" val="2626002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C9CB5-DFF0-6486-29A1-7A1983828D70}"/>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AF6F979D-23B0-8FAE-DE99-77BC84E687CB}"/>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ea typeface="+mn-lt"/>
                <a:cs typeface="Poppins"/>
              </a:rPr>
              <a:t>Cancel</a:t>
            </a:r>
            <a:endParaRPr lang="en-GB" sz="6000" b="1">
              <a:solidFill>
                <a:srgbClr val="0070C0"/>
              </a:solidFill>
              <a:latin typeface="Poppins"/>
              <a:cs typeface="Poppins"/>
            </a:endParaRPr>
          </a:p>
          <a:p>
            <a:r>
              <a:rPr lang="en-GB" sz="2000" b="1">
                <a:solidFill>
                  <a:srgbClr val="000000"/>
                </a:solidFill>
                <a:latin typeface="Poppins"/>
                <a:ea typeface="+mn-lt"/>
                <a:cs typeface="Poppins"/>
              </a:rPr>
              <a:t>Cancellation Reasons</a:t>
            </a:r>
            <a:endParaRPr lang="en-GB" b="1">
              <a:latin typeface="Poppins"/>
              <a:cs typeface="Poppins"/>
            </a:endParaRPr>
          </a:p>
        </p:txBody>
      </p:sp>
      <p:graphicFrame>
        <p:nvGraphicFramePr>
          <p:cNvPr id="7" name="Table 6">
            <a:extLst>
              <a:ext uri="{FF2B5EF4-FFF2-40B4-BE49-F238E27FC236}">
                <a16:creationId xmlns:a16="http://schemas.microsoft.com/office/drawing/2014/main" id="{87867029-DB43-601B-889F-BF54C3E2B90E}"/>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FDAACA03-0CEA-B5B6-6EE2-63738251737E}"/>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68C19811-B884-E1AD-4E15-3A7C9A991426}"/>
              </a:ext>
            </a:extLst>
          </p:cNvPr>
          <p:cNvGraphicFramePr>
            <a:graphicFrameLocks noGrp="1"/>
          </p:cNvGraphicFramePr>
          <p:nvPr>
            <p:extLst>
              <p:ext uri="{D42A27DB-BD31-4B8C-83A1-F6EECF244321}">
                <p14:modId xmlns:p14="http://schemas.microsoft.com/office/powerpoint/2010/main" val="2615655900"/>
              </p:ext>
            </p:extLst>
          </p:nvPr>
        </p:nvGraphicFramePr>
        <p:xfrm>
          <a:off x="885572" y="970471"/>
          <a:ext cx="6913143" cy="4727005"/>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4375674">
                <a:tc>
                  <a:txBody>
                    <a:bodyPr/>
                    <a:lstStyle/>
                    <a:p>
                      <a:pPr lvl="0">
                        <a:buNone/>
                      </a:pPr>
                      <a:r>
                        <a:rPr lang="en-GB" sz="1600" b="1" i="0" u="none" strike="noStrike" noProof="0">
                          <a:solidFill>
                            <a:srgbClr val="000000"/>
                          </a:solidFill>
                          <a:effectLst/>
                          <a:latin typeface="Poppins"/>
                          <a:cs typeface="Poppins"/>
                        </a:rPr>
                        <a:t>Cancellation Reasons</a:t>
                      </a:r>
                      <a:endParaRPr lang="en-US" sz="1600">
                        <a:latin typeface="Poppins"/>
                        <a:cs typeface="Poppins"/>
                      </a:endParaRPr>
                    </a:p>
                    <a:p>
                      <a:pPr marL="0" lvl="0" indent="0" algn="l">
                        <a:lnSpc>
                          <a:spcPct val="100000"/>
                        </a:lnSpc>
                        <a:spcBef>
                          <a:spcPts val="0"/>
                        </a:spcBef>
                        <a:spcAft>
                          <a:spcPts val="0"/>
                        </a:spcAft>
                        <a:buNone/>
                      </a:pPr>
                      <a:r>
                        <a:rPr lang="en-US" sz="1600" b="1" i="0" u="none" strike="noStrike" noProof="0">
                          <a:solidFill>
                            <a:srgbClr val="000000"/>
                          </a:solidFill>
                          <a:effectLst/>
                          <a:latin typeface="Poppins"/>
                          <a:cs typeface="Poppins"/>
                        </a:rPr>
                        <a:t>Incompatibility</a:t>
                      </a:r>
                    </a:p>
                    <a:p>
                      <a:pPr marL="0" lvl="0" indent="0" algn="l">
                        <a:lnSpc>
                          <a:spcPct val="100000"/>
                        </a:lnSpc>
                        <a:spcBef>
                          <a:spcPts val="0"/>
                        </a:spcBef>
                        <a:spcAft>
                          <a:spcPts val="0"/>
                        </a:spcAft>
                        <a:buNone/>
                      </a:pPr>
                      <a:endParaRPr lang="en-US" sz="1600" b="1" i="0" u="none" strike="noStrike" noProof="0">
                        <a:solidFill>
                          <a:srgbClr val="000000"/>
                        </a:solidFill>
                        <a:effectLst/>
                        <a:latin typeface="Poppins"/>
                        <a:cs typeface="Poppins"/>
                      </a:endParaRPr>
                    </a:p>
                    <a:p>
                      <a:pPr marL="800100" lvl="1" indent="-342900" algn="l">
                        <a:lnSpc>
                          <a:spcPct val="100000"/>
                        </a:lnSpc>
                        <a:spcBef>
                          <a:spcPts val="0"/>
                        </a:spcBef>
                        <a:spcAft>
                          <a:spcPts val="0"/>
                        </a:spcAft>
                        <a:buFont typeface="Courier New"/>
                        <a:buChar char="o"/>
                      </a:pPr>
                      <a:r>
                        <a:rPr lang="en-US" sz="1600" b="0" i="0" u="none" strike="noStrike" noProof="0">
                          <a:solidFill>
                            <a:srgbClr val="000000"/>
                          </a:solidFill>
                          <a:effectLst/>
                          <a:latin typeface="Poppins"/>
                          <a:cs typeface="Poppins"/>
                        </a:rPr>
                        <a:t>Check the mobile phone make and model and check for compatibility</a:t>
                      </a:r>
                      <a:endParaRPr lang="en-US" sz="1600" b="1" i="0" u="none" strike="noStrike" noProof="0">
                        <a:solidFill>
                          <a:srgbClr val="000000"/>
                        </a:solidFill>
                        <a:effectLst/>
                        <a:latin typeface="Poppins"/>
                        <a:cs typeface="Poppins"/>
                      </a:endParaRPr>
                    </a:p>
                    <a:p>
                      <a:pPr marL="1257300" lvl="2" indent="-342900" algn="l">
                        <a:lnSpc>
                          <a:spcPct val="100000"/>
                        </a:lnSpc>
                        <a:spcBef>
                          <a:spcPts val="0"/>
                        </a:spcBef>
                        <a:spcAft>
                          <a:spcPts val="0"/>
                        </a:spcAft>
                        <a:buFont typeface="Wingdings"/>
                        <a:buChar char="§"/>
                      </a:pPr>
                      <a:r>
                        <a:rPr lang="en-US" sz="1600" b="0" i="0" u="none" strike="noStrike" noProof="0">
                          <a:solidFill>
                            <a:srgbClr val="000000"/>
                          </a:solidFill>
                          <a:effectLst/>
                          <a:latin typeface="Poppins"/>
                          <a:cs typeface="Poppins"/>
                        </a:rPr>
                        <a:t>Compatible </a:t>
                      </a:r>
                      <a:endParaRPr lang="en-US">
                        <a:latin typeface="Poppins"/>
                        <a:cs typeface="Poppins"/>
                      </a:endParaRPr>
                    </a:p>
                    <a:p>
                      <a:pPr marL="1714500" lvl="3" indent="-342900" algn="l">
                        <a:lnSpc>
                          <a:spcPct val="100000"/>
                        </a:lnSpc>
                        <a:spcBef>
                          <a:spcPts val="0"/>
                        </a:spcBef>
                        <a:spcAft>
                          <a:spcPts val="0"/>
                        </a:spcAft>
                        <a:buFont typeface="Arial"/>
                        <a:buChar char="•"/>
                      </a:pPr>
                      <a:r>
                        <a:rPr lang="en-US" sz="1600" b="0" i="0" u="none" strike="noStrike" noProof="0">
                          <a:solidFill>
                            <a:srgbClr val="000000"/>
                          </a:solidFill>
                          <a:effectLst/>
                          <a:latin typeface="Poppins"/>
                          <a:cs typeface="Poppins"/>
                        </a:rPr>
                        <a:t>Check the activation Status</a:t>
                      </a:r>
                      <a:endParaRPr lang="en-US">
                        <a:latin typeface="Poppins"/>
                        <a:cs typeface="Poppins"/>
                      </a:endParaRPr>
                    </a:p>
                    <a:p>
                      <a:pPr marL="1714500" lvl="3" indent="-342900" algn="l">
                        <a:lnSpc>
                          <a:spcPct val="100000"/>
                        </a:lnSpc>
                        <a:spcBef>
                          <a:spcPts val="0"/>
                        </a:spcBef>
                        <a:spcAft>
                          <a:spcPts val="0"/>
                        </a:spcAft>
                        <a:buFont typeface="Arial"/>
                        <a:buChar char="•"/>
                      </a:pPr>
                      <a:r>
                        <a:rPr lang="en-US" sz="1600" b="0" i="0" u="none" strike="noStrike" noProof="0">
                          <a:solidFill>
                            <a:srgbClr val="000000"/>
                          </a:solidFill>
                          <a:effectLst/>
                          <a:latin typeface="Poppins"/>
                          <a:cs typeface="Poppins"/>
                        </a:rPr>
                        <a:t>Follow Activation procedure</a:t>
                      </a:r>
                    </a:p>
                    <a:p>
                      <a:pPr marL="1257300" lvl="2" indent="-342900" algn="l">
                        <a:lnSpc>
                          <a:spcPct val="100000"/>
                        </a:lnSpc>
                        <a:spcBef>
                          <a:spcPts val="0"/>
                        </a:spcBef>
                        <a:spcAft>
                          <a:spcPts val="0"/>
                        </a:spcAft>
                        <a:buFont typeface="Wingdings"/>
                        <a:buChar char="§"/>
                      </a:pPr>
                      <a:r>
                        <a:rPr lang="en-US" sz="1600" b="0" i="0" u="none" strike="noStrike" noProof="0">
                          <a:solidFill>
                            <a:srgbClr val="000000"/>
                          </a:solidFill>
                          <a:effectLst/>
                          <a:latin typeface="Poppins"/>
                          <a:cs typeface="Poppins"/>
                        </a:rPr>
                        <a:t>Incompatible</a:t>
                      </a:r>
                    </a:p>
                    <a:p>
                      <a:pPr marL="1714500" lvl="3" indent="-342900" algn="l">
                        <a:lnSpc>
                          <a:spcPct val="100000"/>
                        </a:lnSpc>
                        <a:spcBef>
                          <a:spcPts val="0"/>
                        </a:spcBef>
                        <a:spcAft>
                          <a:spcPts val="0"/>
                        </a:spcAft>
                        <a:buFont typeface="Arial"/>
                        <a:buChar char="•"/>
                      </a:pPr>
                      <a:r>
                        <a:rPr lang="en-US" sz="1600" b="0" i="0" u="none" strike="noStrike" noProof="0">
                          <a:solidFill>
                            <a:srgbClr val="000000"/>
                          </a:solidFill>
                          <a:effectLst/>
                          <a:latin typeface="Poppins"/>
                          <a:cs typeface="Poppins"/>
                        </a:rPr>
                        <a:t>Try to retain customer by asking to install the app on other phone</a:t>
                      </a:r>
                    </a:p>
                    <a:p>
                      <a:pPr marL="1714500" lvl="3" indent="-342900" algn="l">
                        <a:lnSpc>
                          <a:spcPct val="100000"/>
                        </a:lnSpc>
                        <a:spcBef>
                          <a:spcPts val="0"/>
                        </a:spcBef>
                        <a:spcAft>
                          <a:spcPts val="0"/>
                        </a:spcAft>
                        <a:buFont typeface="Arial"/>
                        <a:buChar char="•"/>
                      </a:pPr>
                      <a:r>
                        <a:rPr lang="en-US" sz="1600" b="0" i="0" u="none" strike="noStrike" noProof="0">
                          <a:solidFill>
                            <a:srgbClr val="000000"/>
                          </a:solidFill>
                          <a:effectLst/>
                          <a:latin typeface="Poppins"/>
                          <a:cs typeface="Poppins"/>
                        </a:rPr>
                        <a:t>Retain, ok</a:t>
                      </a:r>
                    </a:p>
                    <a:p>
                      <a:pPr marL="1714500" lvl="3" indent="-342900" algn="l">
                        <a:lnSpc>
                          <a:spcPct val="100000"/>
                        </a:lnSpc>
                        <a:spcBef>
                          <a:spcPts val="0"/>
                        </a:spcBef>
                        <a:spcAft>
                          <a:spcPts val="0"/>
                        </a:spcAft>
                        <a:buFont typeface="Arial"/>
                        <a:buChar char="•"/>
                      </a:pPr>
                      <a:r>
                        <a:rPr lang="en-US" sz="1600" b="0" i="0" u="none" strike="noStrike" noProof="0">
                          <a:solidFill>
                            <a:srgbClr val="000000"/>
                          </a:solidFill>
                          <a:effectLst/>
                          <a:latin typeface="Poppins"/>
                          <a:cs typeface="Poppins"/>
                        </a:rPr>
                        <a:t>Customer declined, process scheduled cancellation</a:t>
                      </a:r>
                    </a:p>
                  </a:txBody>
                  <a:tcPr>
                    <a:lnL>
                      <a:noFill/>
                    </a:lnL>
                    <a:lnR>
                      <a:noFill/>
                    </a:lnR>
                    <a:lnT>
                      <a:noFill/>
                    </a:lnT>
                    <a:lnB>
                      <a:noFill/>
                    </a:lnB>
                    <a:noFill/>
                  </a:tcPr>
                </a:tc>
                <a:extLst>
                  <a:ext uri="{0D108BD9-81ED-4DB2-BD59-A6C34878D82A}">
                    <a16:rowId xmlns:a16="http://schemas.microsoft.com/office/drawing/2014/main" val="3604296047"/>
                  </a:ext>
                </a:extLst>
              </a:tr>
              <a:tr h="351331">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spTree>
    <p:extLst>
      <p:ext uri="{BB962C8B-B14F-4D97-AF65-F5344CB8AC3E}">
        <p14:creationId xmlns:p14="http://schemas.microsoft.com/office/powerpoint/2010/main" val="25715697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FF3EB-B17C-55FE-64D5-EDA9D41AFDCF}"/>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C2BCD0EE-93CD-6470-E6D3-152FB530D69B}"/>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ea typeface="+mn-lt"/>
                <a:cs typeface="Poppins"/>
              </a:rPr>
              <a:t>Cancel</a:t>
            </a:r>
            <a:endParaRPr lang="en-GB" sz="6000" b="1">
              <a:solidFill>
                <a:srgbClr val="0070C0"/>
              </a:solidFill>
              <a:latin typeface="Poppins"/>
              <a:cs typeface="Poppins"/>
            </a:endParaRPr>
          </a:p>
          <a:p>
            <a:r>
              <a:rPr lang="en-GB" sz="2000" b="1">
                <a:solidFill>
                  <a:srgbClr val="000000"/>
                </a:solidFill>
                <a:latin typeface="Poppins"/>
                <a:ea typeface="+mn-lt"/>
                <a:cs typeface="Poppins"/>
              </a:rPr>
              <a:t>Cancellation Reasons</a:t>
            </a:r>
            <a:endParaRPr lang="en-GB" b="1">
              <a:latin typeface="Poppins"/>
              <a:cs typeface="Poppins"/>
            </a:endParaRPr>
          </a:p>
        </p:txBody>
      </p:sp>
      <p:graphicFrame>
        <p:nvGraphicFramePr>
          <p:cNvPr id="7" name="Table 6">
            <a:extLst>
              <a:ext uri="{FF2B5EF4-FFF2-40B4-BE49-F238E27FC236}">
                <a16:creationId xmlns:a16="http://schemas.microsoft.com/office/drawing/2014/main" id="{A84E3C40-F68A-0C1E-A53E-EEF7FED3D48B}"/>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9783B2E2-EECA-8093-5311-0515F039077C}"/>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AB2D8659-3525-1219-EC22-026424C448BA}"/>
              </a:ext>
            </a:extLst>
          </p:cNvPr>
          <p:cNvGraphicFramePr>
            <a:graphicFrameLocks noGrp="1"/>
          </p:cNvGraphicFramePr>
          <p:nvPr>
            <p:extLst>
              <p:ext uri="{D42A27DB-BD31-4B8C-83A1-F6EECF244321}">
                <p14:modId xmlns:p14="http://schemas.microsoft.com/office/powerpoint/2010/main" val="3649567602"/>
              </p:ext>
            </p:extLst>
          </p:nvPr>
        </p:nvGraphicFramePr>
        <p:xfrm>
          <a:off x="692661" y="2050775"/>
          <a:ext cx="6913143" cy="4727005"/>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4375674">
                <a:tc>
                  <a:txBody>
                    <a:bodyPr/>
                    <a:lstStyle/>
                    <a:p>
                      <a:pPr lvl="0">
                        <a:buNone/>
                      </a:pPr>
                      <a:r>
                        <a:rPr lang="en-GB" sz="1600" b="1" i="0" u="none" strike="noStrike" noProof="0">
                          <a:solidFill>
                            <a:srgbClr val="000000"/>
                          </a:solidFill>
                          <a:effectLst/>
                          <a:latin typeface="Poppins"/>
                          <a:cs typeface="Poppins"/>
                        </a:rPr>
                        <a:t>Cancellation Reasons</a:t>
                      </a:r>
                      <a:endParaRPr lang="en-US" sz="1600">
                        <a:latin typeface="Poppins"/>
                        <a:cs typeface="Poppins"/>
                      </a:endParaRPr>
                    </a:p>
                    <a:p>
                      <a:pPr marL="0" lvl="0" indent="0" algn="l">
                        <a:lnSpc>
                          <a:spcPct val="100000"/>
                        </a:lnSpc>
                        <a:spcBef>
                          <a:spcPts val="0"/>
                        </a:spcBef>
                        <a:spcAft>
                          <a:spcPts val="0"/>
                        </a:spcAft>
                        <a:buNone/>
                      </a:pPr>
                      <a:r>
                        <a:rPr lang="en-US" sz="1600" b="1" i="0" u="none" strike="noStrike" noProof="0">
                          <a:solidFill>
                            <a:srgbClr val="000000"/>
                          </a:solidFill>
                          <a:effectLst/>
                          <a:latin typeface="Poppins"/>
                          <a:cs typeface="Poppins"/>
                        </a:rPr>
                        <a:t>No reason stated</a:t>
                      </a:r>
                      <a:endParaRPr lang="en-US">
                        <a:latin typeface="Poppins"/>
                        <a:cs typeface="Poppins"/>
                      </a:endParaRPr>
                    </a:p>
                    <a:p>
                      <a:pPr marL="800100" lvl="1" indent="-342900" algn="l">
                        <a:lnSpc>
                          <a:spcPct val="100000"/>
                        </a:lnSpc>
                        <a:spcBef>
                          <a:spcPts val="0"/>
                        </a:spcBef>
                        <a:spcAft>
                          <a:spcPts val="0"/>
                        </a:spcAft>
                        <a:buFont typeface="Courier New"/>
                        <a:buChar char="o"/>
                      </a:pPr>
                      <a:r>
                        <a:rPr lang="en-US" sz="1600" b="0" i="0" u="none" strike="noStrike" noProof="0">
                          <a:solidFill>
                            <a:srgbClr val="000000"/>
                          </a:solidFill>
                          <a:effectLst/>
                          <a:latin typeface="Poppins"/>
                          <a:cs typeface="Poppins"/>
                        </a:rPr>
                        <a:t>Call the customer and ask for the reason for cancellation</a:t>
                      </a:r>
                    </a:p>
                    <a:p>
                      <a:pPr marL="1257300" lvl="2" indent="-342900" algn="l">
                        <a:lnSpc>
                          <a:spcPct val="100000"/>
                        </a:lnSpc>
                        <a:spcBef>
                          <a:spcPts val="0"/>
                        </a:spcBef>
                        <a:spcAft>
                          <a:spcPts val="0"/>
                        </a:spcAft>
                        <a:buFont typeface="Wingdings"/>
                        <a:buChar char="§"/>
                      </a:pPr>
                      <a:r>
                        <a:rPr lang="en-US" sz="1600" b="0" i="0" u="none" strike="noStrike" noProof="0">
                          <a:solidFill>
                            <a:srgbClr val="000000"/>
                          </a:solidFill>
                          <a:effectLst/>
                          <a:latin typeface="Poppins"/>
                          <a:cs typeface="Poppins"/>
                        </a:rPr>
                        <a:t>Refer to the above cancellation reasons</a:t>
                      </a:r>
                    </a:p>
                    <a:p>
                      <a:pPr marL="914400" lvl="2" indent="0" algn="l">
                        <a:lnSpc>
                          <a:spcPct val="100000"/>
                        </a:lnSpc>
                        <a:spcBef>
                          <a:spcPts val="0"/>
                        </a:spcBef>
                        <a:spcAft>
                          <a:spcPts val="0"/>
                        </a:spcAft>
                        <a:buNone/>
                      </a:pPr>
                      <a:endParaRPr lang="en-US" sz="1600" b="0" i="0" u="none" strike="noStrike" noProof="0">
                        <a:solidFill>
                          <a:srgbClr val="000000"/>
                        </a:solidFill>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r h="351331">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spTree>
    <p:extLst>
      <p:ext uri="{BB962C8B-B14F-4D97-AF65-F5344CB8AC3E}">
        <p14:creationId xmlns:p14="http://schemas.microsoft.com/office/powerpoint/2010/main" val="38962946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3A463-8547-CD4E-E851-90CCEBDC4D5A}"/>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39368C87-25F7-524B-7FC0-756303A68278}"/>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ea typeface="+mn-lt"/>
                <a:cs typeface="Poppins"/>
              </a:rPr>
              <a:t>Account</a:t>
            </a:r>
            <a:endParaRPr lang="en-US"/>
          </a:p>
          <a:p>
            <a:r>
              <a:rPr lang="en-GB" sz="2000" b="1">
                <a:solidFill>
                  <a:srgbClr val="000000"/>
                </a:solidFill>
                <a:latin typeface="Poppins"/>
                <a:ea typeface="+mn-lt"/>
                <a:cs typeface="Poppins"/>
              </a:rPr>
              <a:t>Password Reset</a:t>
            </a:r>
            <a:endParaRPr lang="en-GB"/>
          </a:p>
        </p:txBody>
      </p:sp>
      <p:graphicFrame>
        <p:nvGraphicFramePr>
          <p:cNvPr id="7" name="Table 6">
            <a:extLst>
              <a:ext uri="{FF2B5EF4-FFF2-40B4-BE49-F238E27FC236}">
                <a16:creationId xmlns:a16="http://schemas.microsoft.com/office/drawing/2014/main" id="{BF34B5F3-7771-338D-A573-033754DDDA76}"/>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E276C04D-295B-F61E-DAE9-0FFEF49CFED4}"/>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5E8A1E94-C854-9DD9-F913-EF71AC55951E}"/>
              </a:ext>
            </a:extLst>
          </p:cNvPr>
          <p:cNvGraphicFramePr>
            <a:graphicFrameLocks noGrp="1"/>
          </p:cNvGraphicFramePr>
          <p:nvPr>
            <p:extLst>
              <p:ext uri="{D42A27DB-BD31-4B8C-83A1-F6EECF244321}">
                <p14:modId xmlns:p14="http://schemas.microsoft.com/office/powerpoint/2010/main" val="9702553"/>
              </p:ext>
            </p:extLst>
          </p:nvPr>
        </p:nvGraphicFramePr>
        <p:xfrm>
          <a:off x="1049547" y="208471"/>
          <a:ext cx="6913143" cy="6447331"/>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4375674">
                <a:tc>
                  <a:txBody>
                    <a:bodyPr/>
                    <a:lstStyle/>
                    <a:p>
                      <a:pPr lvl="0">
                        <a:buNone/>
                      </a:pPr>
                      <a:r>
                        <a:rPr lang="en-US" sz="1600" b="1" i="0" u="none" strike="noStrike" noProof="0">
                          <a:solidFill>
                            <a:srgbClr val="000000"/>
                          </a:solidFill>
                          <a:effectLst/>
                          <a:latin typeface="Poppins"/>
                          <a:cs typeface="Poppins"/>
                        </a:rPr>
                        <a:t>Things we check </a:t>
                      </a:r>
                      <a:endParaRPr lang="en-US" sz="1600" b="0" i="0" u="none" strike="noStrike" noProof="0">
                        <a:solidFill>
                          <a:srgbClr val="000000"/>
                        </a:solidFill>
                        <a:effectLst/>
                        <a:latin typeface="Poppins"/>
                        <a:cs typeface="Poppins"/>
                      </a:endParaRPr>
                    </a:p>
                    <a:p>
                      <a:pPr lvl="0" algn="l">
                        <a:lnSpc>
                          <a:spcPct val="100000"/>
                        </a:lnSpc>
                        <a:spcBef>
                          <a:spcPts val="0"/>
                        </a:spcBef>
                        <a:spcAft>
                          <a:spcPts val="0"/>
                        </a:spcAft>
                        <a:buNone/>
                      </a:pPr>
                      <a:r>
                        <a:rPr lang="en-US" sz="1000" b="0" i="1" u="none" strike="noStrike" noProof="0">
                          <a:solidFill>
                            <a:srgbClr val="000000"/>
                          </a:solidFill>
                          <a:effectLst/>
                          <a:latin typeface="Poppins"/>
                          <a:cs typeface="Poppins"/>
                        </a:rPr>
                        <a:t>ask the customer, check in the station, etc.</a:t>
                      </a:r>
                      <a:endParaRPr lang="en-US" sz="10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 Verify if the customer is the account owner.</a:t>
                      </a:r>
                    </a:p>
                    <a:p>
                      <a:pPr marL="800100" lvl="1" indent="-342900" algn="l">
                        <a:lnSpc>
                          <a:spcPct val="100000"/>
                        </a:lnSpc>
                        <a:spcBef>
                          <a:spcPts val="0"/>
                        </a:spcBef>
                        <a:spcAft>
                          <a:spcPts val="0"/>
                        </a:spcAft>
                        <a:buFont typeface="Courier New"/>
                        <a:buChar char="o"/>
                      </a:pPr>
                      <a:r>
                        <a:rPr lang="en-US" sz="1600" b="0" i="0" u="none" strike="noStrike" noProof="0">
                          <a:solidFill>
                            <a:srgbClr val="000000"/>
                          </a:solidFill>
                          <a:effectLst/>
                          <a:latin typeface="Poppins"/>
                          <a:cs typeface="Poppins"/>
                        </a:rPr>
                        <a:t>Account holder / customer verified account – proceed to next step</a:t>
                      </a:r>
                    </a:p>
                    <a:p>
                      <a:pPr marL="800100" lvl="1" indent="-342900" algn="l">
                        <a:lnSpc>
                          <a:spcPct val="100000"/>
                        </a:lnSpc>
                        <a:spcBef>
                          <a:spcPts val="0"/>
                        </a:spcBef>
                        <a:spcAft>
                          <a:spcPts val="0"/>
                        </a:spcAft>
                        <a:buFont typeface="Courier New"/>
                        <a:buChar char="o"/>
                      </a:pPr>
                      <a:r>
                        <a:rPr lang="en-US" sz="1600" b="0" i="0" u="none" strike="noStrike" noProof="0">
                          <a:solidFill>
                            <a:srgbClr val="000000"/>
                          </a:solidFill>
                          <a:effectLst/>
                          <a:latin typeface="Poppins"/>
                          <a:cs typeface="Poppins"/>
                        </a:rPr>
                        <a:t>Another person / cannot verify account – let the account holder contact us</a:t>
                      </a: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Confirm the email address added.</a:t>
                      </a:r>
                      <a:endParaRPr lang="en-US">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Verify email if created manually or using Google or Apple"</a:t>
                      </a:r>
                      <a:endParaRPr lang="en-US">
                        <a:latin typeface="Poppins"/>
                        <a:cs typeface="Poppins"/>
                      </a:endParaRPr>
                    </a:p>
                    <a:p>
                      <a:pPr marL="0" lvl="0" indent="0" algn="l">
                        <a:lnSpc>
                          <a:spcPct val="100000"/>
                        </a:lnSpc>
                        <a:spcBef>
                          <a:spcPts val="0"/>
                        </a:spcBef>
                        <a:spcAft>
                          <a:spcPts val="0"/>
                        </a:spcAft>
                        <a:buNone/>
                      </a:pPr>
                      <a:endParaRPr lang="en-US" sz="1600" b="0"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r>
                        <a:rPr lang="en-US" sz="1600" b="1" i="0" u="none" strike="noStrike" noProof="0">
                          <a:solidFill>
                            <a:srgbClr val="000000"/>
                          </a:solidFill>
                          <a:effectLst/>
                          <a:latin typeface="Poppins"/>
                          <a:cs typeface="Poppins"/>
                        </a:rPr>
                        <a:t>What to do next:</a:t>
                      </a: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Advise the customer to change it via the </a:t>
                      </a:r>
                      <a:r>
                        <a:rPr lang="en-US" sz="1600" b="0" i="0" u="none" strike="noStrike" noProof="0" err="1">
                          <a:solidFill>
                            <a:srgbClr val="000000"/>
                          </a:solidFill>
                          <a:effectLst/>
                          <a:latin typeface="Poppins"/>
                          <a:cs typeface="Poppins"/>
                        </a:rPr>
                        <a:t>LoopDL</a:t>
                      </a:r>
                      <a:r>
                        <a:rPr lang="en-US" sz="1600" b="0" i="0" u="none" strike="noStrike" noProof="0">
                          <a:solidFill>
                            <a:srgbClr val="000000"/>
                          </a:solidFill>
                          <a:effectLst/>
                          <a:latin typeface="Poppins"/>
                          <a:cs typeface="Poppins"/>
                        </a:rPr>
                        <a:t> app or website, then click “Forgot Password.”  on the login page</a:t>
                      </a:r>
                      <a:endParaRPr lang="en-US">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If it's not working on the customer's end and email was created manually, do the following steps:</a:t>
                      </a:r>
                      <a:endParaRPr lang="en-US">
                        <a:latin typeface="Poppins"/>
                        <a:cs typeface="Poppins"/>
                      </a:endParaRPr>
                    </a:p>
                    <a:p>
                      <a:pPr marL="800100" lvl="1" indent="-342900" algn="l">
                        <a:lnSpc>
                          <a:spcPct val="100000"/>
                        </a:lnSpc>
                        <a:spcBef>
                          <a:spcPts val="0"/>
                        </a:spcBef>
                        <a:spcAft>
                          <a:spcPts val="0"/>
                        </a:spcAft>
                        <a:buFont typeface="Courier New"/>
                        <a:buChar char="o"/>
                      </a:pPr>
                      <a:r>
                        <a:rPr lang="en-US" sz="1600" b="0" i="0" u="none" strike="noStrike" noProof="0">
                          <a:solidFill>
                            <a:srgbClr val="000000"/>
                          </a:solidFill>
                          <a:effectLst/>
                          <a:latin typeface="Poppins"/>
                          <a:cs typeface="Poppins"/>
                        </a:rPr>
                        <a:t>On the station under account tab, click account actions and choose reset password and click the send button</a:t>
                      </a:r>
                    </a:p>
                    <a:p>
                      <a:pPr marL="800100" lvl="1" indent="-342900" algn="l">
                        <a:lnSpc>
                          <a:spcPct val="100000"/>
                        </a:lnSpc>
                        <a:spcBef>
                          <a:spcPts val="0"/>
                        </a:spcBef>
                        <a:spcAft>
                          <a:spcPts val="0"/>
                        </a:spcAft>
                        <a:buFont typeface="Courier New"/>
                        <a:buChar char="o"/>
                      </a:pPr>
                      <a:r>
                        <a:rPr lang="en-US" sz="1600" b="0" i="0" u="none" strike="noStrike" noProof="0">
                          <a:solidFill>
                            <a:srgbClr val="000000"/>
                          </a:solidFill>
                          <a:effectLst/>
                          <a:latin typeface="Poppins"/>
                          <a:cs typeface="Poppins"/>
                        </a:rPr>
                        <a:t>Ask customer to check their email for the 4 digit code</a:t>
                      </a:r>
                      <a:endParaRPr lang="en-US">
                        <a:latin typeface="Poppins"/>
                        <a:cs typeface="Poppins"/>
                      </a:endParaRPr>
                    </a:p>
                    <a:p>
                      <a:pPr marL="800100" lvl="1" indent="-342900" algn="l">
                        <a:lnSpc>
                          <a:spcPct val="100000"/>
                        </a:lnSpc>
                        <a:spcBef>
                          <a:spcPts val="0"/>
                        </a:spcBef>
                        <a:spcAft>
                          <a:spcPts val="0"/>
                        </a:spcAft>
                        <a:buFont typeface="Courier New"/>
                        <a:buChar char="o"/>
                      </a:pPr>
                      <a:r>
                        <a:rPr lang="en-US" sz="1600" b="0" i="0" u="none" strike="noStrike" noProof="0">
                          <a:solidFill>
                            <a:srgbClr val="000000"/>
                          </a:solidFill>
                          <a:effectLst/>
                          <a:latin typeface="Poppins"/>
                          <a:cs typeface="Poppins"/>
                        </a:rPr>
                        <a:t>Click the link to go to the </a:t>
                      </a:r>
                      <a:r>
                        <a:rPr lang="en-US" sz="1600" b="0" i="0" u="none" strike="noStrike" noProof="0" err="1">
                          <a:solidFill>
                            <a:srgbClr val="000000"/>
                          </a:solidFill>
                          <a:effectLst/>
                          <a:latin typeface="Poppins"/>
                          <a:cs typeface="Poppins"/>
                        </a:rPr>
                        <a:t>LoopDL</a:t>
                      </a:r>
                      <a:r>
                        <a:rPr lang="en-US" sz="1600" b="0" i="0" u="none" strike="noStrike" noProof="0">
                          <a:solidFill>
                            <a:srgbClr val="000000"/>
                          </a:solidFill>
                          <a:effectLst/>
                          <a:latin typeface="Poppins"/>
                          <a:cs typeface="Poppins"/>
                        </a:rPr>
                        <a:t> website and click sign in</a:t>
                      </a:r>
                      <a:endParaRPr lang="en-US">
                        <a:latin typeface="Poppins"/>
                        <a:cs typeface="Poppins"/>
                      </a:endParaRPr>
                    </a:p>
                    <a:p>
                      <a:pPr marL="800100" lvl="1" indent="-342900" algn="l">
                        <a:lnSpc>
                          <a:spcPct val="100000"/>
                        </a:lnSpc>
                        <a:spcBef>
                          <a:spcPts val="0"/>
                        </a:spcBef>
                        <a:spcAft>
                          <a:spcPts val="0"/>
                        </a:spcAft>
                        <a:buFont typeface="Courier New"/>
                        <a:buChar char="o"/>
                      </a:pPr>
                      <a:r>
                        <a:rPr lang="en-US" sz="1600" b="0" i="0" u="none" strike="noStrike" noProof="0">
                          <a:solidFill>
                            <a:srgbClr val="000000"/>
                          </a:solidFill>
                          <a:effectLst/>
                          <a:latin typeface="Poppins"/>
                          <a:cs typeface="Poppins"/>
                        </a:rPr>
                        <a:t>Click forgot password</a:t>
                      </a:r>
                      <a:endParaRPr lang="en-US">
                        <a:latin typeface="Poppins"/>
                        <a:cs typeface="Poppins"/>
                      </a:endParaRPr>
                    </a:p>
                    <a:p>
                      <a:pPr marL="800100" lvl="1" indent="-342900" algn="l">
                        <a:lnSpc>
                          <a:spcPct val="100000"/>
                        </a:lnSpc>
                        <a:spcBef>
                          <a:spcPts val="0"/>
                        </a:spcBef>
                        <a:spcAft>
                          <a:spcPts val="0"/>
                        </a:spcAft>
                        <a:buFont typeface="Courier New"/>
                        <a:buChar char="o"/>
                      </a:pPr>
                      <a:r>
                        <a:rPr lang="en-US" sz="1600" b="0" i="0" u="none" strike="noStrike" noProof="0">
                          <a:solidFill>
                            <a:srgbClr val="000000"/>
                          </a:solidFill>
                          <a:effectLst/>
                          <a:latin typeface="Poppins"/>
                          <a:cs typeface="Poppins"/>
                        </a:rPr>
                        <a:t>Type in the 4 digit code together with the new password and confirm password then hit continue.</a:t>
                      </a:r>
                      <a:endParaRPr lang="en-US">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If using Google or Apple, advise to follow password reset guidance such as using passkey, etc.</a:t>
                      </a:r>
                      <a:endParaRPr lang="en-US">
                        <a:latin typeface="Poppins"/>
                        <a:cs typeface="Poppins"/>
                      </a:endParaRPr>
                    </a:p>
                    <a:p>
                      <a:pPr lvl="0">
                        <a:buNone/>
                      </a:pPr>
                      <a:endParaRPr lang="en-GB" sz="1600" b="1" i="0" u="none" strike="noStrike" noProof="0">
                        <a:solidFill>
                          <a:srgbClr val="000000"/>
                        </a:solidFill>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r h="351331">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spTree>
    <p:extLst>
      <p:ext uri="{BB962C8B-B14F-4D97-AF65-F5344CB8AC3E}">
        <p14:creationId xmlns:p14="http://schemas.microsoft.com/office/powerpoint/2010/main" val="35958121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6E0DE-1C60-F11F-732E-3D5833E54D6C}"/>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A783527C-97A9-3AF5-B5B6-F992C7F38FD1}"/>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ea typeface="+mn-lt"/>
                <a:cs typeface="Poppins"/>
              </a:rPr>
              <a:t>Account</a:t>
            </a:r>
            <a:endParaRPr lang="en-US"/>
          </a:p>
          <a:p>
            <a:r>
              <a:rPr lang="en-GB" sz="2000" b="1">
                <a:solidFill>
                  <a:srgbClr val="000000"/>
                </a:solidFill>
                <a:latin typeface="Poppins"/>
                <a:ea typeface="+mn-lt"/>
                <a:cs typeface="Poppins"/>
              </a:rPr>
              <a:t>Password Reset</a:t>
            </a:r>
            <a:endParaRPr lang="en-GB"/>
          </a:p>
        </p:txBody>
      </p:sp>
      <p:graphicFrame>
        <p:nvGraphicFramePr>
          <p:cNvPr id="7" name="Table 6">
            <a:extLst>
              <a:ext uri="{FF2B5EF4-FFF2-40B4-BE49-F238E27FC236}">
                <a16:creationId xmlns:a16="http://schemas.microsoft.com/office/drawing/2014/main" id="{ECDC7AFE-25C5-E4C4-19FC-8FEA24F09F8F}"/>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E7CCA77F-8BE4-DCB0-F92A-581F0E145B74}"/>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E751B779-E818-902F-5EEF-AC5EAF09E5AE}"/>
              </a:ext>
            </a:extLst>
          </p:cNvPr>
          <p:cNvGraphicFramePr>
            <a:graphicFrameLocks noGrp="1"/>
          </p:cNvGraphicFramePr>
          <p:nvPr>
            <p:extLst>
              <p:ext uri="{D42A27DB-BD31-4B8C-83A1-F6EECF244321}">
                <p14:modId xmlns:p14="http://schemas.microsoft.com/office/powerpoint/2010/main" val="1889314901"/>
              </p:ext>
            </p:extLst>
          </p:nvPr>
        </p:nvGraphicFramePr>
        <p:xfrm>
          <a:off x="1049547" y="208471"/>
          <a:ext cx="6913143" cy="4727005"/>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4375674">
                <a:tc>
                  <a:txBody>
                    <a:bodyPr/>
                    <a:lstStyle/>
                    <a:p>
                      <a:pPr lvl="0">
                        <a:buNone/>
                      </a:pPr>
                      <a:r>
                        <a:rPr lang="en-US" sz="1600" b="1" i="0" u="none" strike="noStrike" noProof="0">
                          <a:solidFill>
                            <a:srgbClr val="000000"/>
                          </a:solidFill>
                          <a:effectLst/>
                          <a:latin typeface="Poppins"/>
                          <a:cs typeface="Poppins"/>
                        </a:rPr>
                        <a:t>Password reset guide on the </a:t>
                      </a:r>
                      <a:r>
                        <a:rPr lang="en-US" sz="1600" b="1" i="0" u="none" strike="noStrike" noProof="0" err="1">
                          <a:solidFill>
                            <a:srgbClr val="000000"/>
                          </a:solidFill>
                          <a:effectLst/>
                          <a:latin typeface="Poppins"/>
                          <a:cs typeface="Poppins"/>
                        </a:rPr>
                        <a:t>LoopDL</a:t>
                      </a:r>
                      <a:r>
                        <a:rPr lang="en-US" sz="1600" b="1" i="0" u="none" strike="noStrike" noProof="0">
                          <a:solidFill>
                            <a:srgbClr val="000000"/>
                          </a:solidFill>
                          <a:effectLst/>
                          <a:latin typeface="Poppins"/>
                          <a:cs typeface="Poppins"/>
                        </a:rPr>
                        <a:t> site:</a:t>
                      </a:r>
                      <a:endParaRPr lang="en-US"/>
                    </a:p>
                    <a:p>
                      <a:pPr lvl="0">
                        <a:buNone/>
                      </a:pPr>
                      <a:endParaRPr lang="en-US" sz="1600" b="1" i="0" u="none" strike="noStrike" noProof="0">
                        <a:solidFill>
                          <a:srgbClr val="000000"/>
                        </a:solidFill>
                        <a:effectLst/>
                        <a:latin typeface="Poppins"/>
                        <a:cs typeface="Poppins"/>
                      </a:endParaRPr>
                    </a:p>
                    <a:p>
                      <a:pPr lvl="0">
                        <a:buNone/>
                      </a:pPr>
                      <a:endParaRPr lang="en-GB" sz="1600" b="1" i="0" u="none" strike="noStrike" noProof="0">
                        <a:solidFill>
                          <a:srgbClr val="000000"/>
                        </a:solidFill>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r h="351331">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pic>
        <p:nvPicPr>
          <p:cNvPr id="3" name="Picture 2" descr="A screenshot of a login page">
            <a:extLst>
              <a:ext uri="{FF2B5EF4-FFF2-40B4-BE49-F238E27FC236}">
                <a16:creationId xmlns:a16="http://schemas.microsoft.com/office/drawing/2014/main" id="{2D782F1F-CBB2-8FBD-863A-AA2CE75E3DBA}"/>
              </a:ext>
            </a:extLst>
          </p:cNvPr>
          <p:cNvPicPr>
            <a:picLocks noChangeAspect="1"/>
          </p:cNvPicPr>
          <p:nvPr/>
        </p:nvPicPr>
        <p:blipFill>
          <a:blip r:embed="rId2"/>
          <a:stretch>
            <a:fillRect/>
          </a:stretch>
        </p:blipFill>
        <p:spPr>
          <a:xfrm>
            <a:off x="1053771" y="496289"/>
            <a:ext cx="3248025" cy="3414084"/>
          </a:xfrm>
          <a:prstGeom prst="rect">
            <a:avLst/>
          </a:prstGeom>
        </p:spPr>
      </p:pic>
      <p:pic>
        <p:nvPicPr>
          <p:cNvPr id="4" name="Picture 3" descr="A screenshot of a computer">
            <a:extLst>
              <a:ext uri="{FF2B5EF4-FFF2-40B4-BE49-F238E27FC236}">
                <a16:creationId xmlns:a16="http://schemas.microsoft.com/office/drawing/2014/main" id="{5D2D07AF-8243-A5B3-D523-1A79BE3A3300}"/>
              </a:ext>
            </a:extLst>
          </p:cNvPr>
          <p:cNvPicPr>
            <a:picLocks noChangeAspect="1"/>
          </p:cNvPicPr>
          <p:nvPr/>
        </p:nvPicPr>
        <p:blipFill>
          <a:blip r:embed="rId3"/>
          <a:stretch>
            <a:fillRect/>
          </a:stretch>
        </p:blipFill>
        <p:spPr>
          <a:xfrm>
            <a:off x="4296225" y="496469"/>
            <a:ext cx="3951797" cy="1817838"/>
          </a:xfrm>
          <a:prstGeom prst="rect">
            <a:avLst/>
          </a:prstGeom>
        </p:spPr>
      </p:pic>
      <p:pic>
        <p:nvPicPr>
          <p:cNvPr id="6" name="Picture 5" descr="A screenshot of a login screen">
            <a:extLst>
              <a:ext uri="{FF2B5EF4-FFF2-40B4-BE49-F238E27FC236}">
                <a16:creationId xmlns:a16="http://schemas.microsoft.com/office/drawing/2014/main" id="{692FA4D1-935C-D967-15F7-38634306F584}"/>
              </a:ext>
            </a:extLst>
          </p:cNvPr>
          <p:cNvPicPr>
            <a:picLocks noChangeAspect="1"/>
          </p:cNvPicPr>
          <p:nvPr/>
        </p:nvPicPr>
        <p:blipFill>
          <a:blip r:embed="rId4"/>
          <a:stretch>
            <a:fillRect/>
          </a:stretch>
        </p:blipFill>
        <p:spPr>
          <a:xfrm>
            <a:off x="4296494" y="2313317"/>
            <a:ext cx="3872182" cy="4050102"/>
          </a:xfrm>
          <a:prstGeom prst="rect">
            <a:avLst/>
          </a:prstGeom>
        </p:spPr>
      </p:pic>
    </p:spTree>
    <p:extLst>
      <p:ext uri="{BB962C8B-B14F-4D97-AF65-F5344CB8AC3E}">
        <p14:creationId xmlns:p14="http://schemas.microsoft.com/office/powerpoint/2010/main" val="15364890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E3BF6-2297-F7C5-C947-BBC1EF687859}"/>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647F7495-0A7B-BCC2-0850-9C00BE02E559}"/>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ea typeface="+mn-lt"/>
                <a:cs typeface="Poppins"/>
              </a:rPr>
              <a:t>Account</a:t>
            </a:r>
            <a:endParaRPr lang="en-US"/>
          </a:p>
          <a:p>
            <a:r>
              <a:rPr lang="en-GB" sz="2000" b="1">
                <a:solidFill>
                  <a:srgbClr val="000000"/>
                </a:solidFill>
                <a:latin typeface="Poppins"/>
                <a:ea typeface="+mn-lt"/>
                <a:cs typeface="Poppins"/>
              </a:rPr>
              <a:t>Account deletion</a:t>
            </a:r>
            <a:endParaRPr lang="en-GB"/>
          </a:p>
        </p:txBody>
      </p:sp>
      <p:graphicFrame>
        <p:nvGraphicFramePr>
          <p:cNvPr id="7" name="Table 6">
            <a:extLst>
              <a:ext uri="{FF2B5EF4-FFF2-40B4-BE49-F238E27FC236}">
                <a16:creationId xmlns:a16="http://schemas.microsoft.com/office/drawing/2014/main" id="{77086804-DDB9-022E-1D8E-5F415EA166F1}"/>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A2B4EA46-4352-71D7-2758-7FBDAF61FAFE}"/>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B7BCD89F-0921-FF7C-4E22-3A636A43EDB8}"/>
              </a:ext>
            </a:extLst>
          </p:cNvPr>
          <p:cNvGraphicFramePr>
            <a:graphicFrameLocks noGrp="1"/>
          </p:cNvGraphicFramePr>
          <p:nvPr>
            <p:extLst>
              <p:ext uri="{D42A27DB-BD31-4B8C-83A1-F6EECF244321}">
                <p14:modId xmlns:p14="http://schemas.microsoft.com/office/powerpoint/2010/main" val="3304425229"/>
              </p:ext>
            </p:extLst>
          </p:nvPr>
        </p:nvGraphicFramePr>
        <p:xfrm>
          <a:off x="1049547" y="208471"/>
          <a:ext cx="6913143" cy="4727005"/>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4375674">
                <a:tc>
                  <a:txBody>
                    <a:bodyPr/>
                    <a:lstStyle/>
                    <a:p>
                      <a:pPr lvl="0">
                        <a:buNone/>
                      </a:pPr>
                      <a:r>
                        <a:rPr lang="en-US" sz="1600" b="1" i="0" u="none" strike="noStrike" noProof="0">
                          <a:solidFill>
                            <a:srgbClr val="000000"/>
                          </a:solidFill>
                          <a:effectLst/>
                          <a:latin typeface="Poppins"/>
                          <a:cs typeface="Poppins"/>
                        </a:rPr>
                        <a:t>Things we check </a:t>
                      </a:r>
                      <a:endParaRPr lang="en-US" sz="1600" b="0" i="0" u="none" strike="noStrike" noProof="0">
                        <a:solidFill>
                          <a:srgbClr val="000000"/>
                        </a:solidFill>
                        <a:effectLst/>
                        <a:latin typeface="Poppins"/>
                        <a:cs typeface="Poppins"/>
                      </a:endParaRPr>
                    </a:p>
                    <a:p>
                      <a:pPr lvl="0" algn="l">
                        <a:lnSpc>
                          <a:spcPct val="100000"/>
                        </a:lnSpc>
                        <a:spcBef>
                          <a:spcPts val="0"/>
                        </a:spcBef>
                        <a:spcAft>
                          <a:spcPts val="0"/>
                        </a:spcAft>
                        <a:buNone/>
                      </a:pPr>
                      <a:r>
                        <a:rPr lang="en-US" sz="1000" b="0" i="1" u="none" strike="noStrike" noProof="0">
                          <a:solidFill>
                            <a:srgbClr val="000000"/>
                          </a:solidFill>
                          <a:effectLst/>
                          <a:latin typeface="Poppins"/>
                          <a:cs typeface="Poppins"/>
                        </a:rPr>
                        <a:t>ask the customer, check in the station, etc.</a:t>
                      </a:r>
                      <a:endParaRPr lang="en-US" sz="10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Clr>
                          <a:srgbClr val="000000"/>
                        </a:buClr>
                        <a:buAutoNum type="arabicPeriod"/>
                      </a:pPr>
                      <a:r>
                        <a:rPr lang="en-US" sz="1600" b="0" i="0" u="none" strike="noStrike" noProof="0">
                          <a:solidFill>
                            <a:srgbClr val="000000"/>
                          </a:solidFill>
                          <a:effectLst/>
                          <a:latin typeface="Poppins"/>
                          <a:cs typeface="Poppins"/>
                        </a:rPr>
                        <a:t>Ask what error message they are getting when deleting their account online</a:t>
                      </a:r>
                    </a:p>
                    <a:p>
                      <a:pPr marL="342900" lvl="0" indent="-342900" algn="l">
                        <a:lnSpc>
                          <a:spcPct val="100000"/>
                        </a:lnSpc>
                        <a:spcBef>
                          <a:spcPts val="0"/>
                        </a:spcBef>
                        <a:spcAft>
                          <a:spcPts val="0"/>
                        </a:spcAft>
                        <a:buClr>
                          <a:srgbClr val="000000"/>
                        </a:buClr>
                        <a:buAutoNum type="arabicPeriod"/>
                      </a:pPr>
                      <a:r>
                        <a:rPr lang="en-US" sz="1600" b="0" i="0" u="none" strike="noStrike" noProof="0">
                          <a:solidFill>
                            <a:srgbClr val="000000"/>
                          </a:solidFill>
                          <a:effectLst/>
                          <a:latin typeface="Poppins"/>
                          <a:cs typeface="Poppins"/>
                        </a:rPr>
                        <a:t>Check if there's still an active service or subscription</a:t>
                      </a:r>
                      <a:endParaRPr lang="en-US">
                        <a:latin typeface="Poppins"/>
                        <a:cs typeface="Poppins"/>
                      </a:endParaRPr>
                    </a:p>
                    <a:p>
                      <a:pPr marL="0" lvl="0" indent="0" algn="l">
                        <a:lnSpc>
                          <a:spcPct val="100000"/>
                        </a:lnSpc>
                        <a:spcBef>
                          <a:spcPts val="0"/>
                        </a:spcBef>
                        <a:spcAft>
                          <a:spcPts val="0"/>
                        </a:spcAft>
                        <a:buNone/>
                      </a:pPr>
                      <a:endParaRPr lang="en-US" sz="1600" b="0"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r>
                        <a:rPr lang="en-US" sz="1600" b="1" i="0" u="none" strike="noStrike" noProof="0">
                          <a:solidFill>
                            <a:srgbClr val="000000"/>
                          </a:solidFill>
                          <a:effectLst/>
                          <a:latin typeface="Poppins"/>
                          <a:cs typeface="Poppins"/>
                        </a:rPr>
                        <a:t>What to do next:</a:t>
                      </a: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Clr>
                          <a:srgbClr val="000000"/>
                        </a:buClr>
                        <a:buAutoNum type="arabicPeriod"/>
                      </a:pPr>
                      <a:r>
                        <a:rPr lang="en-US" sz="1600" b="0" i="0" u="none" strike="noStrike" noProof="0">
                          <a:solidFill>
                            <a:srgbClr val="000000"/>
                          </a:solidFill>
                          <a:effectLst/>
                          <a:latin typeface="Poppins"/>
                          <a:cs typeface="Poppins"/>
                        </a:rPr>
                        <a:t>Educate that it needs to be done by the customer through their online account portal at loopdl.co.uk.</a:t>
                      </a:r>
                    </a:p>
                    <a:p>
                      <a:pPr marL="342900" lvl="0" indent="-342900" algn="l">
                        <a:lnSpc>
                          <a:spcPct val="100000"/>
                        </a:lnSpc>
                        <a:spcBef>
                          <a:spcPts val="0"/>
                        </a:spcBef>
                        <a:spcAft>
                          <a:spcPts val="0"/>
                        </a:spcAft>
                        <a:buClr>
                          <a:srgbClr val="000000"/>
                        </a:buClr>
                        <a:buAutoNum type="arabicPeriod"/>
                      </a:pPr>
                      <a:r>
                        <a:rPr lang="en-US" sz="1600" b="0" i="0" u="none" strike="noStrike" noProof="0">
                          <a:solidFill>
                            <a:srgbClr val="000000"/>
                          </a:solidFill>
                          <a:effectLst/>
                          <a:latin typeface="Poppins"/>
                          <a:cs typeface="Poppins"/>
                        </a:rPr>
                        <a:t>Advise they can try to delete their account after the cancellation date.</a:t>
                      </a:r>
                      <a:endParaRPr lang="en-US">
                        <a:latin typeface="Poppins"/>
                        <a:cs typeface="Poppins"/>
                      </a:endParaRPr>
                    </a:p>
                    <a:p>
                      <a:pPr lvl="0">
                        <a:buNone/>
                      </a:pPr>
                      <a:endParaRPr lang="en-GB" sz="1600" b="1" i="0" u="none" strike="noStrike" noProof="0">
                        <a:solidFill>
                          <a:srgbClr val="000000"/>
                        </a:solidFill>
                        <a:effectLst/>
                        <a:latin typeface="Poppins"/>
                        <a:cs typeface="Poppins"/>
                      </a:endParaRPr>
                    </a:p>
                    <a:p>
                      <a:pPr lvl="0">
                        <a:buNone/>
                      </a:pPr>
                      <a:endParaRPr lang="en-GB" sz="1600" b="1" i="0" u="none" strike="noStrike" noProof="0">
                        <a:solidFill>
                          <a:srgbClr val="000000"/>
                        </a:solidFill>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r h="351331">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pic>
        <p:nvPicPr>
          <p:cNvPr id="2" name="Picture 1" descr="A screenshot of a computer">
            <a:extLst>
              <a:ext uri="{FF2B5EF4-FFF2-40B4-BE49-F238E27FC236}">
                <a16:creationId xmlns:a16="http://schemas.microsoft.com/office/drawing/2014/main" id="{3E39CA5F-E1AE-3D47-A7DF-E7FEEEDE3426}"/>
              </a:ext>
            </a:extLst>
          </p:cNvPr>
          <p:cNvPicPr>
            <a:picLocks noChangeAspect="1"/>
          </p:cNvPicPr>
          <p:nvPr/>
        </p:nvPicPr>
        <p:blipFill>
          <a:blip r:embed="rId2"/>
          <a:stretch>
            <a:fillRect/>
          </a:stretch>
        </p:blipFill>
        <p:spPr>
          <a:xfrm>
            <a:off x="1035170" y="2843513"/>
            <a:ext cx="7080850" cy="3629502"/>
          </a:xfrm>
          <a:prstGeom prst="rect">
            <a:avLst/>
          </a:prstGeom>
        </p:spPr>
      </p:pic>
    </p:spTree>
    <p:extLst>
      <p:ext uri="{BB962C8B-B14F-4D97-AF65-F5344CB8AC3E}">
        <p14:creationId xmlns:p14="http://schemas.microsoft.com/office/powerpoint/2010/main" val="19461411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81EF8-FEE0-8D7C-3504-F1C9845C373D}"/>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2B0709EB-E8DB-9EF5-9C57-A5BF70132757}"/>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ea typeface="+mn-lt"/>
                <a:cs typeface="Poppins"/>
              </a:rPr>
              <a:t>Account</a:t>
            </a:r>
            <a:endParaRPr lang="en-US"/>
          </a:p>
          <a:p>
            <a:r>
              <a:rPr lang="en-GB" sz="2000" b="1">
                <a:solidFill>
                  <a:srgbClr val="000000"/>
                </a:solidFill>
                <a:latin typeface="Poppins"/>
                <a:ea typeface="+mn-lt"/>
                <a:cs typeface="Poppins"/>
              </a:rPr>
              <a:t>Change details</a:t>
            </a:r>
            <a:endParaRPr lang="en-GB"/>
          </a:p>
        </p:txBody>
      </p:sp>
      <p:graphicFrame>
        <p:nvGraphicFramePr>
          <p:cNvPr id="7" name="Table 6">
            <a:extLst>
              <a:ext uri="{FF2B5EF4-FFF2-40B4-BE49-F238E27FC236}">
                <a16:creationId xmlns:a16="http://schemas.microsoft.com/office/drawing/2014/main" id="{3438A3C6-7256-6B65-DA50-D5C2229E8932}"/>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5C27F25D-74D9-DA9F-5FD3-907859270511}"/>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C53E2770-FC4B-55A2-55F5-80D4C3331952}"/>
              </a:ext>
            </a:extLst>
          </p:cNvPr>
          <p:cNvGraphicFramePr>
            <a:graphicFrameLocks noGrp="1"/>
          </p:cNvGraphicFramePr>
          <p:nvPr>
            <p:extLst>
              <p:ext uri="{D42A27DB-BD31-4B8C-83A1-F6EECF244321}">
                <p14:modId xmlns:p14="http://schemas.microsoft.com/office/powerpoint/2010/main" val="3290795165"/>
              </p:ext>
            </p:extLst>
          </p:nvPr>
        </p:nvGraphicFramePr>
        <p:xfrm>
          <a:off x="1049547" y="208471"/>
          <a:ext cx="6913143" cy="4727005"/>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4375674">
                <a:tc>
                  <a:txBody>
                    <a:bodyPr/>
                    <a:lstStyle/>
                    <a:p>
                      <a:pPr lvl="0">
                        <a:buNone/>
                      </a:pPr>
                      <a:r>
                        <a:rPr lang="en-US" sz="1600" b="1" i="0" u="none" strike="noStrike" noProof="0">
                          <a:solidFill>
                            <a:srgbClr val="000000"/>
                          </a:solidFill>
                          <a:effectLst/>
                          <a:latin typeface="Poppins"/>
                          <a:cs typeface="Poppins"/>
                        </a:rPr>
                        <a:t>Things we check </a:t>
                      </a:r>
                      <a:endParaRPr lang="en-US" sz="1600" b="0" i="0" u="none" strike="noStrike" noProof="0">
                        <a:solidFill>
                          <a:srgbClr val="000000"/>
                        </a:solidFill>
                        <a:effectLst/>
                        <a:latin typeface="Poppins"/>
                        <a:cs typeface="Poppins"/>
                      </a:endParaRPr>
                    </a:p>
                    <a:p>
                      <a:pPr lvl="0" algn="l">
                        <a:lnSpc>
                          <a:spcPct val="100000"/>
                        </a:lnSpc>
                        <a:spcBef>
                          <a:spcPts val="0"/>
                        </a:spcBef>
                        <a:spcAft>
                          <a:spcPts val="0"/>
                        </a:spcAft>
                        <a:buNone/>
                      </a:pPr>
                      <a:r>
                        <a:rPr lang="en-US" sz="1000" b="0" i="1" u="none" strike="noStrike" noProof="0">
                          <a:solidFill>
                            <a:srgbClr val="000000"/>
                          </a:solidFill>
                          <a:effectLst/>
                          <a:latin typeface="Poppins"/>
                          <a:cs typeface="Poppins"/>
                        </a:rPr>
                        <a:t>ask the customer, check in the station, etc.</a:t>
                      </a:r>
                      <a:endParaRPr lang="en-US" sz="1000" b="0" i="0" u="none" strike="noStrike" noProof="0">
                        <a:solidFill>
                          <a:srgbClr val="000000"/>
                        </a:solidFill>
                        <a:effectLst/>
                        <a:latin typeface="Poppins"/>
                        <a:cs typeface="Poppins"/>
                      </a:endParaRPr>
                    </a:p>
                    <a:p>
                      <a:pPr marL="285750" lvl="0" indent="-285750" algn="l">
                        <a:lnSpc>
                          <a:spcPct val="100000"/>
                        </a:lnSpc>
                        <a:spcBef>
                          <a:spcPts val="0"/>
                        </a:spcBef>
                        <a:spcAft>
                          <a:spcPts val="0"/>
                        </a:spcAft>
                        <a:buClr>
                          <a:srgbClr val="000000"/>
                        </a:buClr>
                        <a:buFont typeface="Arial"/>
                        <a:buChar char="•"/>
                      </a:pPr>
                      <a:r>
                        <a:rPr lang="en-US" sz="1600" b="0" i="0" u="none" strike="noStrike" noProof="0">
                          <a:solidFill>
                            <a:srgbClr val="000000"/>
                          </a:solidFill>
                          <a:effectLst/>
                          <a:latin typeface="Poppins"/>
                          <a:cs typeface="Poppins"/>
                        </a:rPr>
                        <a:t>Verify if the customer is the account owner. </a:t>
                      </a:r>
                      <a:endParaRPr lang="en-US" sz="1600">
                        <a:latin typeface="Poppins"/>
                        <a:cs typeface="Poppins"/>
                      </a:endParaRPr>
                    </a:p>
                    <a:p>
                      <a:pPr marL="285750" lvl="0" indent="-285750" algn="l">
                        <a:lnSpc>
                          <a:spcPct val="100000"/>
                        </a:lnSpc>
                        <a:spcBef>
                          <a:spcPts val="0"/>
                        </a:spcBef>
                        <a:spcAft>
                          <a:spcPts val="0"/>
                        </a:spcAft>
                        <a:buClr>
                          <a:srgbClr val="000000"/>
                        </a:buClr>
                        <a:buFont typeface="Arial"/>
                        <a:buChar char="•"/>
                      </a:pPr>
                      <a:r>
                        <a:rPr lang="en-US" sz="1600" b="0" i="0" u="none" strike="noStrike" noProof="0">
                          <a:solidFill>
                            <a:srgbClr val="000000"/>
                          </a:solidFill>
                          <a:effectLst/>
                          <a:latin typeface="Poppins"/>
                          <a:cs typeface="Poppins"/>
                        </a:rPr>
                        <a:t>Verify the Last 4 digits of card on file and expiration date</a:t>
                      </a:r>
                      <a:endParaRPr lang="en-US" sz="1600">
                        <a:latin typeface="Poppins"/>
                        <a:cs typeface="Poppins"/>
                      </a:endParaRPr>
                    </a:p>
                    <a:p>
                      <a:pPr marL="285750" lvl="0" indent="-285750" algn="l">
                        <a:lnSpc>
                          <a:spcPct val="100000"/>
                        </a:lnSpc>
                        <a:spcBef>
                          <a:spcPts val="0"/>
                        </a:spcBef>
                        <a:spcAft>
                          <a:spcPts val="0"/>
                        </a:spcAft>
                        <a:buClr>
                          <a:srgbClr val="000000"/>
                        </a:buClr>
                        <a:buFont typeface="Arial"/>
                        <a:buChar char="•"/>
                      </a:pPr>
                      <a:r>
                        <a:rPr lang="en-US" sz="1600" b="0" i="0" u="none" strike="noStrike" noProof="0">
                          <a:solidFill>
                            <a:srgbClr val="000000"/>
                          </a:solidFill>
                          <a:effectLst/>
                          <a:latin typeface="Poppins"/>
                          <a:cs typeface="Poppins"/>
                        </a:rPr>
                        <a:t>Confirm the email address on the account</a:t>
                      </a:r>
                      <a:endParaRPr lang="en-US" sz="1600">
                        <a:latin typeface="Poppins"/>
                        <a:cs typeface="Poppins"/>
                      </a:endParaRPr>
                    </a:p>
                    <a:p>
                      <a:pPr marL="0" lvl="0" indent="0" algn="l">
                        <a:lnSpc>
                          <a:spcPct val="100000"/>
                        </a:lnSpc>
                        <a:spcBef>
                          <a:spcPts val="0"/>
                        </a:spcBef>
                        <a:spcAft>
                          <a:spcPts val="0"/>
                        </a:spcAft>
                        <a:buNone/>
                      </a:pPr>
                      <a:endParaRPr lang="en-US" sz="1600" b="0"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r>
                        <a:rPr lang="en-US" sz="1600" b="1" i="0" u="none" strike="noStrike" noProof="0">
                          <a:solidFill>
                            <a:srgbClr val="000000"/>
                          </a:solidFill>
                          <a:effectLst/>
                          <a:latin typeface="Poppins"/>
                          <a:cs typeface="Poppins"/>
                        </a:rPr>
                        <a:t>What to do next:</a:t>
                      </a:r>
                      <a:endParaRPr lang="en-US" sz="1600" b="0" i="0" u="none" strike="noStrike" noProof="0">
                        <a:solidFill>
                          <a:srgbClr val="000000"/>
                        </a:solidFill>
                        <a:effectLst/>
                        <a:latin typeface="Poppins"/>
                        <a:cs typeface="Poppins"/>
                      </a:endParaRPr>
                    </a:p>
                    <a:p>
                      <a:pPr marL="0" lvl="0" indent="0" algn="l">
                        <a:lnSpc>
                          <a:spcPct val="100000"/>
                        </a:lnSpc>
                        <a:spcBef>
                          <a:spcPts val="0"/>
                        </a:spcBef>
                        <a:spcAft>
                          <a:spcPts val="0"/>
                        </a:spcAft>
                        <a:buClr>
                          <a:srgbClr val="000000"/>
                        </a:buClr>
                        <a:buNone/>
                      </a:pPr>
                      <a:r>
                        <a:rPr lang="en-US" sz="1600" b="0" i="0" u="none" strike="noStrike" noProof="0">
                          <a:solidFill>
                            <a:srgbClr val="000000"/>
                          </a:solidFill>
                          <a:effectLst/>
                          <a:latin typeface="Poppins"/>
                          <a:cs typeface="Poppins"/>
                        </a:rPr>
                        <a:t>Let the customer know that this must be done through their online account portal at loopdl.co.uk under My Account settings.</a:t>
                      </a:r>
                    </a:p>
                    <a:p>
                      <a:pPr lvl="0">
                        <a:buNone/>
                      </a:pPr>
                      <a:endParaRPr lang="en-GB" sz="1600" b="1" i="0" u="none" strike="noStrike" noProof="0">
                        <a:solidFill>
                          <a:srgbClr val="000000"/>
                        </a:solidFill>
                        <a:effectLst/>
                        <a:latin typeface="Poppins"/>
                        <a:cs typeface="Poppins"/>
                      </a:endParaRPr>
                    </a:p>
                    <a:p>
                      <a:pPr lvl="0">
                        <a:buNone/>
                      </a:pPr>
                      <a:endParaRPr lang="en-GB" sz="1600" b="1" i="0" u="none" strike="noStrike" noProof="0">
                        <a:solidFill>
                          <a:srgbClr val="000000"/>
                        </a:solidFill>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r h="351331">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pic>
        <p:nvPicPr>
          <p:cNvPr id="3" name="Picture 2" descr="A screenshot of a login page">
            <a:extLst>
              <a:ext uri="{FF2B5EF4-FFF2-40B4-BE49-F238E27FC236}">
                <a16:creationId xmlns:a16="http://schemas.microsoft.com/office/drawing/2014/main" id="{6D45B7C2-4994-C203-749B-A053478DE7AF}"/>
              </a:ext>
            </a:extLst>
          </p:cNvPr>
          <p:cNvPicPr>
            <a:picLocks noChangeAspect="1"/>
          </p:cNvPicPr>
          <p:nvPr/>
        </p:nvPicPr>
        <p:blipFill>
          <a:blip r:embed="rId2"/>
          <a:stretch>
            <a:fillRect/>
          </a:stretch>
        </p:blipFill>
        <p:spPr>
          <a:xfrm>
            <a:off x="977661" y="2433758"/>
            <a:ext cx="7059284" cy="3622314"/>
          </a:xfrm>
          <a:prstGeom prst="rect">
            <a:avLst/>
          </a:prstGeom>
        </p:spPr>
      </p:pic>
    </p:spTree>
    <p:extLst>
      <p:ext uri="{BB962C8B-B14F-4D97-AF65-F5344CB8AC3E}">
        <p14:creationId xmlns:p14="http://schemas.microsoft.com/office/powerpoint/2010/main" val="20058225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9CC80-98B5-E50F-54C6-79F6B6DFE87B}"/>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F742BE13-B0A5-228A-17DE-EC0F3967AF79}"/>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ea typeface="+mn-lt"/>
                <a:cs typeface="Poppins"/>
              </a:rPr>
              <a:t>Porting</a:t>
            </a:r>
            <a:endParaRPr lang="en-US"/>
          </a:p>
          <a:p>
            <a:r>
              <a:rPr lang="en-GB" sz="2000" b="1">
                <a:solidFill>
                  <a:srgbClr val="000000"/>
                </a:solidFill>
                <a:latin typeface="Poppins"/>
                <a:ea typeface="+mn-lt"/>
                <a:cs typeface="Poppins"/>
              </a:rPr>
              <a:t>Port-in</a:t>
            </a:r>
            <a:endParaRPr lang="en-GB"/>
          </a:p>
        </p:txBody>
      </p:sp>
      <p:graphicFrame>
        <p:nvGraphicFramePr>
          <p:cNvPr id="7" name="Table 6">
            <a:extLst>
              <a:ext uri="{FF2B5EF4-FFF2-40B4-BE49-F238E27FC236}">
                <a16:creationId xmlns:a16="http://schemas.microsoft.com/office/drawing/2014/main" id="{099CF7C2-60EF-9E71-01CB-057F94387B96}"/>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E7BEEF2C-ADB6-2B0A-2FDC-40FD629ABCAD}"/>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13D709A9-9279-AB48-8101-EEB8B25064E6}"/>
              </a:ext>
            </a:extLst>
          </p:cNvPr>
          <p:cNvGraphicFramePr>
            <a:graphicFrameLocks noGrp="1"/>
          </p:cNvGraphicFramePr>
          <p:nvPr>
            <p:extLst>
              <p:ext uri="{D42A27DB-BD31-4B8C-83A1-F6EECF244321}">
                <p14:modId xmlns:p14="http://schemas.microsoft.com/office/powerpoint/2010/main" val="624079511"/>
              </p:ext>
            </p:extLst>
          </p:nvPr>
        </p:nvGraphicFramePr>
        <p:xfrm>
          <a:off x="1049547" y="208471"/>
          <a:ext cx="6913143" cy="6965491"/>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4375674">
                <a:tc>
                  <a:txBody>
                    <a:bodyPr/>
                    <a:lstStyle/>
                    <a:p>
                      <a:pPr lvl="0">
                        <a:buNone/>
                      </a:pPr>
                      <a:r>
                        <a:rPr lang="en-US" sz="1600" b="1" i="0" u="none" strike="noStrike" noProof="0">
                          <a:solidFill>
                            <a:srgbClr val="000000"/>
                          </a:solidFill>
                          <a:effectLst/>
                          <a:latin typeface="Poppins"/>
                          <a:cs typeface="Poppins"/>
                        </a:rPr>
                        <a:t>Things we check </a:t>
                      </a:r>
                      <a:endParaRPr lang="en-US" sz="1600" b="0" i="0" u="none" strike="noStrike" noProof="0">
                        <a:solidFill>
                          <a:srgbClr val="000000"/>
                        </a:solidFill>
                        <a:effectLst/>
                        <a:latin typeface="Poppins"/>
                        <a:cs typeface="Poppins"/>
                      </a:endParaRPr>
                    </a:p>
                    <a:p>
                      <a:pPr lvl="0" algn="l">
                        <a:lnSpc>
                          <a:spcPct val="100000"/>
                        </a:lnSpc>
                        <a:spcBef>
                          <a:spcPts val="0"/>
                        </a:spcBef>
                        <a:spcAft>
                          <a:spcPts val="0"/>
                        </a:spcAft>
                        <a:buNone/>
                      </a:pPr>
                      <a:r>
                        <a:rPr lang="en-US" sz="1000" b="0" i="1" u="none" strike="noStrike" noProof="0">
                          <a:solidFill>
                            <a:srgbClr val="000000"/>
                          </a:solidFill>
                          <a:effectLst/>
                          <a:latin typeface="Poppins"/>
                          <a:cs typeface="Poppins"/>
                        </a:rPr>
                        <a:t>ask the customer, check in the station, etc.</a:t>
                      </a:r>
                      <a:endParaRPr lang="en-US" sz="10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Number to port IN or MSISDN</a:t>
                      </a:r>
                      <a:endParaRPr lang="en-US">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PAC code from previous provider</a:t>
                      </a:r>
                      <a:endParaRPr lang="en-US">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MSISDN active during porting process</a:t>
                      </a:r>
                      <a:endParaRPr lang="en-US">
                        <a:latin typeface="Poppins"/>
                        <a:cs typeface="Poppins"/>
                      </a:endParaRPr>
                    </a:p>
                    <a:p>
                      <a:pPr marL="0" lvl="0" indent="0" algn="l">
                        <a:lnSpc>
                          <a:spcPct val="100000"/>
                        </a:lnSpc>
                        <a:spcBef>
                          <a:spcPts val="0"/>
                        </a:spcBef>
                        <a:spcAft>
                          <a:spcPts val="0"/>
                        </a:spcAft>
                        <a:buNone/>
                      </a:pPr>
                      <a:endParaRPr lang="en-US" sz="1600" b="0"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r>
                        <a:rPr lang="en-US" sz="1600" b="1" i="0" u="none" strike="noStrike" noProof="0">
                          <a:solidFill>
                            <a:srgbClr val="000000"/>
                          </a:solidFill>
                          <a:effectLst/>
                          <a:latin typeface="Poppins"/>
                          <a:cs typeface="Poppins"/>
                        </a:rPr>
                        <a:t>What to do next:</a:t>
                      </a:r>
                      <a:endParaRPr lang="en-US" sz="16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Navigate to burger menu on top right corner</a:t>
                      </a:r>
                      <a:endParaRPr lang="en-US">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Click on Sign in</a:t>
                      </a:r>
                      <a:endParaRPr lang="en-US">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Sign in to the </a:t>
                      </a:r>
                      <a:r>
                        <a:rPr lang="en-US" sz="1600" b="0" i="0" u="none" strike="noStrike" noProof="0">
                          <a:solidFill>
                            <a:srgbClr val="000000"/>
                          </a:solidFill>
                          <a:effectLst/>
                        </a:rPr>
                        <a:t>loopdl.co.uk</a:t>
                      </a:r>
                      <a:r>
                        <a:rPr lang="en-US" sz="1600" b="0" i="0" u="none" strike="noStrike" noProof="0">
                          <a:solidFill>
                            <a:srgbClr val="000000"/>
                          </a:solidFill>
                          <a:effectLst/>
                          <a:latin typeface="Poppins"/>
                          <a:cs typeface="Poppins"/>
                        </a:rPr>
                        <a:t> site</a:t>
                      </a:r>
                      <a:endParaRPr lang="en-US">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Go to my account and click the plus button for drop down menu options</a:t>
                      </a:r>
                      <a:endParaRPr lang="en-US">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Click manage to open active plans</a:t>
                      </a:r>
                      <a:endParaRPr lang="en-US">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Click the drop-down menu on Number Porting options</a:t>
                      </a:r>
                      <a:endParaRPr lang="en-US">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Click on port in and follow the steps provided</a:t>
                      </a:r>
                      <a:endParaRPr lang="en-US">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Insert the number requesting to Port in and PAC code related to it and following the any other steps provided.</a:t>
                      </a:r>
                      <a:endParaRPr lang="en-US">
                        <a:latin typeface="Poppins"/>
                        <a:cs typeface="Poppins"/>
                      </a:endParaRPr>
                    </a:p>
                    <a:p>
                      <a:pPr marL="0" lvl="0" indent="0" algn="l">
                        <a:lnSpc>
                          <a:spcPct val="100000"/>
                        </a:lnSpc>
                        <a:spcBef>
                          <a:spcPts val="0"/>
                        </a:spcBef>
                        <a:spcAft>
                          <a:spcPts val="0"/>
                        </a:spcAft>
                        <a:buNone/>
                      </a:pPr>
                      <a:endParaRPr lang="en-US" sz="1600" b="0"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r>
                        <a:rPr lang="en-US" sz="1600" b="1" i="0" u="none" strike="noStrike" noProof="0">
                          <a:solidFill>
                            <a:srgbClr val="000000"/>
                          </a:solidFill>
                          <a:effectLst/>
                          <a:latin typeface="Poppins"/>
                          <a:cs typeface="Poppins"/>
                        </a:rPr>
                        <a:t>Educate customer of the porting process may take up to 48 business hours and that the service will be interrupted during the process (loss of service to the number being ported - both </a:t>
                      </a:r>
                      <a:r>
                        <a:rPr lang="en-US" sz="1600" b="1" i="0" u="none" strike="noStrike" noProof="0" err="1">
                          <a:solidFill>
                            <a:srgbClr val="000000"/>
                          </a:solidFill>
                          <a:effectLst/>
                          <a:latin typeface="Poppins"/>
                          <a:cs typeface="Poppins"/>
                        </a:rPr>
                        <a:t>LoopDL</a:t>
                      </a:r>
                      <a:r>
                        <a:rPr lang="en-US" sz="1600" b="1" i="0" u="none" strike="noStrike" noProof="0">
                          <a:solidFill>
                            <a:srgbClr val="000000"/>
                          </a:solidFill>
                          <a:effectLst/>
                          <a:latin typeface="Poppins"/>
                          <a:cs typeface="Poppins"/>
                        </a:rPr>
                        <a:t> and previous provider)</a:t>
                      </a:r>
                      <a:br>
                        <a:rPr lang="en-US"/>
                      </a:br>
                      <a:endParaRPr lang="en-US" b="1">
                        <a:latin typeface="Poppins"/>
                        <a:cs typeface="Poppins"/>
                      </a:endParaRPr>
                    </a:p>
                    <a:p>
                      <a:pPr marL="0" lvl="0" indent="0" algn="l">
                        <a:lnSpc>
                          <a:spcPct val="100000"/>
                        </a:lnSpc>
                        <a:spcBef>
                          <a:spcPts val="0"/>
                        </a:spcBef>
                        <a:spcAft>
                          <a:spcPts val="0"/>
                        </a:spcAft>
                        <a:buNone/>
                      </a:pPr>
                      <a:r>
                        <a:rPr lang="en-US" sz="1600" b="1" i="0" u="none" strike="noStrike" noProof="0">
                          <a:solidFill>
                            <a:srgbClr val="000000"/>
                          </a:solidFill>
                          <a:effectLst/>
                          <a:latin typeface="Poppins"/>
                          <a:cs typeface="Poppins"/>
                        </a:rPr>
                        <a:t>If having issue/error inform TL and escalate the issue to proceed with Manual porting. </a:t>
                      </a:r>
                      <a:endParaRPr lang="en-US" b="1">
                        <a:latin typeface="Poppins"/>
                        <a:cs typeface="Poppins"/>
                      </a:endParaRPr>
                    </a:p>
                    <a:p>
                      <a:pPr lvl="0">
                        <a:buNone/>
                      </a:pPr>
                      <a:endParaRPr lang="en-GB" sz="1600" b="1" i="0" u="none" strike="noStrike" noProof="0">
                        <a:solidFill>
                          <a:srgbClr val="000000"/>
                        </a:solidFill>
                        <a:effectLst/>
                        <a:latin typeface="Poppins"/>
                        <a:cs typeface="Poppins"/>
                      </a:endParaRPr>
                    </a:p>
                    <a:p>
                      <a:pPr lvl="0">
                        <a:buNone/>
                      </a:pPr>
                      <a:endParaRPr lang="en-GB" sz="1600" b="1" i="0" u="none" strike="noStrike" noProof="0">
                        <a:solidFill>
                          <a:srgbClr val="000000"/>
                        </a:solidFill>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r h="351331">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spTree>
    <p:extLst>
      <p:ext uri="{BB962C8B-B14F-4D97-AF65-F5344CB8AC3E}">
        <p14:creationId xmlns:p14="http://schemas.microsoft.com/office/powerpoint/2010/main" val="31513254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FC126-F1BD-B9E7-5541-C98C690C80D9}"/>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789A6728-79A0-E7B1-7177-D6BA2F376E52}"/>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ea typeface="+mn-lt"/>
                <a:cs typeface="Poppins"/>
              </a:rPr>
              <a:t>Porting</a:t>
            </a:r>
            <a:endParaRPr lang="en-US"/>
          </a:p>
          <a:p>
            <a:r>
              <a:rPr lang="en-GB" sz="2000" b="1">
                <a:solidFill>
                  <a:srgbClr val="000000"/>
                </a:solidFill>
                <a:latin typeface="Poppins"/>
                <a:ea typeface="+mn-lt"/>
                <a:cs typeface="Poppins"/>
              </a:rPr>
              <a:t>Port-out</a:t>
            </a:r>
            <a:endParaRPr lang="en-GB"/>
          </a:p>
        </p:txBody>
      </p:sp>
      <p:graphicFrame>
        <p:nvGraphicFramePr>
          <p:cNvPr id="7" name="Table 6">
            <a:extLst>
              <a:ext uri="{FF2B5EF4-FFF2-40B4-BE49-F238E27FC236}">
                <a16:creationId xmlns:a16="http://schemas.microsoft.com/office/drawing/2014/main" id="{EC81DB85-683D-A07D-2250-F19EE1297FB3}"/>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B18C3BBC-4797-093B-9A03-3055E771D48F}"/>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74FABDC6-ED86-CF20-2404-B3D118D5AEC7}"/>
              </a:ext>
            </a:extLst>
          </p:cNvPr>
          <p:cNvGraphicFramePr>
            <a:graphicFrameLocks noGrp="1"/>
          </p:cNvGraphicFramePr>
          <p:nvPr>
            <p:extLst>
              <p:ext uri="{D42A27DB-BD31-4B8C-83A1-F6EECF244321}">
                <p14:modId xmlns:p14="http://schemas.microsoft.com/office/powerpoint/2010/main" val="3903713850"/>
              </p:ext>
            </p:extLst>
          </p:nvPr>
        </p:nvGraphicFramePr>
        <p:xfrm>
          <a:off x="758194" y="500250"/>
          <a:ext cx="6913143" cy="6203491"/>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4375674">
                <a:tc>
                  <a:txBody>
                    <a:bodyPr/>
                    <a:lstStyle/>
                    <a:p>
                      <a:pPr lvl="0">
                        <a:buNone/>
                      </a:pPr>
                      <a:r>
                        <a:rPr lang="en-US" sz="1600" b="1" i="0" u="none" strike="noStrike" noProof="0">
                          <a:solidFill>
                            <a:srgbClr val="000000"/>
                          </a:solidFill>
                          <a:effectLst/>
                          <a:latin typeface="Poppins"/>
                          <a:cs typeface="Poppins"/>
                        </a:rPr>
                        <a:t>Things we check </a:t>
                      </a:r>
                      <a:endParaRPr lang="en-US" sz="1600" b="0" i="0" u="none" strike="noStrike" noProof="0">
                        <a:solidFill>
                          <a:srgbClr val="000000"/>
                        </a:solidFill>
                        <a:effectLst/>
                        <a:latin typeface="Poppins"/>
                        <a:cs typeface="Poppins"/>
                      </a:endParaRPr>
                    </a:p>
                    <a:p>
                      <a:pPr lvl="0" algn="l">
                        <a:lnSpc>
                          <a:spcPct val="100000"/>
                        </a:lnSpc>
                        <a:spcBef>
                          <a:spcPts val="0"/>
                        </a:spcBef>
                        <a:spcAft>
                          <a:spcPts val="0"/>
                        </a:spcAft>
                        <a:buNone/>
                      </a:pPr>
                      <a:r>
                        <a:rPr lang="en-US" sz="1000" b="0" i="1" u="none" strike="noStrike" noProof="0">
                          <a:solidFill>
                            <a:srgbClr val="000000"/>
                          </a:solidFill>
                          <a:effectLst/>
                          <a:latin typeface="Poppins"/>
                          <a:cs typeface="Poppins"/>
                        </a:rPr>
                        <a:t>ask the customer, check in the station, etc.</a:t>
                      </a:r>
                      <a:endParaRPr lang="en-US" sz="1000" b="0"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Number to port OUT or MSISDN</a:t>
                      </a:r>
                      <a:endParaRPr lang="en-US">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PAC code from </a:t>
                      </a:r>
                      <a:r>
                        <a:rPr lang="en-US" sz="1600" b="0" i="0" u="none" strike="noStrike" noProof="0" err="1">
                          <a:solidFill>
                            <a:srgbClr val="000000"/>
                          </a:solidFill>
                          <a:effectLst/>
                          <a:latin typeface="Poppins"/>
                          <a:cs typeface="Poppins"/>
                        </a:rPr>
                        <a:t>LoopDL</a:t>
                      </a:r>
                      <a:endParaRPr lang="en-US">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MSISDN active during porting process</a:t>
                      </a:r>
                      <a:endParaRPr lang="en-US">
                        <a:latin typeface="Poppins"/>
                        <a:cs typeface="Poppins"/>
                      </a:endParaRPr>
                    </a:p>
                    <a:p>
                      <a:pPr marL="0" lvl="0" indent="0" algn="l">
                        <a:lnSpc>
                          <a:spcPct val="100000"/>
                        </a:lnSpc>
                        <a:spcBef>
                          <a:spcPts val="0"/>
                        </a:spcBef>
                        <a:spcAft>
                          <a:spcPts val="0"/>
                        </a:spcAft>
                        <a:buNone/>
                      </a:pPr>
                      <a:br>
                        <a:rPr lang="en-US" sz="1600" b="0" i="0" u="none" strike="noStrike" noProof="0">
                          <a:solidFill>
                            <a:srgbClr val="000000"/>
                          </a:solidFill>
                          <a:effectLst/>
                          <a:latin typeface="Poppins"/>
                          <a:cs typeface="Poppins"/>
                        </a:rPr>
                      </a:br>
                      <a:r>
                        <a:rPr lang="en-US" sz="1600" b="1" i="0" u="none" strike="noStrike" noProof="0">
                          <a:solidFill>
                            <a:srgbClr val="000000"/>
                          </a:solidFill>
                          <a:effectLst/>
                          <a:latin typeface="Poppins"/>
                          <a:cs typeface="Poppins"/>
                        </a:rPr>
                        <a:t>What to do next:</a:t>
                      </a:r>
                      <a:endParaRPr lang="en-US" sz="1600" b="0" i="0" u="none" strike="noStrike" noProof="0">
                        <a:solidFill>
                          <a:srgbClr val="000000"/>
                        </a:solidFill>
                        <a:effectLst/>
                        <a:latin typeface="Poppins"/>
                        <a:cs typeface="Poppins"/>
                      </a:endParaRPr>
                    </a:p>
                    <a:p>
                      <a:pPr lvl="0" algn="l">
                        <a:lnSpc>
                          <a:spcPct val="100000"/>
                        </a:lnSpc>
                        <a:spcBef>
                          <a:spcPts val="0"/>
                        </a:spcBef>
                        <a:spcAft>
                          <a:spcPts val="0"/>
                        </a:spcAft>
                        <a:buNone/>
                      </a:pPr>
                      <a:r>
                        <a:rPr lang="en-US" sz="1600" b="0" i="0" u="none" strike="noStrike" noProof="0">
                          <a:effectLst/>
                        </a:rPr>
                        <a:t>1. Check for outstanding balance — port-out is not recommended while in arrears, but is possible</a:t>
                      </a:r>
                      <a:endParaRPr lang="en-US"/>
                    </a:p>
                    <a:p>
                      <a:pPr lvl="0" algn="l">
                        <a:lnSpc>
                          <a:spcPct val="100000"/>
                        </a:lnSpc>
                        <a:spcBef>
                          <a:spcPts val="0"/>
                        </a:spcBef>
                        <a:spcAft>
                          <a:spcPts val="0"/>
                        </a:spcAft>
                        <a:buNone/>
                      </a:pPr>
                      <a:r>
                        <a:rPr lang="en-US" sz="1600" b="0" i="0" u="none" strike="noStrike" noProof="0">
                          <a:effectLst/>
                        </a:rPr>
                        <a:t>2. If balance exists and customer insists: TL discretion to credit. If approved, help customer request PAC from self service .</a:t>
                      </a:r>
                      <a:endParaRPr lang="en-US"/>
                    </a:p>
                    <a:p>
                      <a:pPr lvl="0" algn="l">
                        <a:lnSpc>
                          <a:spcPct val="100000"/>
                        </a:lnSpc>
                        <a:spcBef>
                          <a:spcPts val="0"/>
                        </a:spcBef>
                        <a:spcAft>
                          <a:spcPts val="0"/>
                        </a:spcAft>
                        <a:buNone/>
                      </a:pPr>
                      <a:r>
                        <a:rPr lang="en-US" sz="1600" b="0" i="0" u="none" strike="noStrike" noProof="0">
                          <a:effectLst/>
                        </a:rPr>
                        <a:t>3. If the </a:t>
                      </a:r>
                      <a:r>
                        <a:rPr lang="en-US" sz="1600" b="0" i="0" u="none" strike="noStrike" noProof="0" err="1">
                          <a:effectLst/>
                        </a:rPr>
                        <a:t>LoopDL</a:t>
                      </a:r>
                      <a:r>
                        <a:rPr lang="en-US" sz="1600" b="0" i="0" u="none" strike="noStrike" noProof="0">
                          <a:effectLst/>
                        </a:rPr>
                        <a:t> number was previously ported in: PAC is provided by TL/SIM GO (it comes from the provider).</a:t>
                      </a:r>
                      <a:endParaRPr lang="en-US"/>
                    </a:p>
                    <a:p>
                      <a:pPr lvl="0" algn="l">
                        <a:lnSpc>
                          <a:spcPct val="100000"/>
                        </a:lnSpc>
                        <a:spcBef>
                          <a:spcPts val="0"/>
                        </a:spcBef>
                        <a:spcAft>
                          <a:spcPts val="0"/>
                        </a:spcAft>
                        <a:buNone/>
                      </a:pPr>
                      <a:r>
                        <a:rPr lang="en-US" sz="1600" b="0" i="0" u="none" strike="noStrike" noProof="0">
                          <a:effectLst/>
                        </a:rPr>
                        <a:t>4. If it's a native </a:t>
                      </a:r>
                      <a:r>
                        <a:rPr lang="en-US" sz="1600" b="0" i="0" u="none" strike="noStrike" noProof="0" err="1">
                          <a:effectLst/>
                        </a:rPr>
                        <a:t>LoopDL</a:t>
                      </a:r>
                      <a:r>
                        <a:rPr lang="en-US" sz="1600" b="0" i="0" u="none" strike="noStrike" noProof="0">
                          <a:effectLst/>
                        </a:rPr>
                        <a:t> </a:t>
                      </a:r>
                      <a:r>
                        <a:rPr lang="en-US" sz="1600" b="0" i="0" u="none" strike="noStrike" noProof="0" err="1">
                          <a:effectLst/>
                        </a:rPr>
                        <a:t>eSIM</a:t>
                      </a:r>
                      <a:r>
                        <a:rPr lang="en-US" sz="1600" b="0" i="0" u="none" strike="noStrike" noProof="0">
                          <a:effectLst/>
                        </a:rPr>
                        <a:t>: customer can self-serve the PAC via the website or app or by sending SMS to 65075</a:t>
                      </a:r>
                      <a:endParaRPr lang="en-US"/>
                    </a:p>
                    <a:p>
                      <a:pPr marL="0" lvl="0" indent="0" algn="l">
                        <a:lnSpc>
                          <a:spcPct val="100000"/>
                        </a:lnSpc>
                        <a:spcBef>
                          <a:spcPts val="0"/>
                        </a:spcBef>
                        <a:spcAft>
                          <a:spcPts val="0"/>
                        </a:spcAft>
                        <a:buNone/>
                      </a:pPr>
                      <a:r>
                        <a:rPr lang="en-US" sz="1600" b="0" i="0" u="none" strike="noStrike" noProof="0">
                          <a:effectLst/>
                        </a:rPr>
                        <a:t>5. Confirm the PAC and expiry with the customer and remind them their service will end on cutover.</a:t>
                      </a:r>
                      <a:br>
                        <a:rPr lang="en-US" sz="1600" b="0" i="0" u="none" strike="noStrike" noProof="0">
                          <a:effectLst/>
                        </a:rPr>
                      </a:br>
                      <a:br>
                        <a:rPr lang="en-US" sz="1600" b="0" i="0" u="none" strike="noStrike" noProof="0">
                          <a:solidFill>
                            <a:srgbClr val="000000"/>
                          </a:solidFill>
                          <a:effectLst/>
                          <a:latin typeface="Poppins"/>
                          <a:cs typeface="Poppins"/>
                        </a:rPr>
                      </a:br>
                      <a:r>
                        <a:rPr lang="en-US" sz="1600" b="0" i="0" u="none" strike="noStrike" noProof="0">
                          <a:solidFill>
                            <a:srgbClr val="000000"/>
                          </a:solidFill>
                          <a:effectLst/>
                          <a:latin typeface="Poppins"/>
                          <a:cs typeface="Poppins"/>
                        </a:rPr>
                        <a:t>Ask when they ported out (date of porting request)</a:t>
                      </a:r>
                      <a:endParaRPr lang="en-US">
                        <a:latin typeface="Poppins"/>
                        <a:cs typeface="Poppins"/>
                      </a:endParaRPr>
                    </a:p>
                    <a:p>
                      <a:pPr marL="800100" lvl="1" indent="-342900" algn="l">
                        <a:lnSpc>
                          <a:spcPct val="100000"/>
                        </a:lnSpc>
                        <a:spcBef>
                          <a:spcPts val="0"/>
                        </a:spcBef>
                        <a:spcAft>
                          <a:spcPts val="0"/>
                        </a:spcAft>
                        <a:buFont typeface="Courier New"/>
                        <a:buChar char="o"/>
                      </a:pPr>
                      <a:r>
                        <a:rPr lang="en-US" sz="1600" b="0" i="0" u="none" strike="noStrike" noProof="0">
                          <a:solidFill>
                            <a:srgbClr val="000000"/>
                          </a:solidFill>
                          <a:effectLst/>
                          <a:latin typeface="Poppins"/>
                          <a:cs typeface="Poppins"/>
                        </a:rPr>
                        <a:t>Advise the customer that porting should be completed after 48 business hours. (not including weekends and holidays)</a:t>
                      </a:r>
                    </a:p>
                    <a:p>
                      <a:pPr lvl="0">
                        <a:buNone/>
                      </a:pPr>
                      <a:endParaRPr lang="en-GB" sz="1600" b="1" i="0" u="none" strike="noStrike" noProof="0">
                        <a:solidFill>
                          <a:srgbClr val="000000"/>
                        </a:solidFill>
                        <a:effectLst/>
                        <a:latin typeface="Poppins"/>
                        <a:cs typeface="Poppins"/>
                      </a:endParaRPr>
                    </a:p>
                    <a:p>
                      <a:pPr lvl="0">
                        <a:buNone/>
                      </a:pPr>
                      <a:endParaRPr lang="en-GB" sz="1600" b="1" i="0" u="none" strike="noStrike" noProof="0">
                        <a:solidFill>
                          <a:srgbClr val="000000"/>
                        </a:solidFill>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3604296047"/>
                  </a:ext>
                </a:extLst>
              </a:tr>
              <a:tr h="351331">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spTree>
    <p:extLst>
      <p:ext uri="{BB962C8B-B14F-4D97-AF65-F5344CB8AC3E}">
        <p14:creationId xmlns:p14="http://schemas.microsoft.com/office/powerpoint/2010/main" val="23568846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35B5E-D881-2CBF-9A84-25C0627903BB}"/>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9C1D0B36-4724-7566-F44F-9D795EBBBD88}"/>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ea typeface="+mn-lt"/>
                <a:cs typeface="Poppins"/>
              </a:rPr>
              <a:t>Device </a:t>
            </a:r>
            <a:endParaRPr lang="en-GB" sz="6000" b="1">
              <a:solidFill>
                <a:srgbClr val="0070C0"/>
              </a:solidFill>
              <a:latin typeface="Poppins"/>
              <a:cs typeface="Poppins"/>
            </a:endParaRPr>
          </a:p>
          <a:p>
            <a:r>
              <a:rPr lang="en-GB" sz="2000" b="1">
                <a:solidFill>
                  <a:srgbClr val="000000"/>
                </a:solidFill>
                <a:latin typeface="Poppins"/>
                <a:ea typeface="+mn-lt"/>
                <a:cs typeface="Poppins"/>
              </a:rPr>
              <a:t>Device related issues</a:t>
            </a:r>
            <a:endParaRPr lang="en-GB"/>
          </a:p>
        </p:txBody>
      </p:sp>
      <p:graphicFrame>
        <p:nvGraphicFramePr>
          <p:cNvPr id="7" name="Table 6">
            <a:extLst>
              <a:ext uri="{FF2B5EF4-FFF2-40B4-BE49-F238E27FC236}">
                <a16:creationId xmlns:a16="http://schemas.microsoft.com/office/drawing/2014/main" id="{63C381C6-3FBE-4C49-2AE7-69391335A0FB}"/>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E0383914-D6FC-E118-2D9E-0A7D602D87CB}"/>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90EEBA43-F8DE-C72B-34D2-B9E1D3E14E65}"/>
              </a:ext>
            </a:extLst>
          </p:cNvPr>
          <p:cNvGraphicFramePr>
            <a:graphicFrameLocks noGrp="1"/>
          </p:cNvGraphicFramePr>
          <p:nvPr>
            <p:extLst>
              <p:ext uri="{D42A27DB-BD31-4B8C-83A1-F6EECF244321}">
                <p14:modId xmlns:p14="http://schemas.microsoft.com/office/powerpoint/2010/main" val="2235753393"/>
              </p:ext>
            </p:extLst>
          </p:nvPr>
        </p:nvGraphicFramePr>
        <p:xfrm>
          <a:off x="856636" y="420674"/>
          <a:ext cx="6913143" cy="6294931"/>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4375674">
                <a:tc>
                  <a:txBody>
                    <a:bodyPr/>
                    <a:lstStyle/>
                    <a:p>
                      <a:pPr lvl="0">
                        <a:buNone/>
                      </a:pPr>
                      <a:r>
                        <a:rPr lang="en-US" sz="1600" b="1" i="0" u="none" strike="noStrike" noProof="0">
                          <a:solidFill>
                            <a:srgbClr val="000000"/>
                          </a:solidFill>
                          <a:effectLst/>
                          <a:latin typeface="Poppins"/>
                          <a:cs typeface="Poppins"/>
                        </a:rPr>
                        <a:t>Issue:</a:t>
                      </a:r>
                      <a:endParaRPr lang="en-US">
                        <a:latin typeface="Poppins"/>
                        <a:cs typeface="Poppins"/>
                      </a:endParaRPr>
                    </a:p>
                    <a:p>
                      <a:pPr marL="0" lvl="0" indent="0">
                        <a:buNone/>
                      </a:pPr>
                      <a:r>
                        <a:rPr lang="en-US" sz="1600" b="1" i="0" u="none" strike="noStrike" noProof="0">
                          <a:solidFill>
                            <a:srgbClr val="000000"/>
                          </a:solidFill>
                          <a:effectLst/>
                          <a:latin typeface="Poppins"/>
                          <a:cs typeface="Poppins"/>
                        </a:rPr>
                        <a:t>Not charging</a:t>
                      </a:r>
                      <a:endParaRPr lang="en-US" b="1">
                        <a:latin typeface="Poppins"/>
                        <a:cs typeface="Poppins"/>
                      </a:endParaRPr>
                    </a:p>
                    <a:p>
                      <a:pPr marL="0" lvl="0" indent="0">
                        <a:buNone/>
                      </a:pPr>
                      <a:r>
                        <a:rPr lang="en-US" sz="1600" b="1" i="0" u="none" strike="noStrike" noProof="0">
                          <a:solidFill>
                            <a:srgbClr val="000000"/>
                          </a:solidFill>
                          <a:effectLst/>
                          <a:latin typeface="Poppins"/>
                          <a:cs typeface="Poppins"/>
                        </a:rPr>
                        <a:t>Ask checklist / TS</a:t>
                      </a:r>
                      <a:endParaRPr lang="en-US" sz="1600" b="1">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Connect to a different power outlets inside the house</a:t>
                      </a:r>
                      <a:endParaRPr lang="en-US" sz="1600" b="0" i="1"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Make sure the power cords are connected properly not loose</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Check the physical condition of the power cord</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Use different power cords</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Check for any physical damage and/ or any deterioration of the loop</a:t>
                      </a: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If loop still does not charge after TS, escalate to support</a:t>
                      </a:r>
                    </a:p>
                    <a:p>
                      <a:pPr marL="342900" lvl="0" indent="-342900" algn="l">
                        <a:lnSpc>
                          <a:spcPct val="100000"/>
                        </a:lnSpc>
                        <a:spcBef>
                          <a:spcPts val="0"/>
                        </a:spcBef>
                        <a:spcAft>
                          <a:spcPts val="0"/>
                        </a:spcAft>
                        <a:buAutoNum type="arabicPeriod"/>
                      </a:pPr>
                      <a:endParaRPr lang="en-US" sz="1600" b="1" i="0" u="none" strike="noStrike" noProof="0">
                        <a:solidFill>
                          <a:srgbClr val="000000"/>
                        </a:solidFill>
                        <a:effectLst/>
                        <a:latin typeface="Poppins"/>
                        <a:cs typeface="Poppins"/>
                      </a:endParaRPr>
                    </a:p>
                    <a:p>
                      <a:pPr marL="0" lvl="0" indent="0" algn="l">
                        <a:lnSpc>
                          <a:spcPct val="100000"/>
                        </a:lnSpc>
                        <a:spcBef>
                          <a:spcPts val="0"/>
                        </a:spcBef>
                        <a:spcAft>
                          <a:spcPts val="0"/>
                        </a:spcAft>
                        <a:buNone/>
                      </a:pPr>
                      <a:r>
                        <a:rPr lang="en-US" sz="1600" b="1" i="0" u="none" strike="noStrike" noProof="0">
                          <a:solidFill>
                            <a:srgbClr val="000000"/>
                          </a:solidFill>
                          <a:effectLst/>
                          <a:latin typeface="Poppins"/>
                          <a:cs typeface="Poppins"/>
                        </a:rPr>
                        <a:t>Fast Battery drain</a:t>
                      </a:r>
                    </a:p>
                    <a:p>
                      <a:pPr marL="0" lvl="0" indent="0">
                        <a:buNone/>
                      </a:pPr>
                      <a:r>
                        <a:rPr lang="en-US" sz="1600" b="1" i="0" u="none" strike="noStrike" noProof="0">
                          <a:solidFill>
                            <a:srgbClr val="000000"/>
                          </a:solidFill>
                          <a:effectLst/>
                          <a:latin typeface="Poppins"/>
                          <a:cs typeface="Poppins"/>
                        </a:rPr>
                        <a:t>Ask checklist / TS</a:t>
                      </a:r>
                      <a:endParaRPr lang="en-US">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Battery saver is turned off</a:t>
                      </a:r>
                      <a:endParaRPr lang="en-US">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Battery calibration done (charged 3 times, still depletes fast)</a:t>
                      </a:r>
                      <a:endParaRPr lang="en-US">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Tried a different power cable</a:t>
                      </a:r>
                      <a:endParaRPr lang="en-US">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Tried a different power outlet</a:t>
                      </a:r>
                      <a:endParaRPr lang="en-US">
                        <a:latin typeface="Poppins"/>
                        <a:cs typeface="Poppins"/>
                      </a:endParaRPr>
                    </a:p>
                    <a:p>
                      <a:pPr marL="342900" lvl="0" indent="-342900">
                        <a:buAutoNum type="arabicPeriod"/>
                      </a:pPr>
                      <a:r>
                        <a:rPr lang="en-US" sz="1600" b="0" i="0" u="none" strike="noStrike" noProof="0">
                          <a:solidFill>
                            <a:srgbClr val="000000"/>
                          </a:solidFill>
                          <a:effectLst/>
                          <a:latin typeface="Poppins"/>
                          <a:cs typeface="Poppins"/>
                        </a:rPr>
                        <a:t>Performed factory reset</a:t>
                      </a:r>
                    </a:p>
                    <a:p>
                      <a:pPr marL="342900" lvl="0" indent="-342900">
                        <a:buAutoNum type="arabicPeriod"/>
                      </a:pPr>
                      <a:r>
                        <a:rPr lang="en-US" sz="1600" b="0" i="0" u="none" strike="noStrike" noProof="0">
                          <a:solidFill>
                            <a:srgbClr val="000000"/>
                          </a:solidFill>
                          <a:effectLst/>
                          <a:latin typeface="Poppins"/>
                          <a:cs typeface="Poppins"/>
                        </a:rPr>
                        <a:t>Observe for 24 hours </a:t>
                      </a:r>
                    </a:p>
                    <a:p>
                      <a:pPr marL="342900" lvl="0" indent="-342900">
                        <a:buAutoNum type="arabicPeriod"/>
                      </a:pPr>
                      <a:r>
                        <a:rPr lang="en-US" sz="1600" b="0" i="0" u="none" strike="noStrike" noProof="0">
                          <a:solidFill>
                            <a:srgbClr val="000000"/>
                          </a:solidFill>
                          <a:effectLst/>
                          <a:latin typeface="Poppins"/>
                          <a:cs typeface="Poppins"/>
                        </a:rPr>
                        <a:t>if issue persists, escalate to support</a:t>
                      </a:r>
                      <a:endParaRPr lang="en-US">
                        <a:latin typeface="Poppins"/>
                        <a:cs typeface="Poppins"/>
                      </a:endParaRPr>
                    </a:p>
                    <a:p>
                      <a:pPr lvl="0">
                        <a:buNone/>
                      </a:pPr>
                      <a:endParaRPr lang="en-GB" sz="1600" b="1" i="0" u="none" strike="noStrike" noProof="0">
                        <a:solidFill>
                          <a:srgbClr val="000000"/>
                        </a:solidFill>
                        <a:effectLst/>
                        <a:latin typeface="Poppins"/>
                        <a:cs typeface="Poppins"/>
                      </a:endParaRPr>
                    </a:p>
                    <a:p>
                      <a:pPr lvl="0">
                        <a:buNone/>
                      </a:pPr>
                      <a:endParaRPr lang="en-GB" sz="1600" b="0" i="0" u="none" strike="noStrike" noProof="0">
                        <a:solidFill>
                          <a:srgbClr val="000000"/>
                        </a:solidFill>
                        <a:effectLst/>
                      </a:endParaRPr>
                    </a:p>
                    <a:p>
                      <a:pPr lvl="0">
                        <a:buNone/>
                      </a:pPr>
                      <a:endParaRPr lang="en-GB" sz="1600" b="0" i="0" u="none" strike="noStrike" noProof="0">
                        <a:solidFill>
                          <a:srgbClr val="000000"/>
                        </a:solidFill>
                        <a:effectLst/>
                      </a:endParaRPr>
                    </a:p>
                    <a:p>
                      <a:pPr lvl="0">
                        <a:buNone/>
                      </a:pPr>
                      <a:endParaRPr lang="en-GB" sz="1600" b="0" i="0" u="none" strike="noStrike" noProof="0">
                        <a:solidFill>
                          <a:srgbClr val="000000"/>
                        </a:solidFill>
                        <a:effectLst/>
                      </a:endParaRPr>
                    </a:p>
                  </a:txBody>
                  <a:tcPr>
                    <a:lnL>
                      <a:noFill/>
                    </a:lnL>
                    <a:lnR>
                      <a:noFill/>
                    </a:lnR>
                    <a:lnT>
                      <a:noFill/>
                    </a:lnT>
                    <a:lnB>
                      <a:noFill/>
                    </a:lnB>
                    <a:noFill/>
                  </a:tcPr>
                </a:tc>
                <a:extLst>
                  <a:ext uri="{0D108BD9-81ED-4DB2-BD59-A6C34878D82A}">
                    <a16:rowId xmlns:a16="http://schemas.microsoft.com/office/drawing/2014/main" val="3604296047"/>
                  </a:ext>
                </a:extLst>
              </a:tr>
              <a:tr h="351331">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sp>
        <p:nvSpPr>
          <p:cNvPr id="3" name="Shape 6">
            <a:extLst>
              <a:ext uri="{FF2B5EF4-FFF2-40B4-BE49-F238E27FC236}">
                <a16:creationId xmlns:a16="http://schemas.microsoft.com/office/drawing/2014/main" id="{4859EC2C-5EC1-4E8D-8178-A233FBD4BCDD}"/>
              </a:ext>
            </a:extLst>
          </p:cNvPr>
          <p:cNvSpPr/>
          <p:nvPr/>
        </p:nvSpPr>
        <p:spPr>
          <a:xfrm>
            <a:off x="8491048" y="4186599"/>
            <a:ext cx="3322609" cy="1153752"/>
          </a:xfrm>
          <a:prstGeom prst="roundRect">
            <a:avLst>
              <a:gd name="adj" fmla="val 6522"/>
            </a:avLst>
          </a:prstGeom>
          <a:solidFill>
            <a:srgbClr val="EAD6CA"/>
          </a:solidFill>
          <a:ln w="12700">
            <a:solidFill>
              <a:srgbClr val="EAD6CA">
                <a:alpha val="0"/>
              </a:srgbClr>
            </a:solidFill>
            <a:prstDash val="solid"/>
          </a:ln>
        </p:spPr>
        <p:txBody>
          <a:bodyPr lIns="91440" tIns="45720" rIns="91440" bIns="45720" anchor="t"/>
          <a:lstStyle/>
          <a:p>
            <a:r>
              <a:rPr lang="en-GB" sz="1600" b="1">
                <a:latin typeface="Poppins"/>
                <a:cs typeface="Poppins"/>
              </a:rPr>
              <a:t>NOTE: </a:t>
            </a:r>
            <a:r>
              <a:rPr lang="en-GB" sz="1600">
                <a:latin typeface="Poppins"/>
                <a:cs typeface="Poppins"/>
              </a:rPr>
              <a:t>If the customer has received the device faulty, proceed to: </a:t>
            </a:r>
            <a:endParaRPr lang="en-US">
              <a:latin typeface="Poppins"/>
              <a:cs typeface="Poppins"/>
            </a:endParaRPr>
          </a:p>
          <a:p>
            <a:r>
              <a:rPr lang="en-GB" sz="1600" b="1">
                <a:latin typeface="Poppins"/>
                <a:cs typeface="Poppins"/>
              </a:rPr>
              <a:t>Logistics -&gt; Replacements </a:t>
            </a:r>
            <a:endParaRPr lang="en-US" b="1">
              <a:latin typeface="Poppins"/>
              <a:cs typeface="Poppins"/>
            </a:endParaRPr>
          </a:p>
        </p:txBody>
      </p:sp>
    </p:spTree>
    <p:extLst>
      <p:ext uri="{BB962C8B-B14F-4D97-AF65-F5344CB8AC3E}">
        <p14:creationId xmlns:p14="http://schemas.microsoft.com/office/powerpoint/2010/main" val="14571644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7DAA9-374D-673A-7FCC-07C52504761D}"/>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89045DF6-46D9-07EB-76D1-0F7FFE8D35E9}"/>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ea typeface="+mn-lt"/>
                <a:cs typeface="Poppins"/>
              </a:rPr>
              <a:t>Device </a:t>
            </a:r>
            <a:endParaRPr lang="en-GB" sz="6000" b="1">
              <a:solidFill>
                <a:srgbClr val="0070C0"/>
              </a:solidFill>
              <a:latin typeface="Poppins"/>
              <a:cs typeface="Poppins"/>
            </a:endParaRPr>
          </a:p>
          <a:p>
            <a:r>
              <a:rPr lang="en-GB" sz="2000" b="1">
                <a:solidFill>
                  <a:srgbClr val="000000"/>
                </a:solidFill>
                <a:latin typeface="Poppins"/>
                <a:ea typeface="+mn-lt"/>
                <a:cs typeface="Poppins"/>
              </a:rPr>
              <a:t>Device related issues</a:t>
            </a:r>
            <a:endParaRPr lang="en-GB"/>
          </a:p>
        </p:txBody>
      </p:sp>
      <p:graphicFrame>
        <p:nvGraphicFramePr>
          <p:cNvPr id="7" name="Table 6">
            <a:extLst>
              <a:ext uri="{FF2B5EF4-FFF2-40B4-BE49-F238E27FC236}">
                <a16:creationId xmlns:a16="http://schemas.microsoft.com/office/drawing/2014/main" id="{41FAD051-279C-6F12-0082-9062EDD413E3}"/>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366C4FF8-C41D-69F4-2269-6C7008239A7E}"/>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5E2932FF-39D8-A84D-EED0-3E6BF1C84A46}"/>
              </a:ext>
            </a:extLst>
          </p:cNvPr>
          <p:cNvGraphicFramePr>
            <a:graphicFrameLocks noGrp="1"/>
          </p:cNvGraphicFramePr>
          <p:nvPr>
            <p:extLst>
              <p:ext uri="{D42A27DB-BD31-4B8C-83A1-F6EECF244321}">
                <p14:modId xmlns:p14="http://schemas.microsoft.com/office/powerpoint/2010/main" val="983401364"/>
              </p:ext>
            </p:extLst>
          </p:nvPr>
        </p:nvGraphicFramePr>
        <p:xfrm>
          <a:off x="1049547" y="208471"/>
          <a:ext cx="6913143" cy="7498080"/>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5819081">
                <a:tc>
                  <a:txBody>
                    <a:bodyPr/>
                    <a:lstStyle/>
                    <a:p>
                      <a:pPr lvl="0">
                        <a:buNone/>
                      </a:pPr>
                      <a:r>
                        <a:rPr lang="en-US" sz="1600" b="1" i="0" u="none" strike="noStrike" noProof="0">
                          <a:solidFill>
                            <a:srgbClr val="000000"/>
                          </a:solidFill>
                          <a:effectLst/>
                          <a:latin typeface="Poppins"/>
                          <a:cs typeface="Poppins"/>
                        </a:rPr>
                        <a:t>Issue:</a:t>
                      </a:r>
                      <a:endParaRPr lang="en-US" sz="1600">
                        <a:latin typeface="Poppins"/>
                        <a:cs typeface="Poppins"/>
                      </a:endParaRPr>
                    </a:p>
                    <a:p>
                      <a:pPr lvl="0" algn="l">
                        <a:lnSpc>
                          <a:spcPct val="100000"/>
                        </a:lnSpc>
                        <a:spcBef>
                          <a:spcPts val="0"/>
                        </a:spcBef>
                        <a:spcAft>
                          <a:spcPts val="0"/>
                        </a:spcAft>
                        <a:buNone/>
                      </a:pPr>
                      <a:r>
                        <a:rPr lang="en-US" sz="1600" b="1" i="0" u="none" strike="noStrike" noProof="0">
                          <a:solidFill>
                            <a:srgbClr val="000000"/>
                          </a:solidFill>
                          <a:effectLst/>
                          <a:latin typeface="Poppins"/>
                          <a:cs typeface="Poppins"/>
                        </a:rPr>
                        <a:t>No Sound, Crashing, Constant reboot</a:t>
                      </a:r>
                      <a:endParaRPr lang="en-US" sz="1600" b="1">
                        <a:latin typeface="Poppins"/>
                        <a:cs typeface="Poppins"/>
                      </a:endParaRPr>
                    </a:p>
                    <a:p>
                      <a:pPr lvl="0">
                        <a:buNone/>
                      </a:pPr>
                      <a:r>
                        <a:rPr lang="en-US" sz="1600" b="1" i="0" u="none" strike="noStrike" noProof="0">
                          <a:solidFill>
                            <a:srgbClr val="000000"/>
                          </a:solidFill>
                          <a:effectLst/>
                          <a:latin typeface="Poppins"/>
                          <a:cs typeface="Poppins"/>
                        </a:rPr>
                        <a:t>Ask checklist / TS</a:t>
                      </a:r>
                      <a:endParaRPr lang="en-GB"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Reboot</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Factory reset</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Navigate the Loop Device</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Turn on the </a:t>
                      </a:r>
                      <a:r>
                        <a:rPr lang="en-US" sz="1600" b="0" i="0" u="none" strike="noStrike" noProof="0" err="1">
                          <a:solidFill>
                            <a:srgbClr val="000000"/>
                          </a:solidFill>
                          <a:effectLst/>
                          <a:latin typeface="Poppins"/>
                          <a:cs typeface="Poppins"/>
                        </a:rPr>
                        <a:t>LoopDL</a:t>
                      </a:r>
                      <a:r>
                        <a:rPr lang="en-US" sz="1600" b="0" i="0" u="none" strike="noStrike" noProof="0">
                          <a:solidFill>
                            <a:srgbClr val="000000"/>
                          </a:solidFill>
                          <a:effectLst/>
                          <a:latin typeface="Poppins"/>
                          <a:cs typeface="Poppins"/>
                        </a:rPr>
                        <a:t> device.</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Open the Settings menu.</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Navigate to System &gt; Reset options.</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Select Erase all data (factory reset).</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Confirm the action to start the reset. </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If the device is unresponsive, follow these steps:</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Ensure the device is powered off.</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Press and hold the Power button and Volume Up button simultaneously for several seconds.</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When the Android recovery menu appears, use the volume buttons to navigate to "Wipe data/factory reset".</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Press the Power button to confirm.</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Select "Yes" or "Factory data reset" to confirm, then choose "Reboot system now" once completed. </a:t>
                      </a: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If issue persists, escalate to support</a:t>
                      </a:r>
                    </a:p>
                    <a:p>
                      <a:pPr marL="342900" lvl="0" indent="-342900" algn="l">
                        <a:lnSpc>
                          <a:spcPct val="100000"/>
                        </a:lnSpc>
                        <a:spcBef>
                          <a:spcPts val="0"/>
                        </a:spcBef>
                        <a:spcAft>
                          <a:spcPts val="0"/>
                        </a:spcAft>
                        <a:buAutoNum type="arabicPeriod"/>
                      </a:pPr>
                      <a:endParaRPr lang="en-US" sz="1600" b="0" i="0" u="none" strike="noStrike" noProof="0">
                        <a:solidFill>
                          <a:srgbClr val="000000"/>
                        </a:solidFill>
                        <a:effectLst/>
                        <a:latin typeface="Poppins"/>
                        <a:cs typeface="Poppins"/>
                      </a:endParaRPr>
                    </a:p>
                    <a:p>
                      <a:pPr lvl="0" algn="l">
                        <a:lnSpc>
                          <a:spcPct val="100000"/>
                        </a:lnSpc>
                        <a:spcBef>
                          <a:spcPts val="0"/>
                        </a:spcBef>
                        <a:spcAft>
                          <a:spcPts val="0"/>
                        </a:spcAft>
                        <a:buNone/>
                      </a:pPr>
                      <a:r>
                        <a:rPr lang="en-US" sz="1600" b="1" i="0" u="none" strike="noStrike" noProof="0">
                          <a:solidFill>
                            <a:srgbClr val="000000"/>
                          </a:solidFill>
                          <a:effectLst/>
                          <a:latin typeface="Poppins"/>
                          <a:cs typeface="Poppins"/>
                        </a:rPr>
                        <a:t>Disclosure:</a:t>
                      </a:r>
                      <a:r>
                        <a:rPr lang="en-US" sz="1600" b="0" i="0" u="none" strike="noStrike" noProof="0">
                          <a:solidFill>
                            <a:srgbClr val="000000"/>
                          </a:solidFill>
                          <a:effectLst/>
                          <a:latin typeface="Poppins"/>
                          <a:cs typeface="Poppins"/>
                        </a:rPr>
                        <a:t> A factory reset will erase all stored data, custom settings, and Wi-Fi configurations, returning the device to its original state. </a:t>
                      </a:r>
                      <a:endParaRPr lang="en-US">
                        <a:latin typeface="Poppins"/>
                        <a:cs typeface="Poppins"/>
                      </a:endParaRPr>
                    </a:p>
                    <a:p>
                      <a:pPr lvl="0">
                        <a:buNone/>
                      </a:pPr>
                      <a:endParaRPr lang="en-US" sz="1600" b="1" i="0" u="none" strike="noStrike" noProof="0">
                        <a:solidFill>
                          <a:srgbClr val="000000"/>
                        </a:solidFill>
                        <a:effectLst/>
                        <a:latin typeface="Poppins"/>
                        <a:cs typeface="Poppins"/>
                      </a:endParaRPr>
                    </a:p>
                    <a:p>
                      <a:pPr lvl="0">
                        <a:buNone/>
                      </a:pPr>
                      <a:endParaRPr lang="en-GB" sz="1600" b="0" i="0" u="none" strike="noStrike" noProof="0">
                        <a:solidFill>
                          <a:srgbClr val="000000"/>
                        </a:solidFill>
                        <a:effectLst/>
                      </a:endParaRPr>
                    </a:p>
                    <a:p>
                      <a:pPr lvl="0">
                        <a:buNone/>
                      </a:pPr>
                      <a:endParaRPr lang="en-GB" sz="1600" b="0" i="0" u="none" strike="noStrike" noProof="0">
                        <a:solidFill>
                          <a:srgbClr val="000000"/>
                        </a:solidFill>
                        <a:effectLst/>
                      </a:endParaRPr>
                    </a:p>
                    <a:p>
                      <a:pPr lvl="0">
                        <a:buNone/>
                      </a:pPr>
                      <a:endParaRPr lang="en-GB" sz="1600" b="0" i="0" u="none" strike="noStrike" noProof="0">
                        <a:solidFill>
                          <a:srgbClr val="000000"/>
                        </a:solidFill>
                        <a:effectLst/>
                      </a:endParaRPr>
                    </a:p>
                  </a:txBody>
                  <a:tcPr>
                    <a:lnL>
                      <a:noFill/>
                    </a:lnL>
                    <a:lnR>
                      <a:noFill/>
                    </a:lnR>
                    <a:lnT>
                      <a:noFill/>
                    </a:lnT>
                    <a:lnB>
                      <a:noFill/>
                    </a:lnB>
                    <a:noFill/>
                  </a:tcPr>
                </a:tc>
                <a:extLst>
                  <a:ext uri="{0D108BD9-81ED-4DB2-BD59-A6C34878D82A}">
                    <a16:rowId xmlns:a16="http://schemas.microsoft.com/office/drawing/2014/main" val="3604296047"/>
                  </a:ext>
                </a:extLst>
              </a:tr>
              <a:tr h="302682">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sp>
        <p:nvSpPr>
          <p:cNvPr id="3" name="Shape 6">
            <a:extLst>
              <a:ext uri="{FF2B5EF4-FFF2-40B4-BE49-F238E27FC236}">
                <a16:creationId xmlns:a16="http://schemas.microsoft.com/office/drawing/2014/main" id="{38B2C19E-0DBC-BF42-84C4-3F3E07146976}"/>
              </a:ext>
            </a:extLst>
          </p:cNvPr>
          <p:cNvSpPr/>
          <p:nvPr/>
        </p:nvSpPr>
        <p:spPr>
          <a:xfrm>
            <a:off x="8491048" y="4186599"/>
            <a:ext cx="3322609" cy="1153752"/>
          </a:xfrm>
          <a:prstGeom prst="roundRect">
            <a:avLst>
              <a:gd name="adj" fmla="val 6522"/>
            </a:avLst>
          </a:prstGeom>
          <a:solidFill>
            <a:srgbClr val="EAD6CA"/>
          </a:solidFill>
          <a:ln w="12700">
            <a:solidFill>
              <a:srgbClr val="EAD6CA">
                <a:alpha val="0"/>
              </a:srgbClr>
            </a:solidFill>
            <a:prstDash val="solid"/>
          </a:ln>
        </p:spPr>
        <p:txBody>
          <a:bodyPr lIns="91440" tIns="45720" rIns="91440" bIns="45720" anchor="t"/>
          <a:lstStyle/>
          <a:p>
            <a:r>
              <a:rPr lang="en-GB" sz="1600" b="1">
                <a:latin typeface="Poppins"/>
                <a:cs typeface="Poppins"/>
              </a:rPr>
              <a:t>NOTE: </a:t>
            </a:r>
            <a:r>
              <a:rPr lang="en-GB" sz="1600">
                <a:latin typeface="Poppins"/>
                <a:cs typeface="Poppins"/>
              </a:rPr>
              <a:t>If the customer has received the device faulty, proceed to: </a:t>
            </a:r>
            <a:endParaRPr lang="en-US">
              <a:latin typeface="Poppins"/>
              <a:cs typeface="Poppins"/>
            </a:endParaRPr>
          </a:p>
          <a:p>
            <a:r>
              <a:rPr lang="en-GB" sz="1600" b="1">
                <a:latin typeface="Poppins"/>
                <a:cs typeface="Poppins"/>
              </a:rPr>
              <a:t>Logistics -&gt; Replacements </a:t>
            </a:r>
            <a:endParaRPr lang="en-US" b="1">
              <a:latin typeface="Poppins"/>
              <a:cs typeface="Poppins"/>
            </a:endParaRPr>
          </a:p>
        </p:txBody>
      </p:sp>
    </p:spTree>
    <p:extLst>
      <p:ext uri="{BB962C8B-B14F-4D97-AF65-F5344CB8AC3E}">
        <p14:creationId xmlns:p14="http://schemas.microsoft.com/office/powerpoint/2010/main" val="40252092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F3177-006B-B770-318C-7B5675628376}"/>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B5F1BDF0-5958-0272-3192-16E31DC343BB}"/>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ea typeface="+mn-lt"/>
                <a:cs typeface="Poppins"/>
              </a:rPr>
              <a:t>Device </a:t>
            </a:r>
            <a:endParaRPr lang="en-GB" sz="6000" b="1">
              <a:solidFill>
                <a:srgbClr val="0070C0"/>
              </a:solidFill>
              <a:latin typeface="Poppins"/>
              <a:cs typeface="Poppins"/>
            </a:endParaRPr>
          </a:p>
          <a:p>
            <a:r>
              <a:rPr lang="en-GB" sz="2000" b="1">
                <a:solidFill>
                  <a:srgbClr val="000000"/>
                </a:solidFill>
                <a:latin typeface="Poppins"/>
                <a:ea typeface="+mn-lt"/>
                <a:cs typeface="Poppins"/>
              </a:rPr>
              <a:t>Device related issues</a:t>
            </a:r>
            <a:endParaRPr lang="en-GB"/>
          </a:p>
        </p:txBody>
      </p:sp>
      <p:graphicFrame>
        <p:nvGraphicFramePr>
          <p:cNvPr id="7" name="Table 6">
            <a:extLst>
              <a:ext uri="{FF2B5EF4-FFF2-40B4-BE49-F238E27FC236}">
                <a16:creationId xmlns:a16="http://schemas.microsoft.com/office/drawing/2014/main" id="{016C53D5-DC36-F185-F523-3158D182B783}"/>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58A9FEF7-253D-22F8-8CB9-40F38D46A859}"/>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068BD929-268A-7D9F-2ECD-0C396B351F5F}"/>
              </a:ext>
            </a:extLst>
          </p:cNvPr>
          <p:cNvGraphicFramePr>
            <a:graphicFrameLocks noGrp="1"/>
          </p:cNvGraphicFramePr>
          <p:nvPr>
            <p:extLst>
              <p:ext uri="{D42A27DB-BD31-4B8C-83A1-F6EECF244321}">
                <p14:modId xmlns:p14="http://schemas.microsoft.com/office/powerpoint/2010/main" val="2333369368"/>
              </p:ext>
            </p:extLst>
          </p:nvPr>
        </p:nvGraphicFramePr>
        <p:xfrm>
          <a:off x="1049547" y="2127939"/>
          <a:ext cx="6913143" cy="3352800"/>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2636845">
                <a:tc>
                  <a:txBody>
                    <a:bodyPr/>
                    <a:lstStyle/>
                    <a:p>
                      <a:pPr lvl="0">
                        <a:buNone/>
                      </a:pPr>
                      <a:r>
                        <a:rPr lang="en-US" sz="1600" b="1" i="0" u="none" strike="noStrike" noProof="0">
                          <a:solidFill>
                            <a:srgbClr val="000000"/>
                          </a:solidFill>
                          <a:effectLst/>
                          <a:latin typeface="Poppins"/>
                          <a:cs typeface="Poppins"/>
                        </a:rPr>
                        <a:t>Issue:</a:t>
                      </a:r>
                      <a:endParaRPr lang="en-US" sz="1600">
                        <a:latin typeface="Poppins"/>
                        <a:cs typeface="Poppins"/>
                      </a:endParaRPr>
                    </a:p>
                    <a:p>
                      <a:pPr lvl="0" algn="l">
                        <a:lnSpc>
                          <a:spcPct val="100000"/>
                        </a:lnSpc>
                        <a:spcBef>
                          <a:spcPts val="0"/>
                        </a:spcBef>
                        <a:spcAft>
                          <a:spcPts val="0"/>
                        </a:spcAft>
                        <a:buNone/>
                      </a:pPr>
                      <a:r>
                        <a:rPr lang="en-US" sz="1600" b="1" i="0" u="none" strike="noStrike" noProof="0">
                          <a:solidFill>
                            <a:srgbClr val="000000"/>
                          </a:solidFill>
                          <a:effectLst/>
                          <a:latin typeface="Poppins"/>
                          <a:cs typeface="Poppins"/>
                        </a:rPr>
                        <a:t>Application issue</a:t>
                      </a:r>
                      <a:endParaRPr lang="en-US" sz="1600" b="1">
                        <a:latin typeface="Poppins"/>
                        <a:cs typeface="Poppins"/>
                      </a:endParaRPr>
                    </a:p>
                    <a:p>
                      <a:pPr lvl="0">
                        <a:buNone/>
                      </a:pPr>
                      <a:r>
                        <a:rPr lang="en-US" sz="1600" b="1" i="0" u="none" strike="noStrike" noProof="0">
                          <a:solidFill>
                            <a:srgbClr val="000000"/>
                          </a:solidFill>
                          <a:effectLst/>
                          <a:latin typeface="Poppins"/>
                          <a:cs typeface="Poppins"/>
                        </a:rPr>
                        <a:t>Ask checklist / TS</a:t>
                      </a:r>
                      <a:endParaRPr lang="en-GB" sz="1600">
                        <a:latin typeface="Poppins"/>
                        <a:cs typeface="Poppins"/>
                      </a:endParaRPr>
                    </a:p>
                    <a:p>
                      <a:pPr lvl="0">
                        <a:buNone/>
                      </a:pPr>
                      <a:endParaRPr lang="en-US" sz="1600" b="1" i="0" u="none" strike="noStrike" noProof="0">
                        <a:solidFill>
                          <a:srgbClr val="000000"/>
                        </a:solidFill>
                        <a:effectLst/>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Uninstall/Install</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Reboot</a:t>
                      </a:r>
                      <a:endParaRPr lang="en-US" sz="1600">
                        <a:latin typeface="Poppins"/>
                        <a:cs typeface="Poppins"/>
                      </a:endParaRP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Factory Reset</a:t>
                      </a:r>
                    </a:p>
                    <a:p>
                      <a:pPr marL="342900" lvl="0" indent="-342900" algn="l">
                        <a:lnSpc>
                          <a:spcPct val="100000"/>
                        </a:lnSpc>
                        <a:spcBef>
                          <a:spcPts val="0"/>
                        </a:spcBef>
                        <a:spcAft>
                          <a:spcPts val="0"/>
                        </a:spcAft>
                        <a:buAutoNum type="arabicPeriod"/>
                      </a:pPr>
                      <a:r>
                        <a:rPr lang="en-US" sz="1600" b="0" i="0" u="none" strike="noStrike" noProof="0">
                          <a:solidFill>
                            <a:srgbClr val="000000"/>
                          </a:solidFill>
                          <a:effectLst/>
                          <a:latin typeface="Poppins"/>
                          <a:cs typeface="Poppins"/>
                        </a:rPr>
                        <a:t>If issue persists, escalate to support</a:t>
                      </a:r>
                    </a:p>
                    <a:p>
                      <a:pPr lvl="0">
                        <a:buNone/>
                      </a:pPr>
                      <a:endParaRPr lang="en-US" sz="1600" b="1" i="0" u="none" strike="noStrike" noProof="0">
                        <a:solidFill>
                          <a:srgbClr val="000000"/>
                        </a:solidFill>
                        <a:effectLst/>
                        <a:latin typeface="Poppins"/>
                        <a:cs typeface="Poppins"/>
                      </a:endParaRPr>
                    </a:p>
                    <a:p>
                      <a:pPr lvl="0">
                        <a:buNone/>
                      </a:pPr>
                      <a:endParaRPr lang="en-GB" sz="1600" b="0" i="0" u="none" strike="noStrike" noProof="0">
                        <a:solidFill>
                          <a:srgbClr val="000000"/>
                        </a:solidFill>
                        <a:effectLst/>
                      </a:endParaRPr>
                    </a:p>
                    <a:p>
                      <a:pPr lvl="0">
                        <a:buNone/>
                      </a:pPr>
                      <a:endParaRPr lang="en-GB" sz="1600" b="0" i="0" u="none" strike="noStrike" noProof="0">
                        <a:solidFill>
                          <a:srgbClr val="000000"/>
                        </a:solidFill>
                        <a:effectLst/>
                      </a:endParaRPr>
                    </a:p>
                    <a:p>
                      <a:pPr lvl="0">
                        <a:buNone/>
                      </a:pPr>
                      <a:endParaRPr lang="en-GB" sz="1600" b="0" i="0" u="none" strike="noStrike" noProof="0">
                        <a:solidFill>
                          <a:srgbClr val="000000"/>
                        </a:solidFill>
                        <a:effectLst/>
                      </a:endParaRPr>
                    </a:p>
                  </a:txBody>
                  <a:tcPr>
                    <a:lnL>
                      <a:noFill/>
                    </a:lnL>
                    <a:lnR>
                      <a:noFill/>
                    </a:lnR>
                    <a:lnT>
                      <a:noFill/>
                    </a:lnT>
                    <a:lnB>
                      <a:noFill/>
                    </a:lnB>
                    <a:noFill/>
                  </a:tcPr>
                </a:tc>
                <a:extLst>
                  <a:ext uri="{0D108BD9-81ED-4DB2-BD59-A6C34878D82A}">
                    <a16:rowId xmlns:a16="http://schemas.microsoft.com/office/drawing/2014/main" val="3604296047"/>
                  </a:ext>
                </a:extLst>
              </a:tr>
              <a:tr h="151916">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sp>
        <p:nvSpPr>
          <p:cNvPr id="3" name="Shape 6">
            <a:extLst>
              <a:ext uri="{FF2B5EF4-FFF2-40B4-BE49-F238E27FC236}">
                <a16:creationId xmlns:a16="http://schemas.microsoft.com/office/drawing/2014/main" id="{F2BA9904-32C2-CB0D-9482-0E712333A757}"/>
              </a:ext>
            </a:extLst>
          </p:cNvPr>
          <p:cNvSpPr/>
          <p:nvPr/>
        </p:nvSpPr>
        <p:spPr>
          <a:xfrm>
            <a:off x="8491048" y="4186599"/>
            <a:ext cx="3322609" cy="1153752"/>
          </a:xfrm>
          <a:prstGeom prst="roundRect">
            <a:avLst>
              <a:gd name="adj" fmla="val 6522"/>
            </a:avLst>
          </a:prstGeom>
          <a:solidFill>
            <a:srgbClr val="EAD6CA"/>
          </a:solidFill>
          <a:ln w="12700">
            <a:solidFill>
              <a:srgbClr val="EAD6CA">
                <a:alpha val="0"/>
              </a:srgbClr>
            </a:solidFill>
            <a:prstDash val="solid"/>
          </a:ln>
        </p:spPr>
        <p:txBody>
          <a:bodyPr lIns="91440" tIns="45720" rIns="91440" bIns="45720" anchor="t"/>
          <a:lstStyle/>
          <a:p>
            <a:r>
              <a:rPr lang="en-GB" sz="1600" b="1">
                <a:latin typeface="Poppins"/>
                <a:cs typeface="Poppins"/>
              </a:rPr>
              <a:t>NOTE: </a:t>
            </a:r>
            <a:r>
              <a:rPr lang="en-GB" sz="1600">
                <a:latin typeface="Poppins"/>
                <a:cs typeface="Poppins"/>
              </a:rPr>
              <a:t>If the customer has received the device faulty, proceed to: </a:t>
            </a:r>
            <a:endParaRPr lang="en-US">
              <a:latin typeface="Poppins"/>
              <a:cs typeface="Poppins"/>
            </a:endParaRPr>
          </a:p>
          <a:p>
            <a:r>
              <a:rPr lang="en-GB" sz="1600" b="1">
                <a:latin typeface="Poppins"/>
                <a:cs typeface="Poppins"/>
              </a:rPr>
              <a:t>Logistics -&gt; Replacements </a:t>
            </a:r>
            <a:endParaRPr lang="en-US" b="1">
              <a:latin typeface="Poppins"/>
              <a:cs typeface="Poppins"/>
            </a:endParaRPr>
          </a:p>
        </p:txBody>
      </p:sp>
    </p:spTree>
    <p:extLst>
      <p:ext uri="{BB962C8B-B14F-4D97-AF65-F5344CB8AC3E}">
        <p14:creationId xmlns:p14="http://schemas.microsoft.com/office/powerpoint/2010/main" val="133191391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16118-8988-8FAE-FE08-C292BA4810DB}"/>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BD116578-42A6-1FA4-0463-F51EC0324012}"/>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ea typeface="+mn-lt"/>
                <a:cs typeface="Poppins"/>
              </a:rPr>
              <a:t>No issue</a:t>
            </a:r>
            <a:endParaRPr lang="en-GB" sz="6000" b="1">
              <a:solidFill>
                <a:srgbClr val="0070C0"/>
              </a:solidFill>
              <a:latin typeface="Poppins"/>
              <a:cs typeface="Poppins"/>
            </a:endParaRPr>
          </a:p>
          <a:p>
            <a:r>
              <a:rPr lang="en-GB" sz="2000" b="1">
                <a:solidFill>
                  <a:srgbClr val="000000"/>
                </a:solidFill>
                <a:latin typeface="Poppins"/>
                <a:ea typeface="+mn-lt"/>
                <a:cs typeface="Poppins"/>
              </a:rPr>
              <a:t>No issue stated on the ticket</a:t>
            </a:r>
            <a:endParaRPr lang="en-GB"/>
          </a:p>
        </p:txBody>
      </p:sp>
      <p:graphicFrame>
        <p:nvGraphicFramePr>
          <p:cNvPr id="7" name="Table 6">
            <a:extLst>
              <a:ext uri="{FF2B5EF4-FFF2-40B4-BE49-F238E27FC236}">
                <a16:creationId xmlns:a16="http://schemas.microsoft.com/office/drawing/2014/main" id="{346F9646-2C45-383A-1720-A0CB43BCC0C3}"/>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5C69622F-2CF9-BA74-7C66-B2711A75C4BD}"/>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B5868CFE-05BA-7EEF-A6A5-BFC6BF939759}"/>
              </a:ext>
            </a:extLst>
          </p:cNvPr>
          <p:cNvGraphicFramePr>
            <a:graphicFrameLocks noGrp="1"/>
          </p:cNvGraphicFramePr>
          <p:nvPr>
            <p:extLst>
              <p:ext uri="{D42A27DB-BD31-4B8C-83A1-F6EECF244321}">
                <p14:modId xmlns:p14="http://schemas.microsoft.com/office/powerpoint/2010/main" val="347981967"/>
              </p:ext>
            </p:extLst>
          </p:nvPr>
        </p:nvGraphicFramePr>
        <p:xfrm>
          <a:off x="818053" y="1713180"/>
          <a:ext cx="6913143" cy="3345890"/>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3010610">
                <a:tc>
                  <a:txBody>
                    <a:bodyPr/>
                    <a:lstStyle/>
                    <a:p>
                      <a:pPr lvl="0" algn="l">
                        <a:lnSpc>
                          <a:spcPct val="100000"/>
                        </a:lnSpc>
                        <a:spcBef>
                          <a:spcPts val="0"/>
                        </a:spcBef>
                        <a:spcAft>
                          <a:spcPts val="0"/>
                        </a:spcAft>
                        <a:buNone/>
                      </a:pPr>
                      <a:r>
                        <a:rPr lang="en-US" sz="1600" b="1" i="0" u="none" strike="noStrike" noProof="0">
                          <a:solidFill>
                            <a:srgbClr val="000000"/>
                          </a:solidFill>
                          <a:effectLst/>
                        </a:rPr>
                        <a:t>Issues:</a:t>
                      </a:r>
                    </a:p>
                    <a:p>
                      <a:pPr lvl="0" algn="l">
                        <a:lnSpc>
                          <a:spcPct val="100000"/>
                        </a:lnSpc>
                        <a:spcBef>
                          <a:spcPts val="0"/>
                        </a:spcBef>
                        <a:spcAft>
                          <a:spcPts val="0"/>
                        </a:spcAft>
                        <a:buNone/>
                      </a:pPr>
                      <a:r>
                        <a:rPr lang="en-US" sz="1600" b="0" i="0" u="none" strike="noStrike" noProof="0">
                          <a:solidFill>
                            <a:srgbClr val="000000"/>
                          </a:solidFill>
                          <a:effectLst/>
                        </a:rPr>
                        <a:t>The customer is requesting not to be called; wants email communication only</a:t>
                      </a:r>
                      <a:endParaRPr lang="en-US"/>
                    </a:p>
                    <a:p>
                      <a:pPr marL="285750" lvl="0" indent="-285750" algn="l">
                        <a:lnSpc>
                          <a:spcPct val="100000"/>
                        </a:lnSpc>
                        <a:spcBef>
                          <a:spcPts val="0"/>
                        </a:spcBef>
                        <a:spcAft>
                          <a:spcPts val="0"/>
                        </a:spcAft>
                        <a:buFont typeface="Arial"/>
                        <a:buChar char="•"/>
                      </a:pPr>
                      <a:r>
                        <a:rPr lang="en-US" sz="1600" b="0" i="0" u="none" strike="noStrike" noProof="0">
                          <a:solidFill>
                            <a:srgbClr val="000000"/>
                          </a:solidFill>
                          <a:effectLst/>
                        </a:rPr>
                        <a:t>Make one call attempt </a:t>
                      </a:r>
                      <a:endParaRPr lang="en-US"/>
                    </a:p>
                    <a:p>
                      <a:pPr marL="285750" lvl="0" indent="-285750" algn="l">
                        <a:lnSpc>
                          <a:spcPct val="100000"/>
                        </a:lnSpc>
                        <a:spcBef>
                          <a:spcPts val="0"/>
                        </a:spcBef>
                        <a:spcAft>
                          <a:spcPts val="0"/>
                        </a:spcAft>
                        <a:buFont typeface="Arial"/>
                        <a:buChar char="•"/>
                      </a:pPr>
                      <a:r>
                        <a:rPr lang="en-US" sz="1600" b="0" i="0" u="none" strike="noStrike" noProof="0">
                          <a:solidFill>
                            <a:srgbClr val="000000"/>
                          </a:solidFill>
                          <a:effectLst/>
                        </a:rPr>
                        <a:t>if unanswered, Escalate to Support</a:t>
                      </a:r>
                      <a:endParaRPr lang="en-US"/>
                    </a:p>
                    <a:p>
                      <a:pPr marL="285750" lvl="0" indent="-285750" algn="l">
                        <a:lnSpc>
                          <a:spcPct val="100000"/>
                        </a:lnSpc>
                        <a:spcBef>
                          <a:spcPts val="0"/>
                        </a:spcBef>
                        <a:spcAft>
                          <a:spcPts val="0"/>
                        </a:spcAft>
                        <a:buFont typeface="Arial"/>
                        <a:buChar char="•"/>
                      </a:pPr>
                      <a:r>
                        <a:rPr lang="en-US" sz="1600" b="0" i="0" u="none" strike="noStrike" noProof="0">
                          <a:solidFill>
                            <a:srgbClr val="000000"/>
                          </a:solidFill>
                          <a:effectLst/>
                        </a:rPr>
                        <a:t>If customer mentioned a concern, go to the guide for the said issue and try to resolve the it.</a:t>
                      </a:r>
                    </a:p>
                  </a:txBody>
                  <a:tcPr>
                    <a:lnL>
                      <a:noFill/>
                    </a:lnL>
                    <a:lnR>
                      <a:noFill/>
                    </a:lnR>
                    <a:lnT>
                      <a:noFill/>
                    </a:lnT>
                    <a:lnB>
                      <a:noFill/>
                    </a:lnB>
                    <a:noFill/>
                  </a:tcPr>
                </a:tc>
                <a:extLst>
                  <a:ext uri="{0D108BD9-81ED-4DB2-BD59-A6C34878D82A}">
                    <a16:rowId xmlns:a16="http://schemas.microsoft.com/office/drawing/2014/main" val="3604296047"/>
                  </a:ext>
                </a:extLst>
              </a:tr>
              <a:tr h="173451">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spTree>
    <p:extLst>
      <p:ext uri="{BB962C8B-B14F-4D97-AF65-F5344CB8AC3E}">
        <p14:creationId xmlns:p14="http://schemas.microsoft.com/office/powerpoint/2010/main" val="224640608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08A73-2AD0-80E7-8D33-D0647D2C4122}"/>
            </a:ext>
          </a:extLst>
        </p:cNvPr>
        <p:cNvGrpSpPr/>
        <p:nvPr/>
      </p:nvGrpSpPr>
      <p:grpSpPr>
        <a:xfrm>
          <a:off x="0" y="0"/>
          <a:ext cx="0" cy="0"/>
          <a:chOff x="0" y="0"/>
          <a:chExt cx="0" cy="0"/>
        </a:xfrm>
      </p:grpSpPr>
      <p:sp>
        <p:nvSpPr>
          <p:cNvPr id="5" name="Shape 2">
            <a:extLst>
              <a:ext uri="{FF2B5EF4-FFF2-40B4-BE49-F238E27FC236}">
                <a16:creationId xmlns:a16="http://schemas.microsoft.com/office/drawing/2014/main" id="{A53EC81D-E423-F664-ED86-242783FD758C}"/>
              </a:ext>
            </a:extLst>
          </p:cNvPr>
          <p:cNvSpPr/>
          <p:nvPr/>
        </p:nvSpPr>
        <p:spPr>
          <a:xfrm>
            <a:off x="8311838" y="0"/>
            <a:ext cx="3879857" cy="6858000"/>
          </a:xfrm>
          <a:prstGeom prst="rect">
            <a:avLst/>
          </a:prstGeom>
          <a:solidFill>
            <a:srgbClr val="C2CECF"/>
          </a:solidFill>
          <a:ln w="12700">
            <a:solidFill>
              <a:srgbClr val="C2CECF">
                <a:alpha val="0"/>
              </a:srgbClr>
            </a:solidFill>
            <a:prstDash val="solid"/>
          </a:ln>
        </p:spPr>
        <p:txBody>
          <a:bodyPr lIns="91440" tIns="45720" rIns="91440" bIns="45720" anchor="ctr"/>
          <a:lstStyle/>
          <a:p>
            <a:r>
              <a:rPr lang="en-GB" sz="6000" b="1">
                <a:solidFill>
                  <a:srgbClr val="0070C0"/>
                </a:solidFill>
                <a:latin typeface="Poppins"/>
                <a:ea typeface="+mn-lt"/>
                <a:cs typeface="Poppins"/>
              </a:rPr>
              <a:t>DNC</a:t>
            </a:r>
            <a:endParaRPr lang="en-GB" sz="6000" b="1">
              <a:solidFill>
                <a:srgbClr val="0070C0"/>
              </a:solidFill>
              <a:latin typeface="Poppins"/>
              <a:cs typeface="Poppins"/>
            </a:endParaRPr>
          </a:p>
          <a:p>
            <a:r>
              <a:rPr lang="en-GB" sz="2000" b="1">
                <a:solidFill>
                  <a:srgbClr val="000000"/>
                </a:solidFill>
                <a:latin typeface="Poppins"/>
                <a:ea typeface="+mn-lt"/>
                <a:cs typeface="Poppins"/>
              </a:rPr>
              <a:t>Do not Call</a:t>
            </a:r>
            <a:endParaRPr lang="en-GB"/>
          </a:p>
        </p:txBody>
      </p:sp>
      <p:graphicFrame>
        <p:nvGraphicFramePr>
          <p:cNvPr id="7" name="Table 6">
            <a:extLst>
              <a:ext uri="{FF2B5EF4-FFF2-40B4-BE49-F238E27FC236}">
                <a16:creationId xmlns:a16="http://schemas.microsoft.com/office/drawing/2014/main" id="{597D067F-DA40-9ED3-97CB-5C89251D3984}"/>
              </a:ext>
            </a:extLst>
          </p:cNvPr>
          <p:cNvGraphicFramePr>
            <a:graphicFrameLocks noGrp="1"/>
          </p:cNvGraphicFramePr>
          <p:nvPr/>
        </p:nvGraphicFramePr>
        <p:xfrm>
          <a:off x="1055614" y="209724"/>
          <a:ext cx="6910594" cy="4206733"/>
        </p:xfrm>
        <a:graphic>
          <a:graphicData uri="http://schemas.openxmlformats.org/drawingml/2006/table">
            <a:tbl>
              <a:tblPr bandRow="1">
                <a:tableStyleId>{5C22544A-7EE6-4342-B048-85BDC9FD1C3A}</a:tableStyleId>
              </a:tblPr>
              <a:tblGrid>
                <a:gridCol w="6910594">
                  <a:extLst>
                    <a:ext uri="{9D8B030D-6E8A-4147-A177-3AD203B41FA5}">
                      <a16:colId xmlns:a16="http://schemas.microsoft.com/office/drawing/2014/main" val="3610929529"/>
                    </a:ext>
                  </a:extLst>
                </a:gridCol>
              </a:tblGrid>
              <a:tr h="531196">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67553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9" name="Table 8">
            <a:extLst>
              <a:ext uri="{FF2B5EF4-FFF2-40B4-BE49-F238E27FC236}">
                <a16:creationId xmlns:a16="http://schemas.microsoft.com/office/drawing/2014/main" id="{150E0B34-0FBB-9F12-A6D7-350E1FC99254}"/>
              </a:ext>
            </a:extLst>
          </p:cNvPr>
          <p:cNvGraphicFramePr>
            <a:graphicFrameLocks noGrp="1"/>
          </p:cNvGraphicFramePr>
          <p:nvPr/>
        </p:nvGraphicFramePr>
        <p:xfrm>
          <a:off x="1056735" y="172528"/>
          <a:ext cx="7060316" cy="4391926"/>
        </p:xfrm>
        <a:graphic>
          <a:graphicData uri="http://schemas.openxmlformats.org/drawingml/2006/table">
            <a:tbl>
              <a:tblPr bandRow="1">
                <a:tableStyleId>{5C22544A-7EE6-4342-B048-85BDC9FD1C3A}</a:tableStyleId>
              </a:tblPr>
              <a:tblGrid>
                <a:gridCol w="7060316">
                  <a:extLst>
                    <a:ext uri="{9D8B030D-6E8A-4147-A177-3AD203B41FA5}">
                      <a16:colId xmlns:a16="http://schemas.microsoft.com/office/drawing/2014/main" val="3610929529"/>
                    </a:ext>
                  </a:extLst>
                </a:gridCol>
              </a:tblGrid>
              <a:tr h="554009">
                <a:tc>
                  <a:txBody>
                    <a:bodyPr/>
                    <a:lstStyle/>
                    <a:p>
                      <a:pPr>
                        <a:buNone/>
                      </a:pPr>
                      <a:endParaRPr lang="en-US" sz="1500" b="1">
                        <a:effectLst/>
                        <a:latin typeface="Poppins"/>
                        <a:cs typeface="Poppins"/>
                      </a:endParaRPr>
                    </a:p>
                  </a:txBody>
                  <a:tcPr anchor="ctr">
                    <a:lnL>
                      <a:noFill/>
                    </a:lnL>
                    <a:lnR>
                      <a:noFill/>
                    </a:lnR>
                    <a:lnT>
                      <a:noFill/>
                    </a:lnT>
                    <a:lnB>
                      <a:noFill/>
                    </a:lnB>
                    <a:noFill/>
                  </a:tcPr>
                </a:tc>
                <a:extLst>
                  <a:ext uri="{0D108BD9-81ED-4DB2-BD59-A6C34878D82A}">
                    <a16:rowId xmlns:a16="http://schemas.microsoft.com/office/drawing/2014/main" val="2595583132"/>
                  </a:ext>
                </a:extLst>
              </a:tr>
              <a:tr h="3837917">
                <a:tc>
                  <a:txBody>
                    <a:bodyPr/>
                    <a:lstStyle/>
                    <a:p>
                      <a:pPr marL="342900" indent="-342900">
                        <a:buAutoNum type="arabicPeriod"/>
                      </a:pPr>
                      <a:endParaRPr lang="en-US" sz="1500">
                        <a:effectLst/>
                        <a:latin typeface="Poppins"/>
                        <a:cs typeface="Poppins"/>
                      </a:endParaRPr>
                    </a:p>
                  </a:txBody>
                  <a:tcPr>
                    <a:lnL>
                      <a:noFill/>
                    </a:lnL>
                    <a:lnR>
                      <a:noFill/>
                    </a:lnR>
                    <a:lnT>
                      <a:noFill/>
                    </a:lnT>
                    <a:lnB>
                      <a:noFill/>
                    </a:lnB>
                    <a:noFill/>
                  </a:tcPr>
                </a:tc>
                <a:extLst>
                  <a:ext uri="{0D108BD9-81ED-4DB2-BD59-A6C34878D82A}">
                    <a16:rowId xmlns:a16="http://schemas.microsoft.com/office/drawing/2014/main" val="2915558856"/>
                  </a:ext>
                </a:extLst>
              </a:tr>
            </a:tbl>
          </a:graphicData>
        </a:graphic>
      </p:graphicFrame>
      <p:graphicFrame>
        <p:nvGraphicFramePr>
          <p:cNvPr id="11" name="Table 10">
            <a:extLst>
              <a:ext uri="{FF2B5EF4-FFF2-40B4-BE49-F238E27FC236}">
                <a16:creationId xmlns:a16="http://schemas.microsoft.com/office/drawing/2014/main" id="{39928505-3EE2-BA47-972A-E2C033BAC38A}"/>
              </a:ext>
            </a:extLst>
          </p:cNvPr>
          <p:cNvGraphicFramePr>
            <a:graphicFrameLocks noGrp="1"/>
          </p:cNvGraphicFramePr>
          <p:nvPr>
            <p:extLst>
              <p:ext uri="{D42A27DB-BD31-4B8C-83A1-F6EECF244321}">
                <p14:modId xmlns:p14="http://schemas.microsoft.com/office/powerpoint/2010/main" val="3273093269"/>
              </p:ext>
            </p:extLst>
          </p:nvPr>
        </p:nvGraphicFramePr>
        <p:xfrm>
          <a:off x="750534" y="169889"/>
          <a:ext cx="6913143" cy="6705600"/>
        </p:xfrm>
        <a:graphic>
          <a:graphicData uri="http://schemas.openxmlformats.org/drawingml/2006/table">
            <a:tbl>
              <a:tblPr bandRow="1">
                <a:tableStyleId>{5C22544A-7EE6-4342-B048-85BDC9FD1C3A}</a:tableStyleId>
              </a:tblPr>
              <a:tblGrid>
                <a:gridCol w="6913143">
                  <a:extLst>
                    <a:ext uri="{9D8B030D-6E8A-4147-A177-3AD203B41FA5}">
                      <a16:colId xmlns:a16="http://schemas.microsoft.com/office/drawing/2014/main" val="1146741475"/>
                    </a:ext>
                  </a:extLst>
                </a:gridCol>
              </a:tblGrid>
              <a:tr h="5819081">
                <a:tc>
                  <a:txBody>
                    <a:bodyPr/>
                    <a:lstStyle/>
                    <a:p>
                      <a:pPr marL="0" lvl="0" indent="0" algn="l">
                        <a:lnSpc>
                          <a:spcPct val="100000"/>
                        </a:lnSpc>
                        <a:spcBef>
                          <a:spcPts val="0"/>
                        </a:spcBef>
                        <a:spcAft>
                          <a:spcPts val="0"/>
                        </a:spcAft>
                        <a:buNone/>
                      </a:pPr>
                      <a:r>
                        <a:rPr lang="en-US" sz="1600" b="1" i="0" u="none" strike="noStrike" noProof="0">
                          <a:solidFill>
                            <a:srgbClr val="000000"/>
                          </a:solidFill>
                          <a:effectLst/>
                          <a:latin typeface="Poppins"/>
                          <a:cs typeface="Poppins"/>
                        </a:rPr>
                        <a:t>Check if contact number is in UK or non-UK </a:t>
                      </a:r>
                      <a:endParaRPr lang="en-US" b="1"/>
                    </a:p>
                    <a:p>
                      <a:pPr marL="800100" lvl="1" indent="-342900" algn="l">
                        <a:lnSpc>
                          <a:spcPct val="100000"/>
                        </a:lnSpc>
                        <a:spcBef>
                          <a:spcPts val="0"/>
                        </a:spcBef>
                        <a:spcAft>
                          <a:spcPts val="0"/>
                        </a:spcAft>
                        <a:buFont typeface="Courier New"/>
                        <a:buChar char="o"/>
                      </a:pPr>
                      <a:r>
                        <a:rPr lang="en-US" b="1"/>
                        <a:t>UK customers</a:t>
                      </a:r>
                      <a:endParaRPr lang="en-US"/>
                    </a:p>
                    <a:p>
                      <a:pPr marL="1257300" lvl="2" indent="-342900" algn="l">
                        <a:lnSpc>
                          <a:spcPct val="100000"/>
                        </a:lnSpc>
                        <a:spcBef>
                          <a:spcPts val="0"/>
                        </a:spcBef>
                        <a:spcAft>
                          <a:spcPts val="0"/>
                        </a:spcAft>
                        <a:buFont typeface="Wingdings"/>
                        <a:buChar char="§"/>
                      </a:pPr>
                      <a:r>
                        <a:rPr lang="en-US" sz="1800" b="0" i="0" u="none" strike="noStrike" noProof="0">
                          <a:latin typeface="Aptos"/>
                        </a:rPr>
                        <a:t>Check AI </a:t>
                      </a:r>
                      <a:r>
                        <a:rPr lang="en-US" sz="1800" b="0" i="0" u="none" strike="noStrike" noProof="0" err="1">
                          <a:latin typeface="Aptos"/>
                        </a:rPr>
                        <a:t>LoopDL</a:t>
                      </a:r>
                      <a:r>
                        <a:rPr lang="en-US" sz="1800" b="0" i="0" u="none" strike="noStrike" noProof="0">
                          <a:latin typeface="Aptos"/>
                        </a:rPr>
                        <a:t> interaction to verify the issue and means of communication.</a:t>
                      </a:r>
                      <a:endParaRPr lang="en-US" b="1"/>
                    </a:p>
                    <a:p>
                      <a:pPr marL="1257300" lvl="2" indent="-342900" algn="l">
                        <a:lnSpc>
                          <a:spcPct val="100000"/>
                        </a:lnSpc>
                        <a:spcBef>
                          <a:spcPts val="0"/>
                        </a:spcBef>
                        <a:spcAft>
                          <a:spcPts val="0"/>
                        </a:spcAft>
                        <a:buFont typeface="Wingdings"/>
                        <a:buChar char="§"/>
                      </a:pPr>
                      <a:r>
                        <a:rPr lang="en-US" sz="1800" b="0" i="0" u="none" strike="noStrike" noProof="0">
                          <a:latin typeface="Aptos"/>
                        </a:rPr>
                        <a:t>Call the customer once</a:t>
                      </a:r>
                    </a:p>
                    <a:p>
                      <a:pPr marL="1714500" lvl="3" indent="-342900" algn="l">
                        <a:lnSpc>
                          <a:spcPct val="100000"/>
                        </a:lnSpc>
                        <a:spcBef>
                          <a:spcPts val="0"/>
                        </a:spcBef>
                        <a:spcAft>
                          <a:spcPts val="0"/>
                        </a:spcAft>
                        <a:buAutoNum type="arabicPeriod"/>
                      </a:pPr>
                      <a:r>
                        <a:rPr lang="en-US" sz="1800" b="0" i="0" u="none" strike="noStrike" noProof="0">
                          <a:latin typeface="Aptos"/>
                        </a:rPr>
                        <a:t>If the customer cooperates on the call, then select the issue within the slides and help resolve their issue.</a:t>
                      </a:r>
                    </a:p>
                    <a:p>
                      <a:pPr marL="1714500" lvl="3" indent="-342900" algn="l">
                        <a:lnSpc>
                          <a:spcPct val="100000"/>
                        </a:lnSpc>
                        <a:spcBef>
                          <a:spcPts val="0"/>
                        </a:spcBef>
                        <a:spcAft>
                          <a:spcPts val="0"/>
                        </a:spcAft>
                        <a:buAutoNum type="arabicPeriod"/>
                      </a:pPr>
                      <a:r>
                        <a:rPr lang="en-US" sz="1800" b="0" i="0" u="none" strike="noStrike" noProof="0">
                          <a:latin typeface="Aptos"/>
                        </a:rPr>
                        <a:t>If the customer answers and is not cooperative because of the DNC, escalate</a:t>
                      </a:r>
                    </a:p>
                    <a:p>
                      <a:pPr marL="1714500" lvl="3" indent="-342900" algn="l">
                        <a:lnSpc>
                          <a:spcPct val="100000"/>
                        </a:lnSpc>
                        <a:spcBef>
                          <a:spcPts val="0"/>
                        </a:spcBef>
                        <a:spcAft>
                          <a:spcPts val="0"/>
                        </a:spcAft>
                        <a:buAutoNum type="arabicPeriod"/>
                      </a:pPr>
                      <a:r>
                        <a:rPr lang="en-US" sz="1800" b="0" i="0" u="none" strike="noStrike" noProof="0">
                          <a:latin typeface="Aptos"/>
                        </a:rPr>
                        <a:t>If the customer does not answer, escalate for email communication</a:t>
                      </a:r>
                    </a:p>
                    <a:p>
                      <a:pPr marL="800100" lvl="1" indent="-342900" algn="l">
                        <a:lnSpc>
                          <a:spcPct val="100000"/>
                        </a:lnSpc>
                        <a:spcBef>
                          <a:spcPts val="0"/>
                        </a:spcBef>
                        <a:spcAft>
                          <a:spcPts val="0"/>
                        </a:spcAft>
                        <a:buFont typeface="Courier New"/>
                        <a:buChar char="o"/>
                      </a:pPr>
                      <a:r>
                        <a:rPr lang="en-US" sz="1800" b="1" i="0" u="none" strike="noStrike" noProof="0">
                          <a:latin typeface="Aptos"/>
                        </a:rPr>
                        <a:t>Non-UK customers</a:t>
                      </a:r>
                    </a:p>
                    <a:p>
                      <a:pPr marL="1257300" lvl="2" indent="-342900" algn="l">
                        <a:lnSpc>
                          <a:spcPct val="100000"/>
                        </a:lnSpc>
                        <a:spcBef>
                          <a:spcPts val="0"/>
                        </a:spcBef>
                        <a:spcAft>
                          <a:spcPts val="0"/>
                        </a:spcAft>
                        <a:buClr>
                          <a:srgbClr val="000000"/>
                        </a:buClr>
                        <a:buFont typeface="Wingdings,Sans-Serif"/>
                        <a:buChar char="§"/>
                      </a:pPr>
                      <a:r>
                        <a:rPr lang="en-US" sz="1800" b="0" i="0" u="none" strike="noStrike" noProof="0">
                          <a:solidFill>
                            <a:srgbClr val="000000"/>
                          </a:solidFill>
                          <a:latin typeface="Aptos"/>
                        </a:rPr>
                        <a:t>Check AI </a:t>
                      </a:r>
                      <a:r>
                        <a:rPr lang="en-US" sz="1800" b="0" i="0" u="none" strike="noStrike" noProof="0" err="1">
                          <a:solidFill>
                            <a:srgbClr val="000000"/>
                          </a:solidFill>
                          <a:latin typeface="Aptos"/>
                        </a:rPr>
                        <a:t>LoopDL</a:t>
                      </a:r>
                      <a:r>
                        <a:rPr lang="en-US" sz="1800" b="0" i="0" u="none" strike="noStrike" noProof="0">
                          <a:solidFill>
                            <a:srgbClr val="000000"/>
                          </a:solidFill>
                          <a:latin typeface="Aptos"/>
                        </a:rPr>
                        <a:t> interaction to verify the issue and means of communication.</a:t>
                      </a:r>
                    </a:p>
                    <a:p>
                      <a:pPr marL="1257300" lvl="2" indent="-342900" algn="l">
                        <a:lnSpc>
                          <a:spcPct val="100000"/>
                        </a:lnSpc>
                        <a:spcBef>
                          <a:spcPts val="0"/>
                        </a:spcBef>
                        <a:spcAft>
                          <a:spcPts val="0"/>
                        </a:spcAft>
                        <a:buClr>
                          <a:srgbClr val="000000"/>
                        </a:buClr>
                        <a:buFont typeface="Wingdings,Sans-Serif"/>
                        <a:buChar char="§"/>
                      </a:pPr>
                      <a:r>
                        <a:rPr lang="en-US" sz="1800" b="0" i="0" u="none" strike="noStrike" noProof="0">
                          <a:solidFill>
                            <a:srgbClr val="000000"/>
                          </a:solidFill>
                          <a:latin typeface="Aptos"/>
                        </a:rPr>
                        <a:t>Call the customer once</a:t>
                      </a:r>
                    </a:p>
                    <a:p>
                      <a:pPr marL="1714500" lvl="3" indent="-342900" algn="l">
                        <a:lnSpc>
                          <a:spcPct val="100000"/>
                        </a:lnSpc>
                        <a:spcBef>
                          <a:spcPts val="0"/>
                        </a:spcBef>
                        <a:spcAft>
                          <a:spcPts val="0"/>
                        </a:spcAft>
                        <a:buAutoNum type="arabicPeriod"/>
                      </a:pPr>
                      <a:r>
                        <a:rPr lang="en-US" sz="1800" b="0" i="0" u="none" strike="noStrike" noProof="0">
                          <a:latin typeface="Aptos"/>
                        </a:rPr>
                        <a:t>Advice that we only cater to UK based customers</a:t>
                      </a:r>
                      <a:endParaRPr lang="en-US" sz="1600" b="1" i="0" u="none" strike="noStrike" noProof="0">
                        <a:solidFill>
                          <a:srgbClr val="000000"/>
                        </a:solidFill>
                        <a:effectLst/>
                        <a:latin typeface="Poppins"/>
                        <a:cs typeface="Poppins"/>
                      </a:endParaRPr>
                    </a:p>
                    <a:p>
                      <a:pPr marL="1714500" lvl="3" indent="-342900" algn="l">
                        <a:lnSpc>
                          <a:spcPct val="100000"/>
                        </a:lnSpc>
                        <a:spcBef>
                          <a:spcPts val="0"/>
                        </a:spcBef>
                        <a:spcAft>
                          <a:spcPts val="0"/>
                        </a:spcAft>
                        <a:buAutoNum type="arabicPeriod"/>
                      </a:pPr>
                      <a:r>
                        <a:rPr lang="en-US" sz="1800" b="0" i="0" u="none" strike="noStrike" noProof="0">
                          <a:latin typeface="Aptos"/>
                        </a:rPr>
                        <a:t>Set account for scheduled cancellation if not yet scheduled</a:t>
                      </a:r>
                    </a:p>
                    <a:p>
                      <a:pPr marL="1714500" lvl="3" indent="-342900" algn="l">
                        <a:lnSpc>
                          <a:spcPct val="100000"/>
                        </a:lnSpc>
                        <a:spcBef>
                          <a:spcPts val="0"/>
                        </a:spcBef>
                        <a:spcAft>
                          <a:spcPts val="0"/>
                        </a:spcAft>
                        <a:buClr>
                          <a:srgbClr val="000000"/>
                        </a:buClr>
                        <a:buAutoNum type="arabicPeriod"/>
                      </a:pPr>
                      <a:r>
                        <a:rPr lang="en-US" sz="1800" b="0" i="0" u="none" strike="noStrike" noProof="0">
                          <a:solidFill>
                            <a:srgbClr val="000000"/>
                          </a:solidFill>
                          <a:latin typeface="Aptos"/>
                        </a:rPr>
                        <a:t>If the customer answers and is not cooperative because of the DNC, escalate</a:t>
                      </a:r>
                    </a:p>
                    <a:p>
                      <a:pPr marL="1714500" lvl="3" indent="-342900" algn="l">
                        <a:lnSpc>
                          <a:spcPct val="100000"/>
                        </a:lnSpc>
                        <a:spcBef>
                          <a:spcPts val="0"/>
                        </a:spcBef>
                        <a:spcAft>
                          <a:spcPts val="0"/>
                        </a:spcAft>
                        <a:buAutoNum type="arabicPeriod"/>
                      </a:pPr>
                      <a:r>
                        <a:rPr lang="en-US" sz="1800" b="0" i="0" u="none" strike="noStrike" noProof="0">
                          <a:solidFill>
                            <a:srgbClr val="000000"/>
                          </a:solidFill>
                          <a:latin typeface="Aptos"/>
                        </a:rPr>
                        <a:t>If the customer does not answer, escalate for email communication</a:t>
                      </a:r>
                      <a:endParaRPr lang="en-US" sz="1800" b="0" i="0" u="none" strike="noStrike" noProof="0">
                        <a:latin typeface="Aptos"/>
                      </a:endParaRPr>
                    </a:p>
                  </a:txBody>
                  <a:tcPr>
                    <a:lnL>
                      <a:noFill/>
                    </a:lnL>
                    <a:lnR>
                      <a:noFill/>
                    </a:lnR>
                    <a:lnT>
                      <a:noFill/>
                    </a:lnT>
                    <a:lnB>
                      <a:noFill/>
                    </a:lnB>
                    <a:noFill/>
                  </a:tcPr>
                </a:tc>
                <a:extLst>
                  <a:ext uri="{0D108BD9-81ED-4DB2-BD59-A6C34878D82A}">
                    <a16:rowId xmlns:a16="http://schemas.microsoft.com/office/drawing/2014/main" val="3604296047"/>
                  </a:ext>
                </a:extLst>
              </a:tr>
              <a:tr h="302682">
                <a:tc>
                  <a:txBody>
                    <a:bodyPr/>
                    <a:lstStyle/>
                    <a:p>
                      <a:pPr marL="0" lvl="0" indent="0">
                        <a:buNone/>
                      </a:pPr>
                      <a:endParaRPr lang="en-US" sz="1600">
                        <a:effectLst/>
                        <a:latin typeface="Poppins"/>
                        <a:cs typeface="Poppins"/>
                      </a:endParaRPr>
                    </a:p>
                  </a:txBody>
                  <a:tcPr>
                    <a:lnL w="0">
                      <a:noFill/>
                    </a:lnL>
                    <a:lnR w="0">
                      <a:noFill/>
                    </a:lnR>
                    <a:lnT w="0">
                      <a:noFill/>
                    </a:lnT>
                    <a:lnB w="0">
                      <a:noFill/>
                    </a:lnB>
                    <a:noFill/>
                  </a:tcPr>
                </a:tc>
                <a:extLst>
                  <a:ext uri="{0D108BD9-81ED-4DB2-BD59-A6C34878D82A}">
                    <a16:rowId xmlns:a16="http://schemas.microsoft.com/office/drawing/2014/main" val="806789614"/>
                  </a:ext>
                </a:extLst>
              </a:tr>
            </a:tbl>
          </a:graphicData>
        </a:graphic>
      </p:graphicFrame>
    </p:spTree>
    <p:extLst>
      <p:ext uri="{BB962C8B-B14F-4D97-AF65-F5344CB8AC3E}">
        <p14:creationId xmlns:p14="http://schemas.microsoft.com/office/powerpoint/2010/main" val="20139828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60</Slides>
  <Notes>7</Notes>
  <HiddenSlides>0</HiddenSlides>
  <ScaleCrop>false</ScaleCrop>
  <HeadingPairs>
    <vt:vector size="4" baseType="variant">
      <vt:variant>
        <vt:lpstr>Theme</vt:lpstr>
      </vt:variant>
      <vt:variant>
        <vt:i4>1</vt:i4>
      </vt:variant>
      <vt:variant>
        <vt:lpstr>Slide Titles</vt:lpstr>
      </vt:variant>
      <vt:variant>
        <vt:i4>60</vt:i4>
      </vt:variant>
    </vt:vector>
  </HeadingPairs>
  <TitlesOfParts>
    <vt:vector size="61" baseType="lpstr">
      <vt:lpstr>office theme</vt:lpstr>
      <vt:lpstr>UK Gameplan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137</cp:revision>
  <dcterms:created xsi:type="dcterms:W3CDTF">2013-07-15T20:26:40Z</dcterms:created>
  <dcterms:modified xsi:type="dcterms:W3CDTF">2026-06-16T11:26:07Z</dcterms:modified>
</cp:coreProperties>
</file>